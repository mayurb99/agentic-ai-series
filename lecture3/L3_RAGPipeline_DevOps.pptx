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A33D"/>
                </a:solidFill>
                <a:latin typeface="Calibri"/>
              </a:rPr>
              <a:t>AGENTIC AI FOR DEVOPS ENGINEERS  |  PHASE 1  |  LECTURE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mbria"/>
              </a:rPr>
              <a:t>RAG From Scratch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ADCFC"/>
                </a:solidFill>
                <a:latin typeface="Cambria"/>
              </a:rPr>
              <a:t>Chunk, search, and answer from your own docs -- with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mbria"/>
              </a:rPr>
              <a:t>80-90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95A7"/>
                </a:solidFill>
                <a:latin typeface="Calibri"/>
              </a:rPr>
              <a:t>DURATION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384048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mbria"/>
              </a:rPr>
              <a:t>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42976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95A7"/>
                </a:solidFill>
                <a:latin typeface="Calibri"/>
              </a:rPr>
              <a:t>TRACK (DevOps Edition)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384048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mbria"/>
              </a:rPr>
              <a:t>3 of 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42976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95A7"/>
                </a:solidFill>
                <a:latin typeface="Calibri"/>
              </a:rPr>
              <a:t>LECTURE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384048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mbria"/>
              </a:rPr>
              <a:t>Pure 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42976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95A7"/>
                </a:solidFill>
                <a:latin typeface="Calibri"/>
              </a:rPr>
              <a:t>NO LANGCHAIN YET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95A7"/>
                </a:solidFill>
                <a:latin typeface="Calibri"/>
              </a:rPr>
              <a:t>Last zero-framework lecture -- build the full RAG loop by hand once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B2B"/>
                </a:solidFill>
                <a:latin typeface="Cambria"/>
              </a:rPr>
              <a:t>Today's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95A7"/>
                </a:solidFill>
                <a:latin typeface="Calibri"/>
              </a:rPr>
              <a:t>One loop to learn: chunk -&gt; embed -&gt; search -&gt; prompt -&gt; answer with sources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53619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E1B2B"/>
                </a:solidFill>
                <a:latin typeface="Cambria"/>
              </a:rPr>
              <a:t>What is RAG?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90195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95A7"/>
                </a:solidFill>
                <a:latin typeface="Calibri"/>
              </a:rPr>
              <a:t>Look up your docs, then ask the model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331720"/>
            <a:ext cx="502920" cy="502920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31343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E1B2B"/>
                </a:solidFill>
                <a:latin typeface="Cambria"/>
              </a:rPr>
              <a:t>Chunking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791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95A7"/>
                </a:solidFill>
                <a:latin typeface="Calibri"/>
              </a:rPr>
              <a:t>Cut a long document into searchable pieces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108960"/>
            <a:ext cx="502920" cy="502920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09067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E1B2B"/>
                </a:solidFill>
                <a:latin typeface="Cambria"/>
              </a:rPr>
              <a:t>Hybrid retrieval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45643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95A7"/>
                </a:solidFill>
                <a:latin typeface="Calibri"/>
              </a:rPr>
              <a:t>Keyword search + meaning search together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886200"/>
            <a:ext cx="502920" cy="502920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86791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E1B2B"/>
                </a:solidFill>
                <a:latin typeface="Cambria"/>
              </a:rPr>
              <a:t>Full RAG loop + citations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3367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95A7"/>
                </a:solidFill>
                <a:latin typeface="Calibri"/>
              </a:rPr>
              <a:t>Answer from retrieved chunks, show sources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663440"/>
            <a:ext cx="502920" cy="502920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64515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E1B2B"/>
                </a:solidFill>
                <a:latin typeface="Cambria"/>
              </a:rPr>
              <a:t>3 hands-on demos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01091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95A7"/>
                </a:solidFill>
                <a:latin typeface="Calibri"/>
              </a:rPr>
              <a:t>Including full RAG on a real PDF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95A7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B2B"/>
                </a:solidFill>
                <a:latin typeface="Cambria"/>
              </a:rPr>
              <a:t>What is RAG?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95A7"/>
                </a:solidFill>
                <a:latin typeface="Calibri"/>
              </a:rPr>
              <a:t>Retrieval-Augmented Generation -- look up first, then generate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058400" cy="10058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E1B2B"/>
                </a:solidFill>
                <a:latin typeface="Calibri"/>
              </a:rPr>
              <a:t>Before the model answers, find relevant pieces of YOUR documents and paste them into the prompt. The model answers from that context -- not from memory alone.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017520"/>
            <a:ext cx="1920240" cy="201168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33832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A33D"/>
                </a:solidFill>
                <a:latin typeface="Cambria"/>
              </a:rPr>
              <a:t>1. Chunk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4023360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Cut the doc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3017520"/>
            <a:ext cx="1920240" cy="201168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35808" y="33832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A33D"/>
                </a:solidFill>
                <a:latin typeface="Cambria"/>
              </a:rPr>
              <a:t>2. Embed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35808" y="4023360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Turn pieces into vectors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3017520"/>
            <a:ext cx="1920240" cy="201168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38928" y="33832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A33D"/>
                </a:solidFill>
                <a:latin typeface="Cambria"/>
              </a:rPr>
              <a:t>3. Store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38928" y="4023360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Save in Chroma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0" y="3017520"/>
            <a:ext cx="1920240" cy="201168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42048" y="33832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A33D"/>
                </a:solidFill>
                <a:latin typeface="Cambria"/>
              </a:rPr>
              <a:t>4. Retrieve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2048" y="4023360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Find best pieces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3017520"/>
            <a:ext cx="1920240" cy="201168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45168" y="33832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A33D"/>
                </a:solidFill>
                <a:latin typeface="Cambria"/>
              </a:rPr>
              <a:t>5. Answer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45168" y="4023360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Prompt + sources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95A7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B2B"/>
                </a:solidFill>
                <a:latin typeface="Cambria"/>
              </a:rPr>
              <a:t>Why this fits what you already know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95A7"/>
                </a:solidFill>
                <a:latin typeface="Calibri"/>
              </a:rPr>
              <a:t>Basic DevOps habits -- renamed for RAG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63040"/>
            <a:ext cx="4800600" cy="64008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852160" y="1463040"/>
            <a:ext cx="4800600" cy="64008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84960"/>
            <a:ext cx="4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A33D"/>
                </a:solidFill>
                <a:latin typeface="Calibri"/>
              </a:rPr>
              <a:t>YOU ALREADY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5360" y="1584960"/>
            <a:ext cx="4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A33D"/>
                </a:solidFill>
                <a:latin typeface="Calibri"/>
              </a:rPr>
              <a:t>TODAY'S AI NAME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286000"/>
            <a:ext cx="4800600" cy="7315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0" y="2286000"/>
            <a:ext cx="4800600" cy="7315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468880"/>
            <a:ext cx="4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E1B2B"/>
                </a:solidFill>
                <a:latin typeface="Calibri"/>
              </a:rPr>
              <a:t>Cutting a long log 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5360" y="2468880"/>
            <a:ext cx="4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E1B2B"/>
                </a:solidFill>
                <a:latin typeface="Calibri"/>
              </a:rPr>
              <a:t>Chunking a document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108960"/>
            <a:ext cx="4800600" cy="7315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52160" y="3108960"/>
            <a:ext cx="4800600" cy="7315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291840"/>
            <a:ext cx="4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E1B2B"/>
                </a:solidFill>
                <a:latin typeface="Calibri"/>
              </a:rPr>
              <a:t>grep / keyword 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5360" y="3291840"/>
            <a:ext cx="4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E1B2B"/>
                </a:solidFill>
                <a:latin typeface="Calibri"/>
              </a:rPr>
              <a:t>BM25 keyword ranking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931920"/>
            <a:ext cx="4800600" cy="7315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52160" y="3931920"/>
            <a:ext cx="4800600" cy="7315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114800"/>
            <a:ext cx="4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E1B2B"/>
                </a:solidFill>
                <a:latin typeface="Calibri"/>
              </a:rPr>
              <a:t>Meaning search (Lecture 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5360" y="4114800"/>
            <a:ext cx="4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E1B2B"/>
                </a:solidFill>
                <a:latin typeface="Calibri"/>
              </a:rPr>
              <a:t>Dense / embedding search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754880"/>
            <a:ext cx="4800600" cy="7315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52160" y="4754880"/>
            <a:ext cx="4800600" cy="7315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E1B2B"/>
                </a:solidFill>
                <a:latin typeface="Calibri"/>
              </a:rPr>
              <a:t>Link a log line to its file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5360" y="4937760"/>
            <a:ext cx="4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E1B2B"/>
                </a:solidFill>
                <a:latin typeface="Calibri"/>
              </a:rPr>
              <a:t>Citations on every answer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95A7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A33D"/>
                </a:solidFill>
                <a:latin typeface="Calibri"/>
              </a:rPr>
              <a:t>THEORY 1  |  SLIDES 5-8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1546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Chunking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5262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ADCFC"/>
                </a:solidFill>
                <a:latin typeface="Cambria"/>
              </a:rPr>
              <a:t>Cut the document before you embed or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B2B"/>
                </a:solidFill>
                <a:latin typeface="Cambria"/>
              </a:rPr>
              <a:t>Why cut a document at all?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95A7"/>
                </a:solidFill>
                <a:latin typeface="Calibri"/>
              </a:rPr>
              <a:t>Whole runbooks are too big and too mixed for clean 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63040"/>
            <a:ext cx="10058400" cy="12801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509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E1B2B"/>
                </a:solidFill>
                <a:latin typeface="Calibri"/>
              </a:rPr>
              <a:t>A chunk is a smaller piece of text. Cut too big -&gt; mixed topics. Cut too small -&gt; missing context. The cut decides what search can find.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017520"/>
            <a:ext cx="10058400" cy="246888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200400"/>
            <a:ext cx="9509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ADCFC"/>
                </a:solidFill>
                <a:latin typeface="Calibri"/>
              </a:rPr>
              <a:t># Fixed-size: cut every N characters</a:t>
            </a:r>
          </a:p>
          <a:p>
            <a:r>
              <a:rPr sz="1600" b="0">
                <a:solidFill>
                  <a:srgbClr val="CADCFC"/>
                </a:solidFill>
                <a:latin typeface="Calibri"/>
              </a:rPr>
              <a:t>fixed_size_chunks(text, chunk_size=220)</a:t>
            </a:r>
          </a:p>
          <a:p>
            <a:r>
              <a:rPr sz="1600"/>
              <a:t/>
            </a:r>
          </a:p>
          <a:p>
            <a:r>
              <a:rPr sz="1600" b="0">
                <a:solidFill>
                  <a:srgbClr val="CADCFC"/>
                </a:solidFill>
                <a:latin typeface="Calibri"/>
              </a:rPr>
              <a:t># Sentence-aware: never split a sentence</a:t>
            </a:r>
          </a:p>
          <a:p>
            <a:r>
              <a:rPr sz="1600" b="0">
                <a:solidFill>
                  <a:srgbClr val="CADCFC"/>
                </a:solidFill>
                <a:latin typeface="Calibri"/>
              </a:rPr>
              <a:t>sentence_aware_chunks(text, target_size=220)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95A7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B2B"/>
                </a:solidFill>
                <a:latin typeface="Cambria"/>
              </a:rPr>
              <a:t>Two ways to cut -- side by 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95A7"/>
                </a:solidFill>
                <a:latin typeface="Calibri"/>
              </a:rPr>
              <a:t>Same text, different cut rules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63040"/>
            <a:ext cx="4800600" cy="411480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852160" y="1463040"/>
            <a:ext cx="4800600" cy="411480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5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A33D"/>
                </a:solidFill>
                <a:latin typeface="Calibri"/>
              </a:rPr>
              <a:t>FIXED-SIZE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4500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Calibri"/>
              </a:rPr>
              <a:t>Cut every N characters.</a:t>
            </a:r>
          </a:p>
          <a:p>
            <a:r>
              <a:rPr sz="1600"/>
              <a:t/>
            </a:r>
          </a:p>
          <a:p>
            <a:r>
              <a:rPr sz="1600" b="0">
                <a:solidFill>
                  <a:srgbClr val="FFFFFF"/>
                </a:solidFill>
                <a:latin typeface="Calibri"/>
              </a:rPr>
              <a:t>Even mid-sentence.</a:t>
            </a:r>
          </a:p>
          <a:p>
            <a:r>
              <a:rPr sz="1600"/>
              <a:t/>
            </a:r>
          </a:p>
          <a:p>
            <a:r>
              <a:rPr sz="1600" b="0">
                <a:solidFill>
                  <a:srgbClr val="FFFFFF"/>
                </a:solidFill>
                <a:latin typeface="Calibri"/>
              </a:rPr>
              <a:t>Fast and predictable.</a:t>
            </a:r>
          </a:p>
          <a:p>
            <a:r>
              <a:rPr sz="1600"/>
              <a:t/>
            </a:r>
          </a:p>
          <a:p>
            <a:r>
              <a:rPr sz="1600" b="0">
                <a:solidFill>
                  <a:srgbClr val="FFFFFF"/>
                </a:solidFill>
                <a:latin typeface="Calibri"/>
              </a:rPr>
              <a:t>Some pieces are awkward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5360" y="1645920"/>
            <a:ext cx="45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A33D"/>
                </a:solidFill>
                <a:latin typeface="Calibri"/>
              </a:rPr>
              <a:t>SENTENCE-AWARE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5360" y="2286000"/>
            <a:ext cx="4500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Calibri"/>
              </a:rPr>
              <a:t>Cut at . ! or ?</a:t>
            </a:r>
          </a:p>
          <a:p>
            <a:r>
              <a:rPr sz="1600"/>
              <a:t/>
            </a:r>
          </a:p>
          <a:p>
            <a:r>
              <a:rPr sz="1600" b="0">
                <a:solidFill>
                  <a:srgbClr val="FFFFFF"/>
                </a:solidFill>
                <a:latin typeface="Calibri"/>
              </a:rPr>
              <a:t>Each piece still makes sense.</a:t>
            </a:r>
          </a:p>
          <a:p>
            <a:r>
              <a:rPr sz="1600"/>
              <a:t/>
            </a:r>
          </a:p>
          <a:p>
            <a:r>
              <a:rPr sz="1600" b="0">
                <a:solidFill>
                  <a:srgbClr val="FFFFFF"/>
                </a:solidFill>
                <a:latin typeface="Calibri"/>
              </a:rPr>
              <a:t>Sizes vary a little.</a:t>
            </a:r>
          </a:p>
          <a:p>
            <a:r>
              <a:rPr sz="1600"/>
              <a:t/>
            </a:r>
          </a:p>
          <a:p>
            <a:r>
              <a:rPr sz="1600" b="0">
                <a:solidFill>
                  <a:srgbClr val="FFFFFF"/>
                </a:solidFill>
                <a:latin typeface="Calibri"/>
              </a:rPr>
              <a:t>Usually better for RAG.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95A7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B2B"/>
                </a:solidFill>
                <a:latin typeface="Cambria"/>
              </a:rPr>
              <a:t>Analogy: cutting a long log 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95A7"/>
                </a:solidFill>
                <a:latin typeface="Calibri"/>
              </a:rPr>
              <a:t>You already choose where to slice 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00200"/>
            <a:ext cx="10058400" cy="32004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11360"/>
            <a:ext cx="9509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0E1B2B"/>
                </a:solidFill>
                <a:latin typeface="Calibri"/>
              </a:rPr>
              <a:t>Fixed-size = cut a long log every N characters / lines, even mid-line.</a:t>
            </a:r>
          </a:p>
          <a:p>
            <a:r>
              <a:rPr sz="1700"/>
              <a:t/>
            </a:r>
          </a:p>
          <a:p>
            <a:r>
              <a:rPr sz="1700" b="0">
                <a:solidFill>
                  <a:srgbClr val="0E1B2B"/>
                </a:solidFill>
                <a:latin typeface="Calibri"/>
              </a:rPr>
              <a:t>Sentence-aware = cut at paragraph or sentence boundaries so each piece still reads cleanly.</a:t>
            </a:r>
          </a:p>
          <a:p>
            <a:r>
              <a:rPr sz="1700"/>
              <a:t/>
            </a:r>
          </a:p>
          <a:p>
            <a:r>
              <a:rPr sz="1700" b="0">
                <a:solidFill>
                  <a:srgbClr val="0E1B2B"/>
                </a:solidFill>
                <a:latin typeface="Calibri"/>
              </a:rPr>
              <a:t>That is the whole chunking lesson for today: two cut styles, one trade-off.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95A7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A33D"/>
                </a:solidFill>
                <a:latin typeface="Calibri"/>
              </a:rPr>
              <a:t>THEORY 2  |  SLIDES 9-11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1546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Hybrid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5262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ADCFC"/>
                </a:solidFill>
                <a:latin typeface="Cambria"/>
              </a:rPr>
              <a:t>Keyword search + meaning search, used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B2B"/>
                </a:solidFill>
                <a:latin typeface="Cambria"/>
              </a:rPr>
              <a:t>Three ways to rank chunks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95A7"/>
                </a:solidFill>
                <a:latin typeface="Calibri"/>
              </a:rPr>
              <a:t>Same question, three scoring styles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63040"/>
            <a:ext cx="3017520" cy="411480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A33D"/>
                </a:solidFill>
                <a:latin typeface="Calibri"/>
              </a:rPr>
              <a:t>KEYWORD (BM25)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Calibri"/>
              </a:rPr>
              <a:t>Smarter grep.</a:t>
            </a:r>
          </a:p>
          <a:p>
            <a:r>
              <a:rPr sz="1600" b="0">
                <a:solidFill>
                  <a:srgbClr val="FFFFFF"/>
                </a:solidFill>
                <a:latin typeface="Calibri"/>
              </a:rPr>
              <a:t>Wins on exact rare</a:t>
            </a:r>
          </a:p>
          <a:p>
            <a:r>
              <a:rPr sz="1600" b="0">
                <a:solidFill>
                  <a:srgbClr val="FFFFFF"/>
                </a:solidFill>
                <a:latin typeface="Calibri"/>
              </a:rPr>
              <a:t>terms like OOMKilled.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463040"/>
            <a:ext cx="3017520" cy="411480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16459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A33D"/>
                </a:solidFill>
                <a:latin typeface="Calibri"/>
              </a:rPr>
              <a:t>MEANING (DENSE)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46888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Calibri"/>
              </a:rPr>
              <a:t>Lecture 2 search.</a:t>
            </a:r>
          </a:p>
          <a:p>
            <a:r>
              <a:rPr sz="1600" b="0">
                <a:solidFill>
                  <a:srgbClr val="FFFFFF"/>
                </a:solidFill>
                <a:latin typeface="Calibri"/>
              </a:rPr>
              <a:t>Wins when wording</a:t>
            </a:r>
          </a:p>
          <a:p>
            <a:r>
              <a:rPr sz="1600" b="0">
                <a:solidFill>
                  <a:srgbClr val="FFFFFF"/>
                </a:solidFill>
                <a:latin typeface="Calibri"/>
              </a:rPr>
              <a:t>changes but idea matches.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463040"/>
            <a:ext cx="3017520" cy="411480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16459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A33D"/>
                </a:solidFill>
                <a:latin typeface="Calibri"/>
              </a:rPr>
              <a:t>HYBRID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46888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Calibri"/>
              </a:rPr>
              <a:t>Run both.</a:t>
            </a:r>
          </a:p>
          <a:p>
            <a:r>
              <a:rPr sz="1600" b="0">
                <a:solidFill>
                  <a:srgbClr val="FFFFFF"/>
                </a:solidFill>
                <a:latin typeface="Calibri"/>
              </a:rPr>
              <a:t>Give 3/2/1 points.</a:t>
            </a:r>
          </a:p>
          <a:p>
            <a:r>
              <a:rPr sz="1600" b="0">
                <a:solidFill>
                  <a:srgbClr val="FFFFFF"/>
                </a:solidFill>
                <a:latin typeface="Calibri"/>
              </a:rPr>
              <a:t>Highest total wins.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95A7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B2B"/>
                </a:solidFill>
                <a:latin typeface="Cambria"/>
              </a:rPr>
              <a:t>Analogy: grep + meaning search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95A7"/>
                </a:solidFill>
                <a:latin typeface="Calibri"/>
              </a:rPr>
              <a:t>Two independent signals beat either one alone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63040"/>
            <a:ext cx="10058400" cy="13716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509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E1B2B"/>
                </a:solidFill>
                <a:latin typeface="Calibri"/>
              </a:rPr>
              <a:t>Keyword search finds exact words. Meaning search finds the same idea in different words. Hybrid uses both -- like running grep AND Lecture 2 semantic search on the same question.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108960"/>
            <a:ext cx="10058400" cy="256032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509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ADCFC"/>
                </a:solidFill>
                <a:latin typeface="Calibri"/>
              </a:rPr>
              <a:t># 1st place = 3 pts, 2nd = 2, 3rd = 1 (each method)</a:t>
            </a:r>
          </a:p>
          <a:p>
            <a:r>
              <a:rPr sz="1600" b="0">
                <a:solidFill>
                  <a:srgbClr val="CADCFC"/>
                </a:solidFill>
                <a:latin typeface="Calibri"/>
              </a:rPr>
              <a:t>bm25_points  = points_from_ranking(bm25_top3)</a:t>
            </a:r>
          </a:p>
          <a:p>
            <a:r>
              <a:rPr sz="1600"/>
              <a:t>dense_points = points_from_ranking(dense_top3)</a:t>
            </a:r>
          </a:p>
          <a:p>
            <a:r>
              <a:rPr sz="1600" b="0">
                <a:solidFill>
                  <a:srgbClr val="CADCFC"/>
                </a:solidFill>
                <a:latin typeface="Calibri"/>
              </a:rPr>
              <a:t>hybrid_points = bm25_points + dense_points  # highest wins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95A7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A33D"/>
                </a:solidFill>
                <a:latin typeface="Calibri"/>
              </a:rPr>
              <a:t>THEORY 3  |  SLIDES 12-14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1546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Full RAG loop + citations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5262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ADCFC"/>
                </a:solidFill>
                <a:latin typeface="Cambria"/>
              </a:rPr>
              <a:t>Retrieve, stuff into the prompt, answer with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B2B"/>
                </a:solidFill>
                <a:latin typeface="Cambria"/>
              </a:rPr>
              <a:t>The loop on a real PDF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95A7"/>
                </a:solidFill>
                <a:latin typeface="Calibri"/>
              </a:rPr>
              <a:t>Demo 3 runs every step in order -- pure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71600"/>
            <a:ext cx="2743200" cy="82296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1371600"/>
            <a:ext cx="7223760" cy="822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246888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A33D"/>
                </a:solidFill>
                <a:latin typeface="Calibri"/>
              </a:rPr>
              <a:t>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600200"/>
            <a:ext cx="6858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E1B2B"/>
                </a:solidFill>
                <a:latin typeface="Calibri"/>
              </a:rPr>
              <a:t>pypdf extracts text from devops_runbook.pdf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286000"/>
            <a:ext cx="2743200" cy="82296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2286000"/>
            <a:ext cx="7223760" cy="822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514600"/>
            <a:ext cx="246888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A33D"/>
                </a:solidFill>
                <a:latin typeface="Calibri"/>
              </a:rPr>
              <a:t>CHUNK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514600"/>
            <a:ext cx="6858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E1B2B"/>
                </a:solidFill>
                <a:latin typeface="Calibri"/>
              </a:rPr>
              <a:t>Sentence-aware cuts (Demo 1 technique)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200400"/>
            <a:ext cx="2743200" cy="82296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0" y="3200400"/>
            <a:ext cx="7223760" cy="822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429000"/>
            <a:ext cx="246888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A33D"/>
                </a:solidFill>
                <a:latin typeface="Calibri"/>
              </a:rPr>
              <a:t>EMBED + STORE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429000"/>
            <a:ext cx="6858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E1B2B"/>
                </a:solidFill>
                <a:latin typeface="Calibri"/>
              </a:rPr>
              <a:t>sentence-transformers + persistent Chroma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114800"/>
            <a:ext cx="2743200" cy="82296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0" y="4114800"/>
            <a:ext cx="7223760" cy="822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343400"/>
            <a:ext cx="246888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A33D"/>
                </a:solidFill>
                <a:latin typeface="Calibri"/>
              </a:rPr>
              <a:t>RETRIEVE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343400"/>
            <a:ext cx="6858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E1B2B"/>
                </a:solidFill>
                <a:latin typeface="Calibri"/>
              </a:rPr>
              <a:t>Chroma meaning search -- top 3 chunks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5029200"/>
            <a:ext cx="2743200" cy="82296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0" y="5029200"/>
            <a:ext cx="7223760" cy="822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257800"/>
            <a:ext cx="246888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A33D"/>
                </a:solidFill>
                <a:latin typeface="Calibri"/>
              </a:rPr>
              <a:t>ANSWER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5257800"/>
            <a:ext cx="6858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E1B2B"/>
                </a:solidFill>
                <a:latin typeface="Calibri"/>
              </a:rPr>
              <a:t>Groq reads top chunks and cites [1], [2], ...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95A7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B2B"/>
                </a:solidFill>
                <a:latin typeface="Cambria"/>
              </a:rPr>
              <a:t>Analogy: show your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95A7"/>
                </a:solidFill>
                <a:latin typeface="Calibri"/>
              </a:rPr>
              <a:t>Like linking a log line back to the file it came from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63040"/>
            <a:ext cx="10058400" cy="12801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509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E1B2B"/>
                </a:solidFill>
                <a:latin typeface="Calibri"/>
              </a:rPr>
              <a:t>Every claim should point to a retrieved chunk -- [1], [2], [3]. No citation means you cannot verify the answer or debug a wrong 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017520"/>
            <a:ext cx="10058400" cy="256032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200400"/>
            <a:ext cx="9509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ADCFC"/>
                </a:solidFill>
                <a:latin typeface="Calibri"/>
              </a:rPr>
              <a:t>context = "\n\n".join(f"[{i+1}] {chunk}" for i, chunk in enumerate(top))</a:t>
            </a:r>
          </a:p>
          <a:p>
            <a:r>
              <a:rPr sz="1500"/>
              <a:t/>
            </a:r>
          </a:p>
          <a:p>
            <a:r>
              <a:rPr sz="1500" b="0">
                <a:solidFill>
                  <a:srgbClr val="CADCFC"/>
                </a:solidFill>
                <a:latin typeface="Calibri"/>
              </a:rPr>
              <a:t># System prompt: "cite chunk numbers after every claim"</a:t>
            </a:r>
          </a:p>
          <a:p>
            <a:r>
              <a:rPr sz="1500" b="0">
                <a:solidFill>
                  <a:srgbClr val="CADCFC"/>
                </a:solidFill>
                <a:latin typeface="Calibri"/>
              </a:rPr>
              <a:t># Example answer: "Raise the memory limit [1]. Check for a leak [1][2]"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95A7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B2B"/>
                </a:solidFill>
                <a:latin typeface="Cambria"/>
              </a:rPr>
              <a:t>Today's Analogy 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95A7"/>
                </a:solidFill>
                <a:latin typeface="Calibri"/>
              </a:rPr>
              <a:t>Simple comparisons -- same file as Lectures 1-2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71600"/>
            <a:ext cx="4800600" cy="64008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852160" y="1371600"/>
            <a:ext cx="4800600" cy="64008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93520"/>
            <a:ext cx="4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A33D"/>
                </a:solidFill>
                <a:latin typeface="Calibri"/>
              </a:rPr>
              <a:t>AI CONCEPT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5360" y="1493520"/>
            <a:ext cx="4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A33D"/>
                </a:solidFill>
                <a:latin typeface="Calibri"/>
              </a:rPr>
              <a:t>SIMPLE ANALOGY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194560"/>
            <a:ext cx="4800600" cy="822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0" y="2194560"/>
            <a:ext cx="4800600" cy="822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423160"/>
            <a:ext cx="4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E1B2B"/>
                </a:solidFill>
                <a:latin typeface="Calibri"/>
              </a:rPr>
              <a:t>Fixed-size chunking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5360" y="2423160"/>
            <a:ext cx="4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E1B2B"/>
                </a:solidFill>
                <a:latin typeface="Calibri"/>
              </a:rPr>
              <a:t>Cut a log every N characters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108960"/>
            <a:ext cx="4800600" cy="822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52160" y="3108960"/>
            <a:ext cx="4800600" cy="822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337560"/>
            <a:ext cx="4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E1B2B"/>
                </a:solidFill>
                <a:latin typeface="Calibri"/>
              </a:rPr>
              <a:t>Sentence-aware chunking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5360" y="3337560"/>
            <a:ext cx="4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E1B2B"/>
                </a:solidFill>
                <a:latin typeface="Calibri"/>
              </a:rPr>
              <a:t>Cut at sentence boundaries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023360"/>
            <a:ext cx="4800600" cy="822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52160" y="4023360"/>
            <a:ext cx="4800600" cy="822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251960"/>
            <a:ext cx="4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E1B2B"/>
                </a:solidFill>
                <a:latin typeface="Calibri"/>
              </a:rPr>
              <a:t>Hybrid retrieval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5360" y="4251960"/>
            <a:ext cx="4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E1B2B"/>
                </a:solidFill>
                <a:latin typeface="Calibri"/>
              </a:rPr>
              <a:t>grep + meaning search together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937760"/>
            <a:ext cx="4800600" cy="822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52160" y="4937760"/>
            <a:ext cx="4800600" cy="822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166360"/>
            <a:ext cx="4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E1B2B"/>
                </a:solidFill>
                <a:latin typeface="Calibri"/>
              </a:rPr>
              <a:t>Citations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5360" y="5166360"/>
            <a:ext cx="4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E1B2B"/>
                </a:solidFill>
                <a:latin typeface="Calibri"/>
              </a:rPr>
              <a:t>Show your sources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95A7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B2B"/>
                </a:solidFill>
                <a:latin typeface="Cambria"/>
              </a:rPr>
              <a:t>3 demos -- pure Python, raw Groq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95A7"/>
                </a:solidFill>
                <a:latin typeface="Calibri"/>
              </a:rPr>
              <a:t>Demos 1-2 need no API key. Demo 3 needs GROQ_API_KEY.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463040"/>
            <a:ext cx="640080" cy="640080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508760"/>
            <a:ext cx="900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E1B2B"/>
                </a:solidFill>
                <a:latin typeface="Cambria"/>
              </a:rPr>
              <a:t>Chunking strategies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874520"/>
            <a:ext cx="90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95A7"/>
                </a:solidFill>
                <a:latin typeface="Calibri"/>
              </a:rPr>
              <a:t>Fixed-size vs sentence-aware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560320"/>
            <a:ext cx="640080" cy="640080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606040"/>
            <a:ext cx="900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E1B2B"/>
                </a:solidFill>
                <a:latin typeface="Cambria"/>
              </a:rPr>
              <a:t>Hybrid retrieval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971800"/>
            <a:ext cx="90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95A7"/>
                </a:solidFill>
                <a:latin typeface="Calibri"/>
              </a:rPr>
              <a:t>Keyword vs meaning vs both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657600"/>
            <a:ext cx="640080" cy="640080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703320"/>
            <a:ext cx="900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E1B2B"/>
                </a:solidFill>
                <a:latin typeface="Cambria"/>
              </a:rPr>
              <a:t>Full RAG on a PDF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069080"/>
            <a:ext cx="90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95A7"/>
                </a:solidFill>
                <a:latin typeface="Calibri"/>
              </a:rPr>
              <a:t>Retrieve -&gt; prompt -&gt; answer with citations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E1B2B"/>
                </a:solidFill>
                <a:latin typeface="Calibri"/>
              </a:rPr>
              <a:t>Run from lecture3/:  python demos/demo_1_chunking_strategies.py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95A7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B2B"/>
                </a:solidFill>
                <a:latin typeface="Cambria"/>
              </a:rPr>
              <a:t>Common mistakes beginners make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95A7"/>
                </a:solidFill>
                <a:latin typeface="Calibri"/>
              </a:rPr>
              <a:t>Three traps -- read them before you ship a RAG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63040"/>
            <a:ext cx="10058400" cy="12801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E1B2B"/>
                </a:solidFill>
                <a:latin typeface="Cambria"/>
              </a:rPr>
              <a:t>1. One chunk size forever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895A7"/>
                </a:solidFill>
                <a:latin typeface="Calibri"/>
              </a:rPr>
              <a:t>Short configs and long manuals need different sizes.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926080"/>
            <a:ext cx="10058400" cy="12801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10896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E1B2B"/>
                </a:solidFill>
                <a:latin typeface="Cambria"/>
              </a:rPr>
              <a:t>2. Expecting hybrid to win every query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56616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895A7"/>
                </a:solidFill>
                <a:latin typeface="Calibri"/>
              </a:rPr>
              <a:t>It reduces bad misses overall -- not a blowout every 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389120"/>
            <a:ext cx="10058400" cy="12801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57200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E1B2B"/>
                </a:solidFill>
                <a:latin typeface="Cambria"/>
              </a:rPr>
              <a:t>3. Never checking citations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0292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895A7"/>
                </a:solidFill>
                <a:latin typeface="Calibri"/>
              </a:rPr>
              <a:t>A fake [1] is worse than no citation.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95A7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A33D"/>
                </a:solidFill>
                <a:latin typeface="Calibri"/>
              </a:rPr>
              <a:t>SUMMARY &amp; NEXT LECTURE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63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mbria"/>
              </a:rPr>
              <a:t>You can now build RAG by hand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ADCFC"/>
                </a:solidFill>
                <a:latin typeface="Calibri"/>
              </a:rPr>
              <a:t>Chunk two ways and explain the trade-off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108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ADCFC"/>
                </a:solidFill>
                <a:latin typeface="Calibri"/>
              </a:rPr>
              <a:t>Combine keyword + meaning search (hybrid)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749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ADCFC"/>
                </a:solidFill>
                <a:latin typeface="Calibri"/>
              </a:rPr>
              <a:t>Run the full loop on a PDF with citations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ADCFC"/>
                </a:solidFill>
                <a:latin typeface="Calibri"/>
              </a:rPr>
              <a:t>Next: LangChain rebuilds this pipeline shorter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