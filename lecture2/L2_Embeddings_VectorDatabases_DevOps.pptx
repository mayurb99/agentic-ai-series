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AGENTIC AI FOR DEVOPS ENGINEERS  |  PHASE 1  |  LECTURE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mbria"/>
              </a:rPr>
              <a:t>Embeddings &amp; Vector Databases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ADCFC"/>
                </a:solidFill>
                <a:latin typeface="Cambria"/>
              </a:rPr>
              <a:t>Turning text into numbers you can search by meaning -- and where to store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90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196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95A7"/>
                </a:solidFill>
                <a:latin typeface="Calibri"/>
              </a:rPr>
              <a:t>DURATION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37947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425196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95A7"/>
                </a:solidFill>
                <a:latin typeface="Calibri"/>
              </a:rPr>
              <a:t>TRACK (DevOps Edition)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37947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 of 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425196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95A7"/>
                </a:solidFill>
                <a:latin typeface="Calibri"/>
              </a:rPr>
              <a:t>LECTURE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37947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Local + Chroma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425196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95A7"/>
                </a:solidFill>
                <a:latin typeface="Calibri"/>
              </a:rPr>
              <a:t>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Fully local and offline for demos 1-2 -- Groq only appears in a short bonus preview of Lecture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Today's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Five ideas -- each one mapped to something you already know from basic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02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53619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E1B2B"/>
                </a:solidFill>
                <a:latin typeface="Cambria"/>
              </a:rPr>
              <a:t>What is an embedding, really?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0195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A fingerprint of meaning (not a hash)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33172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134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E1B2B"/>
                </a:solidFill>
                <a:latin typeface="Cambria"/>
              </a:rPr>
              <a:t>Cosine similarity &amp; nearest-neighbour 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79191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How close two arrows point in the same direction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10896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09067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E1B2B"/>
                </a:solidFill>
                <a:latin typeface="Cambria"/>
              </a:rPr>
              <a:t>Vector databases: why a special store?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45643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A search index for meaning, not exact keywords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88620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86791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E1B2B"/>
                </a:solidFill>
                <a:latin typeface="Cambria"/>
              </a:rPr>
              <a:t>In-memory vs. persistent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3367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Temp container filesystem vs. a mounted volume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66344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64515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E1B2B"/>
                </a:solidFill>
                <a:latin typeface="Cambria"/>
              </a:rPr>
              <a:t>Local model vs. hosted embedding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01091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On your laptop vs. calling a cloud API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5440679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42239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E1B2B"/>
                </a:solidFill>
                <a:latin typeface="Cambria"/>
              </a:rPr>
              <a:t>3 hands-on demos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788151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sentence-transformers + Chroma, live in your terminal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Why embeddings &amp; vector search are a natural 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You already know these shapes -- today we just give them AI names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00200"/>
            <a:ext cx="10058400" cy="914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If you have used checksums, searched logs, mounted a volume, or called a cloud API, you already have the mental models. This lecture just renames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895A7"/>
                </a:solidFill>
                <a:latin typeface="Calibri"/>
              </a:rPr>
              <a:t>YOU ALREADY KNOW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A33D"/>
                </a:solidFill>
                <a:latin typeface="Calibri"/>
              </a:rPr>
              <a:t>YOU'RE ABOUT TO LEARN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17520"/>
            <a:ext cx="484632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12724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A checksum / file fingerprint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323697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8A33D"/>
                </a:solidFill>
                <a:latin typeface="Cambria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017520"/>
            <a:ext cx="4846320" cy="566928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12724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An embedding (fingerprint of meaning)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75887"/>
            <a:ext cx="484632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785615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Searching logs by exact keyword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389534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8A33D"/>
                </a:solidFill>
                <a:latin typeface="Cambria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675887"/>
            <a:ext cx="4846320" cy="566928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785615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 vector database (search by meaning)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334255"/>
            <a:ext cx="484632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443983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Temp container disk vs. a volume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455371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8A33D"/>
                </a:solidFill>
                <a:latin typeface="Cambria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4334255"/>
            <a:ext cx="4846320" cy="566928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443983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In-memory vs. persistent vector store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992623"/>
            <a:ext cx="484632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10235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Run on your laptop vs. a cloud API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521207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8A33D"/>
                </a:solidFill>
                <a:latin typeface="Cambria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992623"/>
            <a:ext cx="4846320" cy="566928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510235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Local model vs. hosted embed API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650991"/>
            <a:ext cx="484632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76071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Two arrows pointing the same way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6440" y="5870447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8A33D"/>
                </a:solidFill>
                <a:latin typeface="Cambria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5650991"/>
            <a:ext cx="4846320" cy="566928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576071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Cosine similarity (closeness score)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THEORY 1  |  SLIDES 5-6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1546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What is an embedding, really?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262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mbria"/>
              </a:rPr>
              <a:t>Turning meaning into a list of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Text becomes a vector of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An embedding = a fixed-length list of floats that stands in for that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00200"/>
            <a:ext cx="10058400" cy="10515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55648"/>
            <a:ext cx="9509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A small local model (sentence-transformers) reads a sentence and returns a list of 384 numbers. Think of those numbers as coordinates for that sentence -- a single point you can compare with other points.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834640"/>
            <a:ext cx="10058400" cy="1828800"/>
          </a:xfrm>
          <a:prstGeom prst="rect">
            <a:avLst/>
          </a:prstGeom>
          <a:solidFill>
            <a:srgbClr val="12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1752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model.encode("The pod crashed due to an OOM error.")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-&gt; array([0.069, 0.011, 0.032, 0.029, 0.05, ..., -0.058])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ourier New"/>
              </a:rPr>
              <a:t># 384 numbers -- same length whether the input is 3 words or 300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Useful property: similar MEANING -&gt; points land close together. Unrelated topics -&gt; points land far apart.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Analogy: an embedding = a fingerprint of meaning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Same "turn text into a fixed fingerprint" idea -- different goal from a hash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00200"/>
            <a:ext cx="10058400" cy="8686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A33D"/>
                </a:solidFill>
                <a:latin typeface="Calibri"/>
              </a:rPr>
              <a:t>A hash (sha256sum / Docker digest) changes completely if you change one character. An embedding is built to keep similar texts close -- so you can search by meaning.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651760"/>
            <a:ext cx="10058400" cy="2651760"/>
          </a:xfrm>
          <a:prstGeom prst="rect">
            <a:avLst/>
          </a:prstGeom>
          <a:solidFill>
            <a:srgbClr val="12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83464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ourier New"/>
              </a:rPr>
              <a:t># One character added -- "!" at the end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SHA-256(A): ab6ce728cadf6def93084142c82325d2cb41ac27c95e824...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SHA-256(B): 13cffe35fdab26539b9942f001fe44db8ba9b6b9c3bfcfb...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ourier New"/>
              </a:rPr>
              <a:t># Hash: one tiny change -&gt; totally different fingerprint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ourier New"/>
              </a:rPr>
              <a:t># Same two sentences, embedded instead: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ourier New"/>
              </a:rPr>
              <a:t>cosine_similarity(embed(A), embed(B)) = 0.98   # nearly identical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THEORY 2  |  SLIDES 8-9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1546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Cosine similarity &amp; nearest-neighbour 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262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mbria"/>
              </a:rPr>
              <a:t>How do you decide which texts are "close"?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Cosine similarity: comparing direction, not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One number that answers: "do these two texts point the same way?"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00200"/>
            <a:ext cx="10058400" cy="1097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Imagine each embedding as an arrow. Cosine similarity asks how close those two arrows point in the same direction -- and ignores how long each arrow is. Score near 1.0 = nearly the same meaning. Near 0 = unrelated.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880360"/>
            <a:ext cx="10058400" cy="1828800"/>
          </a:xfrm>
          <a:prstGeom prst="rect">
            <a:avLst/>
          </a:prstGeom>
          <a:solidFill>
            <a:srgbClr val="12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63240"/>
            <a:ext cx="9601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"The pod crashed due to an OOM error."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"The container was killed for using too much RAM."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ourier New"/>
              </a:rPr>
              <a:t>-&gt; cosine similarity: ~0.61   # same meaning, almost no shared words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ourier New"/>
              </a:rPr>
              <a:t>"The pod crashed due to an OOM error."  vs.  "Lunch is at noon."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ourier New"/>
              </a:rPr>
              <a:t>-&gt; cosine similarity: ~0.00   # unrelated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37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Nearest-neighbour search = score the query against every stored vector, then keep the top K highest scores. That's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Analogy: cosine similarity = how close two arrows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A tiny picture in words -- no heavy math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00200"/>
            <a:ext cx="502920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895A7"/>
                </a:solidFill>
                <a:latin typeface="Calibri"/>
              </a:rPr>
              <a:t>PICTURE THIS ON A FLAT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Draw arrow A for "pod ran out of memory."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Draw arrow B for "container used too much RAM."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Those two arrows point almost the same way -- high cosine similarity.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Draw arrow C for "lunch is at noon." It points somewhere else -- low score.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600200"/>
            <a:ext cx="5029200" cy="3291840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783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WHAT THE SCORE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28600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~1.0  nearly the same meaning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~0.6  related (paraphrase / same topic)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~0.0  unrelated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You do not need the formula today. Remember: direction = meaning; closer directions = closer meanings.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Real embeddings use hundreds of dimensions. The intuition is the same as this 2D picture -- just with many more axes.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THEORY 3  |  SLIDES 11-13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1546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Vector databases: why a special store?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262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mbria"/>
              </a:rPr>
              <a:t>A search index built for one job: find the closest meanings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Chroma: built for one job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Store the vectors, the original text, and search both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00200"/>
            <a:ext cx="10058400" cy="10515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55648"/>
            <a:ext cx="9509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Chroma is a vector database. It stores each embedding next to the original text, then finds the closest matches for a new query -- so you never hand-write the similarity math yourself.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834640"/>
            <a:ext cx="10058400" cy="1828800"/>
          </a:xfrm>
          <a:prstGeom prst="rect">
            <a:avLst/>
          </a:prstGeom>
          <a:solidFill>
            <a:srgbClr val="12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1752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collection.add(documents=["...", "..."], ids=["doc_1", "doc_2"])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results = collection.query(query_texts=["server ran out of RAM"], n_results=3)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ourier New"/>
              </a:rPr>
              <a:t># Chroma embeds the query, ranks every stored vector, returns the top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You never call the embedding model or the similarity math directly -- Chroma does both behind .add() and .query().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Anatomy of a semantic search query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What actually happens inside .query() -- four plain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12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E1B2B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58191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1B2B"/>
                </a:solidFill>
                <a:latin typeface="Cambria"/>
              </a:rPr>
              <a:t>Embed the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618488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Your query text becomes a vector, the same way every stored document did.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468880"/>
            <a:ext cx="502920" cy="50292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E1B2B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1B2B"/>
                </a:solidFill>
                <a:latin typeface="Cambria"/>
              </a:rPr>
              <a:t>Score every stored vector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87168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Cosine similarity compares the query to every stored vector.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337560"/>
            <a:ext cx="502920" cy="50292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E1B2B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31927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1B2B"/>
                </a:solidFill>
                <a:latin typeface="Cambria"/>
              </a:rPr>
              <a:t>Rank by similarity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355848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Higher score = closer in meaning.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206240"/>
            <a:ext cx="502920" cy="50292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E1B2B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18795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1B2B"/>
                </a:solidFill>
                <a:latin typeface="Cambria"/>
              </a:rPr>
              <a:t>Return the top 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24528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Only the K best-scoring documents come back, with their scores.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Analogy: a vector database = search logs by meaning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Keyword search needs the exact words. Semantic search needs the idea.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029200" cy="29260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895A7"/>
                </a:solidFill>
                <a:latin typeface="Calibri"/>
              </a:rPr>
              <a:t>KEYWORD SEARCH (grep / Ctrl+F)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You search for the exact word "OOM".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If the log says "ran out of memory" instead, you miss it.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Great when wording matches. Fragile when people paraphrase.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691640"/>
            <a:ext cx="5029200" cy="2926080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87451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VECTOR DB (SEMANTIC SEARCH)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37744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You ask "the machine ran out of RAM".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It finds the runbook about OOM kills -- even with almost no shared words.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That is why a special index exists: one job, done well.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46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You could store those number lists in a normal table. A vector database exists because "find the closest meanings" is a specialized search job.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THEORY 4  |  SLIDES 15-16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1546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In-memory vs. persistent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262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mbria"/>
              </a:rPr>
              <a:t>Same database, two very different lifetimes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chromadb.Client() vs. PersistentClient(path=...)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One line of code decides whether your data survives a restart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00200"/>
            <a:ext cx="10058400" cy="7772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64792"/>
            <a:ext cx="950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In-memory mode lives only in RAM for this process. Persistent mode writes real files to disk at the path you give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560320"/>
            <a:ext cx="10058400" cy="2651760"/>
          </a:xfrm>
          <a:prstGeom prst="rect">
            <a:avLst/>
          </a:prstGeom>
          <a:solidFill>
            <a:srgbClr val="12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74320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ourier New"/>
              </a:rPr>
              <a:t># In-memory -- gone the moment this process exits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client = chromadb.Client()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ourier New"/>
              </a:rPr>
              <a:t># Persistent -- backed by real files, survives a restart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ourier New"/>
              </a:rPr>
              <a:t>client = chromadb.PersistentClient(path="./chroma_store")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ourier New"/>
              </a:rPr>
              <a:t># collection.count() tells you if data from a PREVIOUS run is already there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Analogy: in-memory vs. persistent = temp disk vs. a volume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The same trade-off you already make for every container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5029200" cy="29260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895A7"/>
                </a:solidFill>
                <a:latin typeface="Calibri"/>
              </a:rPr>
              <a:t>TEMP CONTAINER FILESYSTEM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3172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Fast and simple -- but gone when the container restarts, unless you mount a volume.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chromadb.Client() = that temp disk case.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737360"/>
            <a:ext cx="5029200" cy="2926080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MOUNTED VOLUME / SAVED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33172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Data is written to real disk outside the process lifetime -- still there next run.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PersistentClient(path=...) = the volume case.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THEORY 5  |  SLIDES 18-19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1546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Local model vs. hosted embedding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262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mbria"/>
              </a:rPr>
              <a:t>Same kind of vector -- different place it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sentence-transformers (local) vs. a hosted embed endpoint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Both return the same shape of vector -- the trade-off is operational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895A7"/>
                </a:solidFill>
                <a:latin typeface="Calibri"/>
              </a:rPr>
              <a:t>LOCAL (ON YOUR MACHINE)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71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A33D"/>
                </a:solidFill>
                <a:latin typeface="Calibri"/>
              </a:rPr>
              <a:t>HOSTED CLOUD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91640"/>
            <a:ext cx="5120640" cy="7772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No API key, runs on your own CPU / laptop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691640"/>
            <a:ext cx="5120640" cy="777240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Pay-per-call, zero infra for you to run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587752"/>
            <a:ext cx="5120640" cy="7772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72491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Fully private -- nothing leaves your machine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587752"/>
            <a:ext cx="5120640" cy="777240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72491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 network call on every embed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483864"/>
            <a:ext cx="5120640" cy="7772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21024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You pick (and pin) the model version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483864"/>
            <a:ext cx="5120640" cy="777240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621024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The provider controls versioning &amp; uptime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Analogy: local model vs. hosted API = laptop vs. cloud 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You already make this choice for lots of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5029200" cy="29260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895A7"/>
                </a:solidFill>
                <a:latin typeface="Calibri"/>
              </a:rPr>
              <a:t>RUN IT ON YOUR LAPTOP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3172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sentence-transformers downloads once, then runs offline on your CPU.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Free after download. Private. You own the machine and the model file.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737360"/>
            <a:ext cx="5029200" cy="2926080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CALL A CLOUD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33172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A hosted embed endpoint is like any other cloud API: send text, get numbers back.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Easy ops. Pay per call. Needs network and an API key every time.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Today's Analogy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Every future lecture in this track reuses these exact comparisons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895A7"/>
                </a:solidFill>
                <a:latin typeface="Calibri"/>
              </a:rPr>
              <a:t>AI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A33D"/>
                </a:solidFill>
                <a:latin typeface="Calibri"/>
              </a:rPr>
              <a:t>DEVOPS ANALOGY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91640"/>
            <a:ext cx="10058400" cy="594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Embeddings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Fingerprint of meaning (vs. a hash)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377440"/>
            <a:ext cx="10058400" cy="594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14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Vector database (Chroma)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514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Search index for meaning (not keywords)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063240"/>
            <a:ext cx="10058400" cy="594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In-memory vs. persistent 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200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Temp container disk vs. mounted volume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49039"/>
            <a:ext cx="10058400" cy="594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88619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Cosine similarity / NN 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88619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How close two arrows point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434839"/>
            <a:ext cx="10058400" cy="594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57199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Local model vs. hosted 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57199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On your laptop vs. a cloud API 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5779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95A7"/>
                </a:solidFill>
                <a:latin typeface="Calibri"/>
              </a:rPr>
              <a:t>Full detail lives in ANALOGY_GLOSSARY.md at the repo root -- Lecture 1's rows are still there too.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3 DEMOS  |  SENTENCE-TRANSFORMERS + CHROMA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From Theory to Terminal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965960"/>
            <a:ext cx="548640" cy="548640"/>
          </a:xfrm>
          <a:prstGeom prst="ellipse">
            <a:avLst/>
          </a:prstGeom>
          <a:solidFill>
            <a:srgbClr val="12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98424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demo_1_embeddings_basics.py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350008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See a real embedding, compare meaning with cosine similarity, contrast with a hash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337560"/>
            <a:ext cx="548640" cy="548640"/>
          </a:xfrm>
          <a:prstGeom prst="ellipse">
            <a:avLst/>
          </a:prstGeom>
          <a:solidFill>
            <a:srgbClr val="12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35584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demo_2_chroma_persistence.py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721608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In-memory vs. persistent Chroma -- proven by running the script twice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709160"/>
            <a:ext cx="548640" cy="548640"/>
          </a:xfrm>
          <a:prstGeom prst="ellipse">
            <a:avLst/>
          </a:prstGeom>
          <a:solidFill>
            <a:srgbClr val="12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72744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demo_3_semantic_search.py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5093208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50-document knowledge base: semantic search vs. keyword search, plus a Groq RAG preview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Common mistakes beginners make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Read this before you touch the demos -- it will save you an 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10058400" cy="8686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Thinking a vector DB is "just a table of number lists"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031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It is a special search index for "find the closest meanings." That one job is the whole point.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679192"/>
            <a:ext cx="10058400" cy="8686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77063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Comparing raw embedding vectors with ==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9067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Same meaning almost never means bit-identical floats. Use cosine similarity, not equality.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666744"/>
            <a:ext cx="10058400" cy="8686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58183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Forgetting in-memory data is gone on restart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78224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Same mistake as writing into a temp container disk. Use PersistentClient when data must survive.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654296"/>
            <a:ext cx="10058400" cy="8686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745736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Treating a similarity score as pass/fail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065776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It is a ranking signal, not a binary verdict -- always look at the top-K results together.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SUMMARY &amp; NEXT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What you can now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A33D"/>
                </a:solidFill>
                <a:latin typeface="Calibri"/>
              </a:rPr>
              <a:t>- Turn text into an embedding, and explain it as a fingerprint of meaning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A33D"/>
                </a:solidFill>
                <a:latin typeface="Calibri"/>
              </a:rPr>
              <a:t>- Compare two embeddings with cosine similarity (direction = meaning)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A33D"/>
                </a:solidFill>
                <a:latin typeface="Calibri"/>
              </a:rPr>
              <a:t>- Store and query embeddings in Chroma, in-memory and persistent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A33D"/>
                </a:solidFill>
                <a:latin typeface="Calibri"/>
              </a:rPr>
              <a:t>- Explain why a vector database is a special search index for meaning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A33D"/>
                </a:solidFill>
                <a:latin typeface="Calibri"/>
              </a:rPr>
              <a:t>- Weigh a local model (laptop) against a hosted embed API (cloud call)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A33D"/>
                </a:solidFill>
                <a:latin typeface="Calibri"/>
              </a:rPr>
              <a:t>- Built a 50-document semantic search that beats keyword search on paraphrases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029200"/>
            <a:ext cx="10058400" cy="1051560"/>
          </a:xfrm>
          <a:prstGeom prst="rect">
            <a:avLst/>
          </a:prstGeom>
          <a:solidFill>
            <a:srgbClr val="12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5193792"/>
            <a:ext cx="9509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A33D"/>
                </a:solidFill>
                <a:latin typeface="Calibri"/>
              </a:rPr>
              <a:t>Next lecture: RAG from scratch -- retrieve relevant docs, then hand them to an LLM so answers come from your own knowledge base.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