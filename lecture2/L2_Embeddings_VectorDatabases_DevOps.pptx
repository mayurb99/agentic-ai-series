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90" d="100"/>
          <a:sy n="90" d="100"/>
        </p:scale>
        <p:origin x="370" y="67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8/7/2026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77724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AGENTIC AI FOR DEVOPS ENGINEERS  |  PHASE 1  |  LECTURE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123444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400" b="1">
                <a:solidFill>
                  <a:srgbClr val="FFFFFF"/>
                </a:solidFill>
                <a:latin typeface="Cambria"/>
              </a:rPr>
              <a:t>Embeddings &amp; Vector Databases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CADCFC"/>
                </a:solidFill>
                <a:latin typeface="Cambria"/>
              </a:rPr>
              <a:t>Turning text into numbers you can search by meaning -- and where to store them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90 min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DURATION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3375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Foundation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3375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TRACK (DevOps Edition)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8521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2 of 50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8521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LECTURE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366760" y="3794760"/>
            <a:ext cx="2331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FFFFFF"/>
                </a:solidFill>
                <a:latin typeface="Cambria"/>
              </a:rPr>
              <a:t>Local + Chroma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366760" y="4251960"/>
            <a:ext cx="233172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ENGINE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5074920"/>
            <a:ext cx="1005840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00" b="0">
                <a:solidFill>
                  <a:srgbClr val="8895A7"/>
                </a:solidFill>
                <a:latin typeface="Calibri"/>
              </a:rPr>
              <a:t>Fully local and offline -- no API key needed for any of the three demos</a:t>
            </a:r>
            <a:endParaRPr sz="1300" b="0">
              <a:solidFill>
                <a:srgbClr val="8895A7"/>
              </a:solidFill>
              <a:latin typeface="Calibri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Today's 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Five ideas -- each one mapped to something you already know from basic DevOps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02</a:t>
            </a:r>
          </a:p>
        </p:txBody>
      </p:sp>
      <p:sp>
        <p:nvSpPr>
          <p:cNvPr id="5" name="Oval 4"/>
          <p:cNvSpPr/>
          <p:nvPr/>
        </p:nvSpPr>
        <p:spPr>
          <a:xfrm>
            <a:off x="640080" y="155448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371600" y="15361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What is an embedding, really?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0195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A fingerprint of meaning (not a hash)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233172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231343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Cosine similarity &amp; nearest-neighbour search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679191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How close two arrows point in the same direction</a:t>
            </a:r>
          </a:p>
        </p:txBody>
      </p:sp>
      <p:sp>
        <p:nvSpPr>
          <p:cNvPr id="11" name="Oval 10"/>
          <p:cNvSpPr/>
          <p:nvPr/>
        </p:nvSpPr>
        <p:spPr>
          <a:xfrm>
            <a:off x="640080" y="310896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30906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Vector databases: why a special store?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34564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A search index for meaning, not exact keywords</a:t>
            </a:r>
          </a:p>
        </p:txBody>
      </p:sp>
      <p:sp>
        <p:nvSpPr>
          <p:cNvPr id="14" name="Oval 13"/>
          <p:cNvSpPr/>
          <p:nvPr/>
        </p:nvSpPr>
        <p:spPr>
          <a:xfrm>
            <a:off x="640080" y="388620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86791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In-memory vs. persistent mode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423367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Temp container filesystem vs. a mounted volume</a:t>
            </a:r>
          </a:p>
        </p:txBody>
      </p:sp>
      <p:sp>
        <p:nvSpPr>
          <p:cNvPr id="17" name="Oval 16"/>
          <p:cNvSpPr/>
          <p:nvPr/>
        </p:nvSpPr>
        <p:spPr>
          <a:xfrm>
            <a:off x="640080" y="4663440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05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64515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Local model vs. hosted embedding API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501091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On your laptop vs. calling a cloud API</a:t>
            </a:r>
          </a:p>
        </p:txBody>
      </p:sp>
      <p:sp>
        <p:nvSpPr>
          <p:cNvPr id="20" name="Oval 19"/>
          <p:cNvSpPr/>
          <p:nvPr/>
        </p:nvSpPr>
        <p:spPr>
          <a:xfrm>
            <a:off x="640080" y="5440679"/>
            <a:ext cx="502920" cy="502920"/>
          </a:xfrm>
          <a:prstGeom prst="ellipse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>
                <a:solidFill>
                  <a:srgbClr val="FFFFFF"/>
                </a:solidFill>
                <a:latin typeface="Cambria"/>
              </a:rPr>
              <a:t>06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371600" y="542239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E1B2B"/>
                </a:solidFill>
                <a:latin typeface="Cambria"/>
              </a:rPr>
              <a:t>3 hands-on demos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788151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sentence-transformers + Chroma, live in your terminal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Why embeddings &amp; vector search are a natural next step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already know these shapes -- today we just give them AI names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91440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5097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If you have used checksums, searched logs, mounted a volume, or called a cloud API, you already have the mental models. This lecture just renames them.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895A7"/>
                </a:solidFill>
                <a:latin typeface="Calibri"/>
              </a:rPr>
              <a:t>YOU ALREADY KNOW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09360" y="260604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YOU'RE ABOUT TO LEARN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3017520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1005840" y="31272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A checksum / file fingerprint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806440" y="3236976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309360" y="3017520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6492240" y="3127248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An embedding (fingerprint of meaning)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3675887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05840" y="378561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Searching logs by exact keyword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806440" y="3895344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675887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785615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 vector database (search by meaning)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334255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05840" y="44439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Temp container disk vs. a volume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806440" y="4553712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0" y="4334255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6492240" y="4443983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In-memory vs. persistent vector store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4992623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1005840" y="510235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Run on your laptop vs. a cloud API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806440" y="5212079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6309360" y="4992623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5102351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Local model vs. hosted embed API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650991"/>
            <a:ext cx="4846320" cy="566928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1005840" y="57607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Two arrows pointing the same way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806440" y="5870447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E8A33D"/>
                </a:solidFill>
                <a:latin typeface="Cambria"/>
              </a:rPr>
              <a:t>→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309360" y="5650991"/>
            <a:ext cx="4846320" cy="566928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6492240" y="57607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Cosine similarity (closeness score)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1  |  SLIDES 5-6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What is an embedding, really?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Turning meaning into a list of numbers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Text becomes a vector of numbers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An embedding = a fixed-length list of floats that stands in for that text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1051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55648"/>
            <a:ext cx="9509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A small local model (sentence-transformers) reads a sentence and returns a list of 384 numbers. Think of those numbers as coordinates for that sentence -- a single point you can compare with other points.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10058400" cy="182880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model.encode("The pod crashed due to an OOM error.")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-&gt; array([0.069, 0.011, 0.032, 0.029, 0.05, ..., -0.058])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384 numbers -- same length whether the input is 3 words or 300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Useful property: similar MEANING -&gt; points land close together. Unrelated topics -&gt; points land far apart.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an embedding = a fingerprint of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Same "turn text into a fixed fingerprint" idea -- different goal from a hash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50976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libri"/>
              </a:rPr>
              <a:t>A hash (sha256sum / Docker digest) changes completely if you change one character. An embedding is built to keep similar texts close -- so you can search by meaning.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651760"/>
            <a:ext cx="10058400" cy="265176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83464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One character added -- "!" at the end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SHA-256(A): ab6ce728cadf6def93084142c82325d2cb41ac27c95e824...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SHA-256(B): 13cffe35fdab26539b9942f001fe44db8ba9b6b9c3bfcfb...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Hash: one tiny change -&gt; totally different fingerprint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300" b="0">
              <a:solidFill>
                <a:srgbClr val="8895A7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Same two sentences, embedded instead: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ourier New"/>
              </a:rPr>
              <a:t>cosine_similarity(embed(A), embed(B)) = 0.98   # nearly identical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2  |  SLIDES 8-9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Cosine similarity &amp; nearest-neighbour search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How do you decide which texts are "close"?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Cosine similarity: comparing direction, not size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number that answers: "do these two texts point the same way?"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08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10972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37360"/>
            <a:ext cx="95097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Imagine each embedding as an arrow. Cosine similarity asks how close those two arrows point in the same direction -- and ignores how long each arrow is. Score near 1.0 = nearly the same meaning. Near 0 = unrelated.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80360"/>
            <a:ext cx="10058400" cy="182880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063240"/>
            <a:ext cx="960120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"The pod crashed due to an OOM error."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"The container was killed for using too much RAM."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ourier New"/>
              </a:rPr>
              <a:t>-&gt; cosine similarity: ~0.61   # same meaning, almost no shared words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300" b="1">
              <a:solidFill>
                <a:srgbClr val="E8A33D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"The pod crashed due to an OOM error."  vs.  "Lunch is at noon."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-&gt; cosine similarity: ~0.00   # unrelated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93776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Nearest-neighbour search = score the query against every stored vector, then keep the top K highest scores. That's it.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cosine similarity = how close two arrows 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A tiny picture in words -- no heavy math required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09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5029200" cy="32918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PICTURE THIS ON A FLAT PAGE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28600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Draw arrow A for "pod ran out of memory."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Draw arrow B for "container used too much RAM."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0E1B2B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Those two arrows point almost the same way -- high cosine similarity.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0E1B2B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Draw arrow C for "lunch is at noon." It points somewhere else -- low score.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600200"/>
            <a:ext cx="5029200" cy="32918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78308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WHAT THE SCORE MEANS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286000"/>
            <a:ext cx="4572000" cy="23774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~1.0  nearly the same meaning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~0.6  related (paraphrase / same topic)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~0.0  unrelated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You do not need the formula today. Remember: direction = meaning; closer directions = closer meanings.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5074920"/>
            <a:ext cx="10058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Real embeddings use hundreds of dimensions. The intuition is the same as this 2D picture -- just with many more axes.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3  |  SLIDES 11-13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Vector databases: why a special store?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A search index built for one job: find the closest meanings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Chroma: built for one job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Store the vectors, the original text, and search both together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11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10515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55648"/>
            <a:ext cx="9509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Chroma is a vector database. It stores each embedding next to the original text, then finds the closest matches for a new query -- so you never hand-write the similarity math yourself.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834640"/>
            <a:ext cx="10058400" cy="182880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3017520"/>
            <a:ext cx="96012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collection.add(documents=["...", "..."], ids=["doc_1", "doc_2"])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results = collection.query(query_texts=["server ran out of RAM"], n_results=3)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Chroma embeds the query, ranks every stored vector, returns the top 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89204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You never call the embedding model or the similarity math directly -- Chroma does both behind .add() and .query().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Anatomy of a semantic search query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What actually happens inside .query() -- four plain steps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12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160020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554480" y="158191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Embed the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0" y="161848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Your query text becomes a vector, the same way every stored document did.</a:t>
            </a:r>
          </a:p>
        </p:txBody>
      </p:sp>
      <p:sp>
        <p:nvSpPr>
          <p:cNvPr id="8" name="Oval 7"/>
          <p:cNvSpPr/>
          <p:nvPr/>
        </p:nvSpPr>
        <p:spPr>
          <a:xfrm>
            <a:off x="822960" y="246888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245059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Score every stored vector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48716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Cosine similarity compares the query to every stored vector.</a:t>
            </a:r>
          </a:p>
        </p:txBody>
      </p:sp>
      <p:sp>
        <p:nvSpPr>
          <p:cNvPr id="11" name="Oval 10"/>
          <p:cNvSpPr/>
          <p:nvPr/>
        </p:nvSpPr>
        <p:spPr>
          <a:xfrm>
            <a:off x="822960" y="333756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331927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Rank by similarity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0" y="335584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Higher score = closer in meaning.</a:t>
            </a:r>
          </a:p>
        </p:txBody>
      </p:sp>
      <p:sp>
        <p:nvSpPr>
          <p:cNvPr id="14" name="Oval 13"/>
          <p:cNvSpPr/>
          <p:nvPr/>
        </p:nvSpPr>
        <p:spPr>
          <a:xfrm>
            <a:off x="822960" y="4206240"/>
            <a:ext cx="502920" cy="502920"/>
          </a:xfrm>
          <a:prstGeom prst="ellipse">
            <a:avLst/>
          </a:prstGeom>
          <a:solidFill>
            <a:srgbClr val="E8A3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0E1B2B"/>
                </a:solidFill>
                <a:latin typeface="Cambria"/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54480" y="4187952"/>
            <a:ext cx="29260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E1B2B"/>
                </a:solidFill>
                <a:latin typeface="Cambria"/>
              </a:rPr>
              <a:t>Return the top 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4224528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Only the K best-scoring documents come back, with their scores.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a vector database = search logs by meaning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Keyword search needs the exact words. Semantic search needs the idea.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13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50292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8745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KEYWORD SEARCH (grep / Ctrl+F)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774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You search for the exact word "OOM".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If the log says "ran out of memory" instead, you miss it.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0E1B2B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Great when wording matches. Fragile when people paraphrase.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691640"/>
            <a:ext cx="5029200" cy="292608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87451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VECTOR DB (SEMANTIC SEARCH)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77440"/>
            <a:ext cx="457200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You ask "the machine ran out of RAM".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It finds the runbook about OOM kills -- even with almost no shared words.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That is why a special index exists: one job, done well.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60" y="4846320"/>
            <a:ext cx="10058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You could store those number lists in a normal table. A vector database exists because "find the closest meanings" is a specialized search job.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4  |  SLIDES 15-16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In-memory vs. persistent mode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Same database, two very different lifetimes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chromadb.Client() vs. PersistentClient(path=...)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One line of code decides whether your data survives a restart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00200"/>
            <a:ext cx="1005840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1764792"/>
            <a:ext cx="9509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0E1B2B"/>
                </a:solidFill>
                <a:latin typeface="Calibri"/>
              </a:rPr>
              <a:t>In-memory mode lives only in RAM for this process. Persistent mode writes real files to disk at the path you give it.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2560320"/>
            <a:ext cx="10058400" cy="265176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2743200"/>
            <a:ext cx="960120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In-memory -- gone the moment this process exits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ourier New"/>
              </a:rPr>
              <a:t>client = chromadb.Client()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300" b="0">
              <a:solidFill>
                <a:srgbClr val="CADCFC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Persistent -- backed by real files, survives a restart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ourier New"/>
              </a:rPr>
              <a:t>client = chromadb.PersistentClient(path="./chroma_store")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endParaRPr sz="1300" b="1">
              <a:solidFill>
                <a:srgbClr val="E8A33D"/>
              </a:solidFill>
              <a:latin typeface="Courier New"/>
            </a:endParaRP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ourier New"/>
              </a:rPr>
              <a:t># collection.count() tells you if data from a PREVIOUS run is already there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in-memory vs. persistent = temp disk vs. a volume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The same trade-off you already make for every container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16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0292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TEMP CONTAINER FILESYSTEM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Fast and simple -- but gone when the container restarts, unless you mount a volume.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0E1B2B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chromadb.Client() = that temp disk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737360"/>
            <a:ext cx="5029200" cy="292608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MOUNTED VOLUME / SAVED FILE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Data is written to real disk outside the process lifetime -- still there next run.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PersistentClient(path=...) = the volume case.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2743200"/>
            <a:ext cx="10515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THEORY 5  |  SLIDES 18-19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3154680"/>
            <a:ext cx="1051560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Local model vs. hosted embedding API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526280"/>
            <a:ext cx="96012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CADCFC"/>
                </a:solidFill>
                <a:latin typeface="Cambria"/>
              </a:rPr>
              <a:t>Same kind of vector -- different place it runs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17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sentence-transformers (local) vs. a hosted embed endpoint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Both return the same shape of vector -- the trade-off is operational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895A7"/>
                </a:solidFill>
                <a:latin typeface="Calibri"/>
              </a:rPr>
              <a:t>LOCAL (ON YOUR MACHINE)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37160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HOSTED CLOUD API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512064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05840" y="18288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No API key, runs on your own CPU / laptop</a:t>
            </a:r>
          </a:p>
        </p:txBody>
      </p:sp>
      <p:sp>
        <p:nvSpPr>
          <p:cNvPr id="9" name="Rectangle 8"/>
          <p:cNvSpPr/>
          <p:nvPr/>
        </p:nvSpPr>
        <p:spPr>
          <a:xfrm>
            <a:off x="6309360" y="1691640"/>
            <a:ext cx="5120640" cy="7772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6492240" y="1828800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Pay-per-call, zero infra for you to run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587752"/>
            <a:ext cx="512064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05840" y="27249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Fully private -- nothing leaves your machine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309360" y="2587752"/>
            <a:ext cx="5120640" cy="7772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6492240" y="2724912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A network call on every embed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3483864"/>
            <a:ext cx="5120640" cy="77724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1005840" y="36210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0E1B2B"/>
                </a:solidFill>
                <a:latin typeface="Calibri"/>
              </a:rPr>
              <a:t>You pick (and pin) the model version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09360" y="3483864"/>
            <a:ext cx="5120640" cy="77724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6492240" y="3621024"/>
            <a:ext cx="475488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The provider controls versioning &amp; uptime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Analogy: local model vs. hosted API = laptop vs. cloud call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You already make this choice for lots of tools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19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737360"/>
            <a:ext cx="5029200" cy="29260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8895A7"/>
                </a:solidFill>
                <a:latin typeface="Calibri"/>
              </a:rPr>
              <a:t>RUN IT ON YOUR LAPTOP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sentence-transformers downloads once, then runs offline on your CPU.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0E1B2B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0E1B2B"/>
                </a:solidFill>
                <a:latin typeface="Calibri"/>
              </a:rPr>
              <a:t>Free after download. Private. You own the machine and the model file.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6126480" y="1737360"/>
            <a:ext cx="5029200" cy="2926080"/>
          </a:xfrm>
          <a:prstGeom prst="rect">
            <a:avLst/>
          </a:prstGeom>
          <a:solidFill>
            <a:srgbClr val="0E1B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6355080" y="192024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1">
                <a:solidFill>
                  <a:srgbClr val="E8A33D"/>
                </a:solidFill>
                <a:latin typeface="Calibri"/>
              </a:rPr>
              <a:t>CALL A CLOUD API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55080" y="2331720"/>
            <a:ext cx="457200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A hosted embed endpoint is like any other cloud API: send text, get numbers back.</a:t>
            </a:r>
          </a:p>
          <a:p>
            <a:pPr algn="l">
              <a:spcBef>
                <a:spcPts val="0"/>
              </a:spcBef>
              <a:spcAft>
                <a:spcPts val="0"/>
              </a:spcAft>
            </a:pPr>
            <a:endParaRPr sz="1400" b="0">
              <a:solidFill>
                <a:srgbClr val="FFFFFF"/>
              </a:solidFill>
              <a:latin typeface="Calibri"/>
            </a:endParaRPr>
          </a:p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0">
                <a:solidFill>
                  <a:srgbClr val="FFFFFF"/>
                </a:solidFill>
                <a:latin typeface="Calibri"/>
              </a:rPr>
              <a:t>Easy ops. Pay per call. Needs network and an API key every time.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Today's Analogy Glossary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Every future lecture in this track reuses these exact comparisons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8895A7"/>
                </a:solidFill>
                <a:latin typeface="Calibri"/>
              </a:rPr>
              <a:t>AI CONCEPT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309360" y="1280160"/>
            <a:ext cx="4572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1">
                <a:solidFill>
                  <a:srgbClr val="E8A33D"/>
                </a:solidFill>
                <a:latin typeface="Calibri"/>
              </a:rPr>
              <a:t>DEVOPS ANALOGY</a:t>
            </a:r>
          </a:p>
        </p:txBody>
      </p:sp>
      <p:sp>
        <p:nvSpPr>
          <p:cNvPr id="7" name="Rectangle 6"/>
          <p:cNvSpPr/>
          <p:nvPr/>
        </p:nvSpPr>
        <p:spPr>
          <a:xfrm>
            <a:off x="822960" y="1691640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1051560" y="18288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Embeddings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309360" y="18288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Fingerprint of meaning (vs. a hash)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377440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1051560" y="25146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Vector database (Chroma)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25146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Search index for meaning (not keywords)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3063240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1051560" y="3200400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In-memory vs. persistent store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9360" y="3200400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Temp container disk vs. mounted volume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3749039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1051560" y="38861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Cosine similarity / NN search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309360" y="38861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How close two arrows point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22960" y="4434839"/>
            <a:ext cx="10058400" cy="59436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1051560" y="4571999"/>
            <a:ext cx="5029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Local model vs. hosted API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0" y="4571999"/>
            <a:ext cx="45720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On your laptop vs. a cloud API call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5257799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100" b="0">
                <a:solidFill>
                  <a:srgbClr val="8895A7"/>
                </a:solidFill>
                <a:latin typeface="Calibri"/>
              </a:rPr>
              <a:t>Full detail lives in ANALOGY_GLOSSARY.md at the repo root -- Lecture 1's rows are still there too.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3 DEMOS  |  SENTENCE-TRANSFORMERS + CHROMA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From Theory to Terminal</a:t>
            </a:r>
          </a:p>
        </p:txBody>
      </p:sp>
      <p:sp>
        <p:nvSpPr>
          <p:cNvPr id="4" name="Oval 3"/>
          <p:cNvSpPr/>
          <p:nvPr/>
        </p:nvSpPr>
        <p:spPr>
          <a:xfrm>
            <a:off x="822960" y="1965960"/>
            <a:ext cx="548640" cy="548640"/>
          </a:xfrm>
          <a:prstGeom prst="ellipse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600200" y="19842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demo_1_embeddings_basics.py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600200" y="23500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See a real embedding, compare meaning with cosine similarity, contrast with a hash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3337560"/>
            <a:ext cx="548640" cy="548640"/>
          </a:xfrm>
          <a:prstGeom prst="ellipse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00200" y="33558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demo_2_chroma_persistence.py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600200" y="3721608"/>
            <a:ext cx="89611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CADCFC"/>
                </a:solidFill>
                <a:latin typeface="Calibri"/>
              </a:rPr>
              <a:t>In-memory vs. persistent Chroma -- proven by running the script twice</a:t>
            </a:r>
          </a:p>
        </p:txBody>
      </p:sp>
      <p:sp>
        <p:nvSpPr>
          <p:cNvPr id="10" name="Oval 9"/>
          <p:cNvSpPr/>
          <p:nvPr/>
        </p:nvSpPr>
        <p:spPr>
          <a:xfrm>
            <a:off x="822960" y="4709160"/>
            <a:ext cx="548640" cy="548640"/>
          </a:xfrm>
          <a:prstGeom prst="ellipse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FFFFFF"/>
                </a:solidFill>
                <a:latin typeface="Cambria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600200" y="4727448"/>
            <a:ext cx="8686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FFFFFF"/>
                </a:solidFill>
                <a:latin typeface="Cambria"/>
              </a:rPr>
              <a:t>demo_3_semantic_search.py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00200" y="5093208"/>
            <a:ext cx="8961120" cy="2923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lang="en-US" sz="1300" b="0">
                <a:solidFill>
                  <a:srgbClr val="CADCFC"/>
                </a:solidFill>
                <a:latin typeface="Calibri"/>
              </a:rPr>
              <a:t>50-document knowledge base: semantic search vs. keyword search</a:t>
            </a:r>
            <a:endParaRPr sz="1300" b="0">
              <a:solidFill>
                <a:srgbClr val="CADCFC"/>
              </a:solidFill>
              <a:latin typeface="Calibri"/>
            </a:endParaRPr>
          </a:p>
        </p:txBody>
      </p:sp>
      <p:sp>
        <p:nvSpPr>
          <p:cNvPr id="13" name="TextBox 12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21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8640" y="365760"/>
            <a:ext cx="10972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600" b="1">
                <a:solidFill>
                  <a:srgbClr val="0E1B2B"/>
                </a:solidFill>
                <a:latin typeface="Cambria"/>
              </a:rPr>
              <a:t>Common mistakes beginners make here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914400"/>
            <a:ext cx="10972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0">
                <a:solidFill>
                  <a:srgbClr val="8895A7"/>
                </a:solidFill>
                <a:latin typeface="Calibri"/>
              </a:rPr>
              <a:t>Read this before you touch the demos -- it will save you an hour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8895A7"/>
                </a:solidFill>
                <a:latin typeface="Calibri"/>
              </a:rPr>
              <a:t>22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1691640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51560" y="1783080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Thinking a vector DB is "just a table of number lists"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" y="2103120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It is a special search index for "find the closest meanings." That one job is the whole point.</a:t>
            </a:r>
          </a:p>
        </p:txBody>
      </p:sp>
      <p:sp>
        <p:nvSpPr>
          <p:cNvPr id="8" name="Rectangle 7"/>
          <p:cNvSpPr/>
          <p:nvPr/>
        </p:nvSpPr>
        <p:spPr>
          <a:xfrm>
            <a:off x="822960" y="2679192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51560" y="2770632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Comparing raw embedding vectors with ==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3090672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Same meaning almost never means bit-identical floats. Use cosine similarity, not equality.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3666744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51560" y="3758183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Forgetting in-memory data is gone on restart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4078224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Same mistake as writing into a temp container disk. Use PersistentClient when data must survive.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4654296"/>
            <a:ext cx="10058400" cy="868680"/>
          </a:xfrm>
          <a:prstGeom prst="rect">
            <a:avLst/>
          </a:prstGeom>
          <a:solidFill>
            <a:srgbClr val="F4F6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51560" y="4745736"/>
            <a:ext cx="9601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400" b="1">
                <a:solidFill>
                  <a:srgbClr val="0E1B2B"/>
                </a:solidFill>
                <a:latin typeface="Calibri"/>
              </a:rPr>
              <a:t>Treating a similarity score as pass/fail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51560" y="5065776"/>
            <a:ext cx="96012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200" b="0">
                <a:solidFill>
                  <a:srgbClr val="8895A7"/>
                </a:solidFill>
                <a:latin typeface="Calibri"/>
              </a:rPr>
              <a:t>It is a ranking signal, not a binary verdict -- always look at the top-K results together.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E1B2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822960" y="502920"/>
            <a:ext cx="10058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300" b="1">
                <a:solidFill>
                  <a:srgbClr val="E8A33D"/>
                </a:solidFill>
                <a:latin typeface="Calibri"/>
              </a:rPr>
              <a:t>SUMMARY &amp; NEXT LECTURE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914400"/>
            <a:ext cx="100584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200" b="1">
                <a:solidFill>
                  <a:srgbClr val="FFFFFF"/>
                </a:solidFill>
                <a:latin typeface="Cambria"/>
              </a:rPr>
              <a:t>What you can now 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965960"/>
            <a:ext cx="100584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Turn text into an embedding, and explain it as a fingerprint of meaning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Compare two embeddings with cosine similarity (direction = meaning)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Store and query embeddings in Chroma, in-memory and persistent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Explain why a vector database is a special search index for meaning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Weigh a local model (laptop) against a hosted embed API (cloud call)</a:t>
            </a:r>
          </a:p>
          <a:p>
            <a:pPr>
              <a:spcBef>
                <a:spcPts val="0"/>
              </a:spcBef>
              <a:spcAft>
                <a:spcPts val="0"/>
              </a:spcAft>
            </a:pPr>
            <a:r>
              <a:rPr sz="1500" b="0">
                <a:solidFill>
                  <a:srgbClr val="E8A33D"/>
                </a:solidFill>
                <a:latin typeface="Calibri"/>
              </a:rPr>
              <a:t>- Built a 50-document semantic search that beats keyword search on paraphrases</a:t>
            </a:r>
          </a:p>
        </p:txBody>
      </p:sp>
      <p:sp>
        <p:nvSpPr>
          <p:cNvPr id="5" name="Rectangle 4"/>
          <p:cNvSpPr/>
          <p:nvPr/>
        </p:nvSpPr>
        <p:spPr>
          <a:xfrm>
            <a:off x="822960" y="5029200"/>
            <a:ext cx="10058400" cy="1051560"/>
          </a:xfrm>
          <a:prstGeom prst="rect">
            <a:avLst/>
          </a:prstGeom>
          <a:solidFill>
            <a:srgbClr val="121F3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1097280" y="5193792"/>
            <a:ext cx="950976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500" b="1">
                <a:solidFill>
                  <a:srgbClr val="E8A33D"/>
                </a:solidFill>
                <a:latin typeface="Calibri"/>
              </a:rPr>
              <a:t>Next lecture: RAG from scratch -- retrieve relevant docs, then hand them to an LLM so answers come from your own knowledge base.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185855" y="6355080"/>
            <a:ext cx="73152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900" b="0">
                <a:solidFill>
                  <a:srgbClr val="CADCFC"/>
                </a:solidFill>
                <a:latin typeface="Calibri"/>
              </a:rPr>
              <a:t>23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</TotalTime>
  <Words>2074</Words>
  <Application>Microsoft Office PowerPoint</Application>
  <PresentationFormat>Widescreen</PresentationFormat>
  <Paragraphs>254</Paragraphs>
  <Slides>23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8" baseType="lpstr">
      <vt:lpstr>Arial</vt:lpstr>
      <vt:lpstr>Calibri</vt:lpstr>
      <vt:lpstr>Cambria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Mayur Brijwani</cp:lastModifiedBy>
  <cp:revision>2</cp:revision>
  <dcterms:created xsi:type="dcterms:W3CDTF">2013-01-27T09:14:16Z</dcterms:created>
  <dcterms:modified xsi:type="dcterms:W3CDTF">2026-08-07T11:02:04Z</dcterms:modified>
  <cp:category/>
</cp:coreProperties>
</file>