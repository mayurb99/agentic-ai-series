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AGENTIC AI FOR DEVOPS ENGINEERS  |  PHASE 1  |  LECTURE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mbria"/>
              </a:rPr>
              <a:t>Embeddings &amp; Vector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ADCFC"/>
                </a:solidFill>
                <a:latin typeface="Cambria"/>
              </a:rPr>
              <a:t>Turning text into numbers you can search by meaning -- and where to store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90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DURATION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TRACK (DevOps Edition)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2 of 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LECTURE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79476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mbria"/>
              </a:rPr>
              <a:t>Local + Chroma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2519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Fully local and offline for demos 1-2 -- Groq only appears in a short bonus preview of Lecture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Five ideas -- each one mapped to something you already run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55448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361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What is an embedding, really?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A fingerprint that means the opposite of a hash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1343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Cosine similarity &amp; nearest-neighbour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7919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How “closeness” is measured and searched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0906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Vector databases: why not just Postgres?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4564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A purpose-built index, like Prometheus for metrics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86791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In-memory vs. persistent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3367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Ephemeral container filesystem vs. a mounted volume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64515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Local model vs. hosted embedding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1091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Self-hosted vs. managed SaaS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440679"/>
            <a:ext cx="502920" cy="502920"/>
          </a:xfrm>
          <a:prstGeom prst="ellipse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4223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E1B2B"/>
                </a:solidFill>
                <a:latin typeface="Cambria"/>
              </a:rPr>
              <a:t>3 hands-on demos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788151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sentence-transformers + Chroma, live in your terminal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Why embeddings &amp; vector search are a natural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 already operate every piece of this -- just under different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914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509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You already run checksums, purpose-built search indexes, mounted volumes, and managed SaaS trade-offs every week. This lecture just gives those same shapes new names.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YOU ALREADY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606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YOU'RE ABOUT TO LEARN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017520"/>
            <a:ext cx="484632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27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A checksum / image digest (sha256sum)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2369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017520"/>
            <a:ext cx="4846320" cy="566928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127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An embedding (semantic vector)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75887"/>
            <a:ext cx="484632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856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Prometheus / Elasticsearch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3895344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675887"/>
            <a:ext cx="4846320" cy="566928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85615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 vector database (Chroma)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334255"/>
            <a:ext cx="484632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4439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A mounted volume vs. container filesystem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455371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334255"/>
            <a:ext cx="4846320" cy="566928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443983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Persistent vs. in-memory vector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992623"/>
            <a:ext cx="484632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10235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Self-hosted vs. managed SaaS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2120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992623"/>
            <a:ext cx="4846320" cy="566928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510235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Local sentence-transformers vs. hosted embed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650991"/>
            <a:ext cx="484632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7607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Anomaly detection against a baseline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5870447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Cambria"/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5650991"/>
            <a:ext cx="4846320" cy="566928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576071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Cosine similarity / nearest-neighbour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1  |  SLIDES 4-5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What is an embedding, really?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Turning meaning into a list of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Text becomes a vector of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Fixed-length list of floats -- one per sentence, paragraph, or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1051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A sentence-transformers model reads a sentence and returns a fixed-length array of numbers -- 384 of them, for the model used in this lecture. Geometrically, that sentence is now a single point in 384-dimensional space.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10058400" cy="182880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ADCFC"/>
                </a:solidFill>
                <a:latin typeface="Courier New"/>
              </a:rPr>
              <a:t>model.encode("The pod crashed due to an OOM error.")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-&gt; array([0.069, 0.011, 0.032, 0.029, 0.05, ..., -0.058])</a:t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384 numbers total -- same length for a 3-word or 300-word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Sentences with similar MEANING land close together in that space. Sentences about unrelated topics land far apart.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an embedding = the opposite of a hash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Same idea, opposite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33D"/>
                </a:solidFill>
                <a:latin typeface="Calibri"/>
              </a:rPr>
              <a:t>sha256sum destroys similarity on purpose: change one character and the whole hash flips. An embedding is built to do the opposite -- preserve semantic closeness.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058400" cy="26517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895A7"/>
                </a:solidFill>
                <a:latin typeface="Courier New"/>
              </a:rPr>
              <a:t># One character added -- "!" at the end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SHA-256(A): ab6ce728cadf6def93084142c82325d2cb41ac27c95e824...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SHA-256(B): 13cffe35fdab26539b9942f001fe44db8ba9b6b9c3bfcfb...</a:t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100% different -- the "avalanche effect"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The SAME two near-identical sentences, embedded instead:</a:t>
            </a:r>
          </a:p>
          <a:p>
            <a:r>
              <a:rPr sz="1300" b="1">
                <a:solidFill>
                  <a:srgbClr val="E8A33D"/>
                </a:solidFill>
                <a:latin typeface="Courier New"/>
              </a:rPr>
              <a:t>cosine_similarity(embed(A), embed(B)) = 0.98   # nearly identical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2  |  SLIDES 7-8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Cosine similarity &amp; nearest-neighbour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How do you find the closest point among thousands?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Cosine similarity: comparing direction, not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The single number that turns “close in meaning” into math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11887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Cosine similarity measures the angle between two vectors, ignoring their length. It returns a score from -1 to 1 (in practice usually 0 to 1 for sentence embeddings): 1.0 means “pointing the same direction” -- near-identical meaning.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17520"/>
            <a:ext cx="10058400" cy="17373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ADCFC"/>
                </a:solidFill>
                <a:latin typeface="Courier New"/>
              </a:rPr>
              <a:t>"The pod crashed due to an OOM error."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"The container was killed for using too much RAM."</a:t>
            </a:r>
          </a:p>
          <a:p>
            <a:r>
              <a:rPr sz="1300" b="1">
                <a:solidFill>
                  <a:srgbClr val="E8A33D"/>
                </a:solidFill>
                <a:latin typeface="Courier New"/>
              </a:rPr>
              <a:t>-&gt; cosine similarity: 0.61   # same meaning, almost no shared words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"The pod crashed due to an OOM error."  vs.  "Lunch is at noon."</a:t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-&gt; cosine similarity: -0.01  # unrelated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Nearest-neighbour search = score every stored vector against the query vector, then return the top K highest scores.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cosine similarity = anomaly detection against a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 already compare a new signal to a known-good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4480560" cy="27432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5A7"/>
                </a:solidFill>
                <a:latin typeface="Calibri"/>
              </a:rPr>
              <a:t>AN ANOMALY DETECTOR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Compares a new metrics vector (CPU, latency, error rate) against historical “normal” vectors to find the closest match -- regardless of absolute scale.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4480560" cy="274320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Calibri"/>
              </a:rPr>
              <a:t>COSINE SIMILARITY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023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Compares a new text's embedding against stored embeddings to find the closest match in MEANING -- regardless of sentence length or wording.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Same math, same intent: normalize away the scale, then measure how alike two things really are.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3  |  SLIDES 10-12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Vector databases: why not just Postgres?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A purpose-built index for one query pattern: nearest-neighbour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Chroma: built for one job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Store the vectors, the original text, and search both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10515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55648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Chroma stores each embedding alongside its original text and any metadata, then indexes all of it for fast nearest-neighbour search -- so you never hand-write the cosine-similarity math yourself.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834640"/>
            <a:ext cx="10058400" cy="182880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CADCFC"/>
                </a:solidFill>
                <a:latin typeface="Courier New"/>
              </a:rPr>
              <a:t>collection.add(documents=["...", "..."], ids=["doc_1", "doc_2"])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results = collection.query(query_texts=["server ran out of RAM"], n_results=3)</a:t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Chroma embeds the query, ranks every stored vector, returns the top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You never call the embedding model or the similarity math directly -- Chroma does both behind .add() and .query().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Anatomy of a semantic search query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What actually happens inside .query()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12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0020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2B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581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Embed the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1848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Your query text is converted into a vector, the same way every stored document was.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2B"/>
                </a:solidFill>
                <a:latin typeface="Cambria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Score every stored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248716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Cosine similarity is computed between the query vector and every vector in the collection.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2B"/>
                </a:solidFill>
                <a:latin typeface="Cambria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3192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Rank by similarity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35584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Every document gets a similarity score -- higher means closer in meaning.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E1B2B"/>
                </a:solidFill>
                <a:latin typeface="Cambr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8795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1B2B"/>
                </a:solidFill>
                <a:latin typeface="Cambria"/>
              </a:rPr>
              <a:t>Return the top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22452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Only the K best-scoring documents come back, along with their scores.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a vector database = Prometheus for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A specialized engine beats a general-purpose one at its own query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Time-range metric aggregation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9966960" cy="64008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51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-&gt; Prometheus, purpose-built and dramatically faster than Postgres at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429000"/>
            <a:ext cx="9966960" cy="640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566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Nearest-neighbour vector search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206240"/>
            <a:ext cx="9966960" cy="64008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3434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-&gt; Chroma, purpose-built and dramatically faster than Postgres at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You could store embeddings as arrays in a normal table. You use a vector database for the same reason you use Prometheus instead of raw SQL.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4  |  SLIDES 14-15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In-memory vs. persistent mode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Same database, two very different lifetimes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chromadb.Client() vs. PersistentClient(path=...)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One line of code decides whether your data survives a restart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00200"/>
            <a:ext cx="1005840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6479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In-memory mode lives entirely in RAM for this process. Persistent mode writes real files to disk at the path you give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10058400" cy="26517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432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895A7"/>
                </a:solidFill>
                <a:latin typeface="Courier New"/>
              </a:rPr>
              <a:t># In-memory -- gone the moment this process exits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>client = chromadb.Client()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Persistent -- backed by real files, survives a restart</a:t>
            </a:r>
          </a:p>
          <a:p>
            <a:r>
              <a:rPr sz="1300" b="1">
                <a:solidFill>
                  <a:srgbClr val="E8A33D"/>
                </a:solidFill>
                <a:latin typeface="Courier New"/>
              </a:rPr>
              <a:t>client = chromadb.PersistentClient(path="./chroma_store")</a:t>
            </a:r>
          </a:p>
          <a:p>
            <a:r>
              <a:rPr sz="1300" b="0">
                <a:solidFill>
                  <a:srgbClr val="CADCFC"/>
                </a:solidFill>
                <a:latin typeface="Courier New"/>
              </a:rPr>
              <a:t/>
            </a:r>
          </a:p>
          <a:p>
            <a:r>
              <a:rPr sz="1300" b="0">
                <a:solidFill>
                  <a:srgbClr val="8895A7"/>
                </a:solidFill>
                <a:latin typeface="Courier New"/>
              </a:rPr>
              <a:t># collection.count() tells you if data from a PREVIOUS run is already there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in-memory vs. persistent = container fs vs. a mounted volume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The exact trade-off you already make for every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4480560" cy="29260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895A7"/>
                </a:solidFill>
                <a:latin typeface="Calibri"/>
              </a:rPr>
              <a:t>CONTAINER FILESYSTEM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Fast, simple, and gone the instant the container restarts -- unless you explicitly mount a volume.</a:t>
            </a:r>
          </a:p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0E1B2B"/>
                </a:solidFill>
                <a:latin typeface="Calibri"/>
              </a:rPr>
              <a:t>chromadb.Client() = the bare-container case.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737360"/>
            <a:ext cx="4480560" cy="292608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A33D"/>
                </a:solidFill>
                <a:latin typeface="Calibri"/>
              </a:rPr>
              <a:t>MOUNTED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Data is written to real disk, backed by a path outside the container's own lifetime.</a:t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PersistentClient(path=...) = the mounted-volume case.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THEORY 5  |  SLIDES 17-18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31546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mbria"/>
              </a:rPr>
              <a:t>Local model vs. hosted embedding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26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mbria"/>
              </a:rPr>
              <a:t>Same output shape, very different operational trade-offs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sentence-transformers (local) vs. a hosted embed endpoint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Both return the same shape of vector -- the trade-off is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LOCAL (sentence-transformers)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HOSTED API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51206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No API key, runs on your own CPU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120640" cy="77724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Pay-per-call, zero infrastructure to run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87752"/>
            <a:ext cx="51206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249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Fully private -- nothing leaves your machine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587752"/>
            <a:ext cx="5120640" cy="77724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72491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A network dependency for every embed 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483864"/>
            <a:ext cx="5120640" cy="7772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210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B2B"/>
                </a:solidFill>
                <a:latin typeface="Calibri"/>
              </a:rPr>
              <a:t>You control the exact model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83864"/>
            <a:ext cx="5120640" cy="77724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62102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The provider controls versioning and uptime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Analogy: local model vs. hosted API = self-hosted vs. managed SaaS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The exact trade-off behind self-hosting Elasticsearch vs. a managed search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10058400" cy="13716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B2B"/>
                </a:solidFill>
                <a:latin typeface="Calibri"/>
              </a:rPr>
              <a:t>Running sentence-transformers locally is like self-hosting your own Elasticsearch cluster: free, private, no network call, but you own the compute and the model version.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10058400" cy="1371600"/>
          </a:xfrm>
          <a:prstGeom prst="rect">
            <a:avLst/>
          </a:prstGeom>
          <a:solidFill>
            <a:srgbClr val="0E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9509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A hosted embedding API is the managed-SaaS trade: pay per call, zero ops, but a network dependency and a per-token bill -- same as choosing a managed database over running your own.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Today's Analogy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Every future lecture in this track reuses these exact comparisons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895A7"/>
                </a:solidFill>
                <a:latin typeface="Calibri"/>
              </a:rPr>
              <a:t>AI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A33D"/>
                </a:solidFill>
                <a:latin typeface="Calibri"/>
              </a:rPr>
              <a:t>DEVOPS ANALOGY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916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Opposite of a checksum/hash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774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14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Vector database (Chroma)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514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Prometheus for metrics / Elasticsearch for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63240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In-memory vs. persistent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Container filesystem vs. mounted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749039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8861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Cosine similarity / NN 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861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Anomaly detection against a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39"/>
            <a:ext cx="10058400" cy="594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45719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Local model vs. hosted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57199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Self-hosted vs. managed SaaS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257799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5A7"/>
                </a:solidFill>
                <a:latin typeface="Calibri"/>
              </a:rPr>
              <a:t>Full detail lives in ANALOGY_GLOSSARY.md at the repo root -- Lecture 1's five rows are still there too.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3 DEMOS  |  SENTENCE-TRANSFORMERS + CHROMA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From Theory to Terminal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9842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demo_1_embeddings_basics.py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3500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Embeddings vs. hashing, and cosine similarity on real sentence pairs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3375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3558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demo_2_chroma_persistence.py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37216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In-memory vs. persistent Chroma -- proven by restarting the script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709160"/>
            <a:ext cx="548640" cy="548640"/>
          </a:xfrm>
          <a:prstGeom prst="ellipse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4727448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mbria"/>
              </a:rPr>
              <a:t>demo_3_semantic_search.py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5093208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ADCFC"/>
                </a:solidFill>
                <a:latin typeface="Calibri"/>
              </a:rPr>
              <a:t>50-document knowledge base: semantic search beats keyword search, plus a Groq RAG preview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B2B"/>
                </a:solidFill>
                <a:latin typeface="Cambria"/>
              </a:rPr>
              <a:t>Common mistakes DevOps engineers make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895A7"/>
                </a:solidFill>
                <a:latin typeface="Calibri"/>
              </a:rPr>
              <a:t>Read this before you touch the demos -- it will save you an hour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895A7"/>
                </a:solidFill>
                <a:latin typeface="Calibri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91640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7830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Assuming a vector database is “just a table with an array column”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031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It's optimized for one access pattern -- K-nearest-neighbour -- that's the entire value it adds.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679192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770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Comparing raw embedding vectors with ==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0906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Two embeddings of the same-meaning sentence are almost never bit-identical. Compare with cosine similarity, not equality.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666744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758183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Forgetting in-memory data is gone on restart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782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Same as forgetting to mount a volume. Use PersistentClient whenever data must outlive one run.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654296"/>
            <a:ext cx="10058400" cy="8686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45736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B2B"/>
                </a:solidFill>
                <a:latin typeface="Calibri"/>
              </a:rPr>
              <a:t>Treating a similarity score as pass/fail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0657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5A7"/>
                </a:solidFill>
                <a:latin typeface="Calibri"/>
              </a:rPr>
              <a:t>It's a ranking signal, not a binary verdict -- always look at the top-K results, not just one score in isolation.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A33D"/>
                </a:solidFill>
                <a:latin typeface="Calibri"/>
              </a:rPr>
              <a:t>SUMMARY &amp;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9144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mbria"/>
              </a:rPr>
              <a:t>What you can now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8A33D"/>
                </a:solidFill>
                <a:latin typeface="Calibri"/>
              </a:rPr>
              <a:t>- Turn any piece of text into an embedding, and explain why it's the opposite of a hash</a:t>
            </a:r>
          </a:p>
          <a:p>
            <a:r>
              <a:rPr sz="1500" b="0">
                <a:solidFill>
                  <a:srgbClr val="E8A33D"/>
                </a:solidFill>
                <a:latin typeface="Calibri"/>
              </a:rPr>
              <a:t>- Compare two embeddings with cosine similarity, and know why it measures direction, not size</a:t>
            </a:r>
          </a:p>
          <a:p>
            <a:r>
              <a:rPr sz="1500" b="0">
                <a:solidFill>
                  <a:srgbClr val="E8A33D"/>
                </a:solidFill>
                <a:latin typeface="Calibri"/>
              </a:rPr>
              <a:t>- Store and query embeddings in Chroma, in both in-memory and persistent mode</a:t>
            </a:r>
          </a:p>
          <a:p>
            <a:r>
              <a:rPr sz="1500" b="0">
                <a:solidFill>
                  <a:srgbClr val="E8A33D"/>
                </a:solidFill>
                <a:latin typeface="Calibri"/>
              </a:rPr>
              <a:t>- Explain why a vector database exists instead of storing arrays in a normal table</a:t>
            </a:r>
          </a:p>
          <a:p>
            <a:r>
              <a:rPr sz="1500" b="0">
                <a:solidFill>
                  <a:srgbClr val="E8A33D"/>
                </a:solidFill>
                <a:latin typeface="Calibri"/>
              </a:rPr>
              <a:t>- Weigh local sentence-transformers against a hosted embedding API on cost and control</a:t>
            </a:r>
          </a:p>
          <a:p>
            <a:r>
              <a:rPr sz="1500" b="0">
                <a:solidFill>
                  <a:srgbClr val="E8A33D"/>
                </a:solidFill>
                <a:latin typeface="Calibri"/>
              </a:rPr>
              <a:t>- Built a 50-document semantic search engine that beats keyword search on paraphrased queries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029200"/>
            <a:ext cx="10058400" cy="1051560"/>
          </a:xfrm>
          <a:prstGeom prst="rect">
            <a:avLst/>
          </a:prstGeom>
          <a:solidFill>
            <a:srgbClr val="121F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5193792"/>
            <a:ext cx="9509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8A33D"/>
                </a:solidFill>
                <a:latin typeface="Calibri"/>
              </a:rPr>
              <a:t>Next lecture: RAG from scratch -- wiring retrieval and an LLM call into one pipeline that answers questions using only your own documents.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8585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CADCFC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