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AGENTIC AI FOR DEVOPS ENGINEERS  |  PHASE 1  |  LECTURE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LangChain + Full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ADCFC"/>
                </a:solidFill>
                <a:latin typeface="Cambria"/>
              </a:rPr>
              <a:t>LCEL pipes, loaders, splitters, and an end-to-end RAG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95-110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DURATION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38404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429768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TRACK (DevOps Edition)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38404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 of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429768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LECTURE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8404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First LangChain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429768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FRAMEWORK STARTS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Learn every RAG step with LangChain — later lectures will not re-teach this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Before you code — packages &amp; 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Install once from lecture4/, then keep GROQ_API_KEY ready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972800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81912"/>
            <a:ext cx="10561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From the lecture4/ folder:  pip install -r requirements.txt   |   Put GROQ_API_KEY in demos/.env  (Demos 1, 2, 4 need it. Demo 3 does not.)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langchain — Runnables, the | pipe, prompts, and parsers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langchain-groq — ChatGroq (chat model Runnable; replaces raw Groq SDK client)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langchain-text-splitters — Character and Recursive splitters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langchain-chroma + langchain-huggingface — Chroma + local MiniLM embeddings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langchain-community + pypdf — document loaders (including PDF)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Keep lecture3/devops_runbook.pdf nearby — Demos 3 and 4 look for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Today's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Same RAG loop as Lecture 3 — today every step gets a LangChain name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41732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2704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173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1B2B"/>
                </a:solidFill>
                <a:latin typeface="Cambria"/>
              </a:rPr>
              <a:t>Why LangChain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7373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Same API calls you know — less boilerplate, reusable pieces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19456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0428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1B2B"/>
                </a:solidFill>
                <a:latin typeface="Cambria"/>
              </a:rPr>
              <a:t>LCEL pipe + invoke / batch /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146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Demos 1 and 2 — the Runnable interface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97180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8152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71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1B2B"/>
                </a:solidFill>
                <a:latin typeface="Cambria"/>
              </a:rPr>
              <a:t>Loaders and splitters survey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918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Document + main kinds (Demo 3, no API key)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74904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5876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490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1B2B"/>
                </a:solidFill>
                <a:latin typeface="Cambria"/>
              </a:rPr>
              <a:t>Full RAG with LangChain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69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One slide per step, then Demo 4 end-to-end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52628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3600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526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1B2B"/>
                </a:solidFill>
                <a:latin typeface="Cambria"/>
              </a:rPr>
              <a:t>Four hands-on demos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8463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Basics → batch/stream → survey → e2e RAG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Why LangChain — and why only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You already built the pieces by hand. Today you get reusable wiring.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You could not have appreciated LangChain on day one — you had nothing to compare it to. Lectures 1–3 taught the raw loop. Lecture 4 maps each hand-written piece to a LangChain name.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5486400" cy="384048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221992"/>
            <a:ext cx="530352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YOU ALREADY WROTE (L1–L3)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2148840"/>
            <a:ext cx="5486400" cy="384048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8" y="2221992"/>
            <a:ext cx="530352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LANGCHAIN 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32888"/>
            <a:ext cx="5486400" cy="43891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532888"/>
            <a:ext cx="54864" cy="438912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06040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messages list + f-string prompt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532888"/>
            <a:ext cx="5486400" cy="43891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2606040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ChatPromptTemplate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71800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54864" cy="438912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044952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client.chat.completions.create(...)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971800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3044952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ChatGroq (a Runnable)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410712"/>
            <a:ext cx="5486400" cy="43891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410712"/>
            <a:ext cx="54864" cy="438912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483864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format → call → unpack by hand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410712"/>
            <a:ext cx="5486400" cy="43891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4496" y="3483864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prompt | llm | parser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849624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849624"/>
            <a:ext cx="54864" cy="438912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922776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for-loop of N SDK calls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849624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3922776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.batch()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288536"/>
            <a:ext cx="5486400" cy="43891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288536"/>
            <a:ext cx="54864" cy="438912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361688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wait for full answer, then print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4288536"/>
            <a:ext cx="5486400" cy="43891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4361688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.stream()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727448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4727448"/>
            <a:ext cx="54864" cy="438912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4800600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hand PDF load / chunk / retrieve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727448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54496" y="4800600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loaders, splitters, retriever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What stays the same (important honesty)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LangChain is glue and naming — not a new kind of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3566160" cy="393192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mbria"/>
              </a:rPr>
              <a:t>Still your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Same Groq chat model family. ChatGroq is a wrapper that speaks LangChain's Runnable interface.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19" y="1508760"/>
            <a:ext cx="3566160" cy="393192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19" y="178308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mbria"/>
              </a:rPr>
              <a:t>Still embeddings + Chroma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19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You still embed chunks and store vectors. LangChain shortens the glue; it does not remove the vector store.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508760"/>
            <a:ext cx="3566160" cy="393192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178308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mbria"/>
              </a:rPr>
              <a:t>Still the RAG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Load → Split → Embed/Store → Retrieve → Prompt → Answer. Lecture 3 taught the idea; today we rename every box.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LCEL basics — the pipe operator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LCEL = LangChain Expression Language. Fancy name for one idea: compose with |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972800" cy="10058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81912"/>
            <a:ext cx="10561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WHAT: Small pieces connected with | so the output of one feeds the next.
WHY: Stops you from rewriting format → call → unpack glue forever.
HOW: Every piece shares .invoke() (a Runnable), so the pipe can connect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Unix shell (DevOps analogy)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63240"/>
            <a:ext cx="5303520" cy="21945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264408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grep "ERROR" app.log \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| awk '{print $1}' \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| sort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small tools, shared interface,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output of one → input of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651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LangChain LCEL (same idea)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063240"/>
            <a:ext cx="5303520" cy="21945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3264408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chain = prompt | llm | parser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answer = chain.invoke({"question": "..."})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prompt → llm → parser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one .invoke(), plain string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LCEL tiny example (Demo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Read this slowly — this is the whole pattern for the rest of the course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72800" cy="320040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618488"/>
            <a:ext cx="105156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from langchain_core.prompts import ChatPromptTemplate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from langchain_core.output_parsers import StrOutputParser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prompt = ChatPromptTemplate.from_template("Answer in one sentence: {question}")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parser = StrOutputParser()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chain  = prompt | llm | parser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answer = chain.invoke({"question": "What is a load balancer?"})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→ plain Python string. No .choices[0].message.content unpacking.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00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Prompt fills {question} and builds chat messages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ChatGroq (llm) calls the model for you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StrOutputParser turns the model message into a plain string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Runnable = shared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Anything with .invoke() (and usually .batch() / .stream()) can sit in a pipe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Think of Runnable as a contract: same methods on every piece. That shared contract is why | works.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566160" cy="33832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ChatPromptTemplate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5468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Fills {variables}
Outputs chat messages
Ready for the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19" y="2011680"/>
            <a:ext cx="3566160" cy="33832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19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060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ChatGroq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19" y="315468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Calls Groq for you
No SDK unpacking
Returns a message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011680"/>
            <a:ext cx="3566160" cy="33832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6060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StrOutputParser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315468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Message → plain
Python string
Ready to print or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Three ways to run one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Demo 2: same chain object — three call styles. The chain definition does not change.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3566160" cy="41148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8A33D"/>
                </a:solidFill>
                <a:latin typeface="Cambria"/>
              </a:rPr>
              <a:t>.invoke()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One input.
Wait for the full result.
One output.
Like one sync REST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19" y="1508760"/>
            <a:ext cx="3566160" cy="41148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39" y="1783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8A33D"/>
                </a:solidFill>
                <a:latin typeface="Cambria"/>
              </a:rPr>
              <a:t>.batch()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39" y="246888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Many inputs.
Run them together.
List of outputs.
Like a small batch job.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508760"/>
            <a:ext cx="3566160" cy="41148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9" y="1783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8A33D"/>
                </a:solidFill>
                <a:latin typeface="Cambria"/>
              </a:rPr>
              <a:t>.stream()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9" y="246888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One input.
Pieces arrive live.
You see the start early.
Like tail -f on a 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invoke vs batch vs stream — when to use which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Teaching checkpoint: same chain. Three ways to run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2194560" cy="41148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640" y="1463040"/>
            <a:ext cx="4389120" cy="41148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44368" y="153619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1463040"/>
            <a:ext cx="4389120" cy="41148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33488" y="153619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WHEN YOU WANT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2194560" cy="6400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74520"/>
            <a:ext cx="54864" cy="64008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947672"/>
            <a:ext cx="1993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.invoke()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874520"/>
            <a:ext cx="4389120" cy="6400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947672"/>
            <a:ext cx="4187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One call, wait for full answer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1874520"/>
            <a:ext cx="4389120" cy="6400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1776" y="1947672"/>
            <a:ext cx="4187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Scripts, checks, one-off questions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14600"/>
            <a:ext cx="219456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514600"/>
            <a:ext cx="54864" cy="64008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587752"/>
            <a:ext cx="1993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.batch()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514600"/>
            <a:ext cx="43891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62656" y="2587752"/>
            <a:ext cx="4187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Many inputs → list of answers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23760" y="2514600"/>
            <a:ext cx="43891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51776" y="2587752"/>
            <a:ext cx="4187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N similar questions (faster than a loop)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154680"/>
            <a:ext cx="2194560" cy="6400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154680"/>
            <a:ext cx="54864" cy="64008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227832"/>
            <a:ext cx="1993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.stream()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40" y="3154680"/>
            <a:ext cx="4389120" cy="6400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62656" y="3227832"/>
            <a:ext cx="4187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Tokens as they arrive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154680"/>
            <a:ext cx="4389120" cy="6400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227832"/>
            <a:ext cx="4187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UIs / dashboards that show live text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114800"/>
            <a:ext cx="10972800" cy="1645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279392"/>
            <a:ext cx="10561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Demo 2 timing takeaway: three .invoke() calls in a loop add up. .batch() on the same three is often closer to the slowest call than to the sum. .stream() shows the first token before the answer is finished — useful later for ops dashboards.
Run:  python demos/demo_2_batch_stream_async.py   (filename still says async; live file covers invoke/batch/stream only.)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libri"/>
              </a:rPr>
              <a:t>THEORY  |  RAG WITH LANGCHAIN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Every RAG step, LangChain-style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Survey the options (Document, loaders, splitters), then wire one end-to-end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The full RAG loop (LangChain names)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Same loop as Lecture 3 — each box becomes a LangChain component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459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1. 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Loader →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75688" y="16459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67128" y="19659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2. 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7128" y="269748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Text splitter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39896" y="16459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31336" y="19659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3. Embed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1336" y="269748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Embeddings + Chroma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04104" y="16459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95544" y="19659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4. Retrieve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95544" y="269748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as_retriever(k=3)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8312" y="16459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9752" y="19659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5.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269748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ChatPromptTemplate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6459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9659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6.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69748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ChatGroq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96728" y="1645920"/>
            <a:ext cx="1554480" cy="237744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88168" y="19659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7. 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88168" y="269748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LCEL | wire-up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95A7"/>
                </a:solidFill>
                <a:latin typeface="Calibri"/>
              </a:rPr>
              <a:t>→  We survey loaders &amp; splitters first (Demo 3), then run the whole loop (Demo 4).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846320"/>
            <a:ext cx="10972800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010912"/>
            <a:ext cx="10561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Memory aid: if you can name these seven boxes, you can debug RAG. Wrong answers usually mean a weak step earlier (often retrieve or split) — not a "broken LLM."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What is a Document?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LangChain's unit of text — everything loaders and splitters return is a list of 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Before loaders, learn Document. Analogy: a log line plus its tags. The line is the content. The tags say which file or host it came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8A33D"/>
                </a:solidFill>
                <a:latin typeface="Cambria"/>
              </a:rPr>
              <a:t>page_content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The actual text string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This is what gets embedded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This is what gets pasted into prompts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If content is wrong, retrieval fails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4688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8A33D"/>
                </a:solidFill>
                <a:latin typeface="Cambria"/>
              </a:rPr>
              <a:t>metadata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01752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A small dictionary of facts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source file, page number, tags…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Useful for citations and filters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Does not replace page_content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Document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Demo 3 Part 1 builds one Document by hand so both fields are visible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72800" cy="301752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618488"/>
            <a:ext cx="105156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from langchain_core.documents import Document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doc = Document(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page_content="If a pod shows OOMKilled, raise the memory limit.",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metadata={"source": "manual", "topic": "k8s"},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page_content: 'If a pod shows OOMKilled...'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metadata:     {'source': 'manual', 'topic': 'k8s'}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634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Loaders return list[Document] (often one Document per PDF page)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Splitters also return list[Document] — just smaller pieces of the same idea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Later, the retriever returns Documents again — the top-k hits for your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Loaders — what they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A loader turns a file or URL into Documents. Pick the tool that matches the format.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972800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09728" cy="109728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45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A loader reads bytes/text from a source and returns a list of Document objects.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109728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109728" cy="109728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80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88036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You should not hand-parse every file type. Match the loader to the format so text stays clean.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31920"/>
            <a:ext cx="10972800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109728" cy="109728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114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HOW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11480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Call .load() (or similar). Check page_content and metadata before you split or embed.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Loaders — main kinds (beginners)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We cover Text + PDF thoroughly. We name the rest so you know they exist.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3200400" cy="384048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490472"/>
            <a:ext cx="301752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LOADER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703320" y="1417320"/>
            <a:ext cx="4754880" cy="384048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1490472"/>
            <a:ext cx="457200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USE WHEN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3200400" cy="384048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490472"/>
            <a:ext cx="301752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TODAY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01368"/>
            <a:ext cx="3200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0136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8745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TextLoader / Document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03320" y="1801368"/>
            <a:ext cx="475488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1336" y="1874520"/>
            <a:ext cx="4553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.txt or a string you already have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1801368"/>
            <a:ext cx="3200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18745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Run in Demo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04288"/>
            <a:ext cx="3200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30428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" y="237744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PyPDFLoader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2304288"/>
            <a:ext cx="47548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31336" y="2377440"/>
            <a:ext cx="4553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PDF runbooks / manuals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200" y="2304288"/>
            <a:ext cx="3200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6" y="237744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Run in Demo 3 + 4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07208"/>
            <a:ext cx="3200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80720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288036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CSVLoader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2807208"/>
            <a:ext cx="475488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6" y="2880360"/>
            <a:ext cx="4553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Tables / CSV exports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2807208"/>
            <a:ext cx="3200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86216" y="288036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Mention only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310128"/>
            <a:ext cx="3200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31012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38328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Web / URL loaders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03320" y="3310128"/>
            <a:ext cx="47548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31336" y="3383280"/>
            <a:ext cx="4553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A public web page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8200" y="3310128"/>
            <a:ext cx="3200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86216" y="338328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Mention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813048"/>
            <a:ext cx="3200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381304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" y="388620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JSONLoader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03320" y="3813048"/>
            <a:ext cx="475488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31336" y="3886200"/>
            <a:ext cx="4553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JSON configs / dumps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3813048"/>
            <a:ext cx="3200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86216" y="388620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Mention only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315968"/>
            <a:ext cx="3200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31596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" y="43891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DirectoryLoader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03320" y="4315968"/>
            <a:ext cx="47548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31336" y="4389120"/>
            <a:ext cx="4553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A whole folder of files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8200" y="4315968"/>
            <a:ext cx="3200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86216" y="43891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Mention only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5029200"/>
            <a:ext cx="10972800" cy="10058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5193792"/>
            <a:ext cx="10561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Beginner rule: pick the loader that matches the file type. Wrong loader = broken text. Do not try every loader on day one — learn Text + PDF well, then expand.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Splitters — why cut at 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A splitter (chunker) cuts long Documents into smaller searchable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Whole PDF pages are often too big and too mixed for clean retrieval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Same reason Lecture 3 chunked the runbook — search needs focused pieces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Bad cuts hurt meaning: Character with separator="" can slice mid-word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Recursive prefers paragraph → line → space boundaries (keeps meaning together)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chunk_overlap shares a little text between neighbors so boundary sentences survive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10972800" cy="1645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370832"/>
            <a:ext cx="10561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DevOps analogy: how you cut a long log before searching it. Cut every N characters blindly, and you split words and lose context. Cut at natural boundaries (blank lines, lines, spaces), and search stays useful.
Demo 3 shows the same short paragraph through Character and Recursive — look at the printed cuts.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Splitters — main kinds (beginners)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Everyday default: RecursiveCharacterTextSplitter (Demo 4 uses it)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3840480" cy="41148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4904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SPLITTER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417320"/>
            <a:ext cx="4114800" cy="41148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3128" y="149047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IDEA</a:t>
            </a:r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3200400" cy="41148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490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WHEN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384048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28800"/>
            <a:ext cx="54864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901952"/>
            <a:ext cx="36393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CharacterTextSplitter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828800"/>
            <a:ext cx="411480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1416" y="1901952"/>
            <a:ext cx="39136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Cut every N chars on a separator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1828800"/>
            <a:ext cx="320040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1901952"/>
            <a:ext cx="29992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Tiny experiments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06040"/>
            <a:ext cx="38404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606040"/>
            <a:ext cx="54864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" y="2679192"/>
            <a:ext cx="36393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2606040"/>
            <a:ext cx="4114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2679192"/>
            <a:ext cx="39136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Prefer paragraph / line / space cuts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200" y="2606040"/>
            <a:ext cx="32004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6" y="2679192"/>
            <a:ext cx="29992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Default for RAG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83280"/>
            <a:ext cx="384048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383280"/>
            <a:ext cx="54864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3456432"/>
            <a:ext cx="36393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Token-based splitters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383280"/>
            <a:ext cx="411480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3456432"/>
            <a:ext cx="39136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Same idea, counted in tokens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3383280"/>
            <a:ext cx="320040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86216" y="3456432"/>
            <a:ext cx="29992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When token limits matter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297680"/>
            <a:ext cx="10972800" cy="15544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462272"/>
            <a:ext cx="10561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Token-based splitters: mention once. Same mental model, different unit of length. We do not run them today.
Teaching checkpoint: Which splitter will Demo 4 use? → RecursiveCharacterTextSplitter.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Character vs Recursive — look at the cuts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Same short paragraph, chunk_size ≈ 70. Demo 3 prints this live.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Input idea: "OOMKilled means..." then a blank line, then "Check the exit code..."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CharacterTextSplitter (separator='')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Cuts every N characters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Can slice mid-word: "memo|ry"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Fine for tiny experiments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Risky as your everyday RAG default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74519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RecursiveCharacterTextSplitter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5603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Tries paragraph → line → space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Keeps words and sentences together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Everyday default for RAG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Demo 4 uses this splitter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72800" cy="822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2392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If retrieval feels "random," inspect your chunks first. Mid-word cuts and mixed topics in one chunk are common causes.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RAG step 1 — 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Turn a file into a list of Document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WHAT: Read the source (PDF, text, …) into Documents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WHY: Everything later (split, embed, retrieve) expects Documents — not raw bytes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HOW: Match the loader to the file type, then call .load()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CHECK: Print len(docs), a page_content preview, and metadata keys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TODAY: Demo 4 uses PyPDFLoader on devops_runbook.pdf (usually one Document per page)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657600"/>
            <a:ext cx="10972800" cy="21945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3858768"/>
            <a:ext cx="10515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from langchain_community.document_loaders import PyPDFLoader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docs = PyPDFLoader("devops_runbook.pdf").load()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docs is a list[Document] — usually one Document per PDF page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metadata often includes 'source' and 'page'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RAG step 2 —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Cut long Documents into searchable chunks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WHAT: Produce smaller Documents that still keep meaning together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WHY: Mixed whole pages retrieve poorly; focused chunks retrieve better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HOW: RecursiveCharacterTextSplitter(chunk_size=500, chunk_overlap=50)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OVERLAP: Neighboring chunks share a little text so boundary sentences are less broken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DEFAULT: Prefer Recursive over blind Character cuts for real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520440"/>
            <a:ext cx="10972800" cy="233172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3721608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from langchain_text_splitters import RecursiveCharacterTextSplitter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splitter = RecursiveCharacterTextSplitter(chunk_size=500, chunk_overlap=50)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chunks = splitter.split_documents(docs)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chunks is still list[Document] — just smaller pieces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RAG step 3 — Embed + 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Turn chunks into vectors and save them in Chroma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WHAT: Embed each chunk, then store vectors + text in a vector store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WHY: Later retrieval finds chunks by meaning, not exact keyword match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HOW: HuggingFaceEmbeddings (local MiniLM) + Chroma.from_documents(...)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HONESTY: LangChain does not remove the vector store — it shortens the glue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FIRST RUN: MiniLM may download ~80 MB once, then caches locally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657600"/>
            <a:ext cx="10972800" cy="21945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3858768"/>
            <a:ext cx="10515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CADCFC"/>
                </a:solidFill>
                <a:latin typeface="Courier New"/>
              </a:rPr>
              <a:t>embeddings = HuggingFaceEmbeddings(model_name="...all-MiniLM-L6-v2")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CADCFC"/>
                </a:solidFill>
                <a:latin typeface="Courier New"/>
              </a:rPr>
              <a:t>vectorstore = Chroma.from_documents(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CADCFC"/>
                </a:solidFill>
                <a:latin typeface="Courier New"/>
              </a:rPr>
              <a:t>    documents=chunks, embedding=embeddings,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CADCFC"/>
                </a:solidFill>
                <a:latin typeface="Courier New"/>
              </a:rPr>
              <a:t>    persist_directory="chroma_store_l4_e2e",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CADCFC"/>
                </a:solidFill>
                <a:latin typeface="Courier New"/>
              </a:rPr>
              <a:t>    collection_name="runbook_rag_l4_langchain",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CADCFC"/>
                </a:solidFill>
                <a:latin typeface="Courier New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RAG step 4 — Retrieve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Ask the vector store for the top-k chunks by meaning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WHAT: A retriever is a Runnable that takes a question string and returns Documents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WHY: You need the right context before the LLM writes an answer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HOW: vectorstore.as_retriever(search_kwargs={"k": 3}) — top 3 by meaning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ANALOGY: grep-by-meaning that returns the top hits (shaped to plug into an LCEL pipe)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DEBUG TIP: Always peek at retrieved chunks before blaming the LLM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840480"/>
            <a:ext cx="10972800" cy="201168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4041648"/>
            <a:ext cx="10515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retriever = vectorstore.as_retriever(search_kwargs={"k": 3})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Later in the chain: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  {"context": retriever | format_docs, "question": RunnablePassthrough()}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RAG step 5 —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Stuff retrieved context into a template with {context} and {question}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WHAT: A ChatPromptTemplate that fills {context} and {question}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WHY: The model should answer from retrieved text — not invent runbook policy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RULES: Answer from context, cite [n], say so if the answer is missing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SAME AS L3: Grounded answers beat confident guesses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474720"/>
            <a:ext cx="10972800" cy="237744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3675888"/>
            <a:ext cx="10515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prompt = ChatPromptTemplate.from_template(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"Answer using ONLY the numbered context. Cite [n].\n\n"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"Context:\n{context}\n\nQuestion: {question}"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RAG step 6 —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ChatGroq is a Runnable — no raw SDK unpacking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WHAT: ChatGroq calls Groq using LangChain's Runnable interface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WHY: Same model family as Lectures 1–3 — only the client object changed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HOW: get_llm() in demos/_client.py returns ChatGroq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PARSER: StrOutputParser() turns the model message into a plain Python string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•  RESULT: You print or return a string — not a nested SDK response object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840480"/>
            <a:ext cx="10972800" cy="201168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4041648"/>
            <a:ext cx="10515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from _client import get_llm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llm = get_llm()                 # ChatGroq Runnable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parser = StrOutputParser()      # AIMessage → 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RAG step 7 — Chain (LCEL wire-up)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One pipe runs retrieve → prompt → LLM → string — this is the money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2651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72768"/>
            <a:ext cx="105156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rag_chain = (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{"context": retriever | format_docs,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 "question": RunnablePassthrough()}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| prompt | llm | StrOutputParser()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answer = rag_chain.invoke("What is OOMKilled?")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605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The dict builds inputs in parallel: context from retrieval, question from the raw string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RunnablePassthrough() forwards the question string into {question}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format_docs numbers retrieved chunks as [1], [2], [3] for citations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Then the familiar pipe: prompt | llm | StrOutputParser()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One .invoke(question) runs the whole retrieve → answer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What happens on one .invoke(question)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Read this sequence slowly — this is the money walkthrough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2704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417320"/>
            <a:ext cx="9875520" cy="640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155448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B2B"/>
                </a:solidFill>
                <a:latin typeface="Calibri"/>
              </a:rPr>
              <a:t>Retriever finds the top-k chunks for the question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19456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0428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194560"/>
            <a:ext cx="9875520" cy="640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233172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B2B"/>
                </a:solidFill>
                <a:latin typeface="Calibri"/>
              </a:rPr>
              <a:t>format_docs numbers them as [1], [2], [3]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97180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8152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2971800"/>
            <a:ext cx="9875520" cy="640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310896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B2B"/>
                </a:solidFill>
                <a:latin typeface="Calibri"/>
              </a:rPr>
              <a:t>Prompt fills {context} and {question}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74904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85876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3749040"/>
            <a:ext cx="9875520" cy="640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37360" y="388620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B2B"/>
                </a:solidFill>
                <a:latin typeface="Calibri"/>
              </a:rPr>
              <a:t>ChatGroq generates an answer from that prompt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52628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63600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63040" y="4526280"/>
            <a:ext cx="9875520" cy="640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466344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B2B"/>
                </a:solidFill>
                <a:latin typeface="Calibri"/>
              </a:rPr>
              <a:t>Parser returns a plain Python string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End-to-end picture — how the steps 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One question flows left to right through LangChain components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645920"/>
            <a:ext cx="1554480" cy="22860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PDF →
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468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1645920"/>
            <a:ext cx="1554480" cy="22860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1874519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Split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7432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68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0" y="1645920"/>
            <a:ext cx="1554480" cy="22860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874519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Embed
+Store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432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Chroma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468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1645920"/>
            <a:ext cx="1554480" cy="22860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32120" y="1874519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Retrieve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27432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top-k
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468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1645920"/>
            <a:ext cx="1554480" cy="22860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1874519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Prompt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7432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context +
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468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1645920"/>
            <a:ext cx="1554480" cy="22860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1874519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7432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ChatGroq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2468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15600" y="1645920"/>
            <a:ext cx="1554480" cy="22860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1874519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Answer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27432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plain
string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297680"/>
            <a:ext cx="10972800" cy="1645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462272"/>
            <a:ext cx="10561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Build once (Load → Split → Embed/Store). Ask many times (Retrieve → Prompt → LLM).
Demo 4 prints STEP headers that match this picture. At STEP 7, pause on the 'Retrieved:' lines before the answer — citations should point at real chunks.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Lecture 3 vs Lecture 4 — same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You are not learning a new kind of AI — you are learning cleaner wiring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5486400" cy="384048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530352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LECTURE 3 (BY HAND)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417320"/>
            <a:ext cx="5486400" cy="384048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6208" y="1490472"/>
            <a:ext cx="530352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LECTURE 4 (LANGCHAIN)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01368"/>
            <a:ext cx="5486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0136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7452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PdfReader + extract_text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801368"/>
            <a:ext cx="5486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87452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PyPDFLoader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04288"/>
            <a:ext cx="5486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30428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37744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hand sentence_aware_chunks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304288"/>
            <a:ext cx="5486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237744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807208"/>
            <a:ext cx="5486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280720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288036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raw chromadb + MiniLM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807208"/>
            <a:ext cx="5486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288036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Chroma + HuggingFaceEmbeddings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310128"/>
            <a:ext cx="5486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31012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38328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collection.query(...)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310128"/>
            <a:ext cx="5486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338328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as_retriever(k=3)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813048"/>
            <a:ext cx="5486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81304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388620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f-string + groq SDK unpack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813048"/>
            <a:ext cx="54864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54496" y="388620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prompt | llm | StrOutputParser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315968"/>
            <a:ext cx="5486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31596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38912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hand-written ask() helper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4315968"/>
            <a:ext cx="5486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54496" y="4389120"/>
            <a:ext cx="5285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one LCEL chain.invoke(question)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4 demos — run in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Demos 1, 2, 4 need GROQ_API_KEY. Demo 3 does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2743200" cy="347472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LCEL basics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175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ADCFC"/>
                </a:solidFill>
                <a:latin typeface="Calibri"/>
              </a:rPr>
              <a:t>demo_1_lcel_basics.py
prompt | llm | parser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508760"/>
            <a:ext cx="2743200" cy="347472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invoke / batch /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0175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ADCFC"/>
                </a:solidFill>
                <a:latin typeface="Calibri"/>
              </a:rPr>
              <a:t>demo_2_batch_stream_async.py
Three ways to run one chain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508760"/>
            <a:ext cx="2743200" cy="347472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Loaders + splitters survey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0175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ADCFC"/>
                </a:solidFill>
                <a:latin typeface="Calibri"/>
              </a:rPr>
              <a:t>demo_3_langchain_loaders_splitters.py
Document, Text/PDF, Character vs Recursive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1508760"/>
            <a:ext cx="2743200" cy="347472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End-to-end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30175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ADCFC"/>
                </a:solidFill>
                <a:latin typeface="Calibri"/>
              </a:rPr>
              <a:t>demo_4_rag_langchain_e2e.py
Every step on the runbook 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Run from lecture4/:  python demos/demo_1_lcel_basics.py
Homework if short on time: re-run Demo 3 and Demo 4; explain each STEP printout in your own words.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Today's Analogy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Simple DevOps comparisons — also in the root ANALOGY_GLOSSARY.md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5029200" cy="384048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484632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AI CONCEPT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1417320"/>
            <a:ext cx="5943600" cy="384048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79008" y="1490472"/>
            <a:ext cx="576072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SIMPLE ANALOGY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01368"/>
            <a:ext cx="50292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0136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74520"/>
            <a:ext cx="4828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LCEL | / Runnable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801368"/>
            <a:ext cx="59436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97296" y="1874520"/>
            <a:ext cx="5742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Unix shell pipes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0428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30428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377440"/>
            <a:ext cx="4828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invoke / batch / stream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304288"/>
            <a:ext cx="5943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97296" y="2377440"/>
            <a:ext cx="5742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REST call / batch job / tail -f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807208"/>
            <a:ext cx="50292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280720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2880360"/>
            <a:ext cx="4828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Document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2807208"/>
            <a:ext cx="59436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97296" y="2880360"/>
            <a:ext cx="5742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A log line + its tags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31012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31012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383280"/>
            <a:ext cx="4828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Loader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0" y="3310128"/>
            <a:ext cx="5943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3383280"/>
            <a:ext cx="5742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cat / open the right file type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813048"/>
            <a:ext cx="50292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81304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3886200"/>
            <a:ext cx="4828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Splitter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0" y="3813048"/>
            <a:ext cx="5943600" cy="5029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97296" y="3886200"/>
            <a:ext cx="5742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How you cut a long log before search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31596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315968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389120"/>
            <a:ext cx="4828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Retriever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4315968"/>
            <a:ext cx="5943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97296" y="4389120"/>
            <a:ext cx="5742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grep-by-meaning that returns top hits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Common mistakes beginners make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Four traps — read them before you ship a LangChain RAG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9728" cy="9144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27048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1B2B"/>
                </a:solidFill>
                <a:latin typeface="Cambria"/>
              </a:rPr>
              <a:t>1. Trying every loader on day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Learn Text + PDF well. Name the others. Match loader to file type. Wrong loader = broken 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468880"/>
            <a:ext cx="109728" cy="9144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78608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1B2B"/>
                </a:solidFill>
                <a:latin typeface="Cambria"/>
              </a:rPr>
              <a:t>2. Skipping Recursive for Character forever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Character is fine for tiny demos. Recursive prefers natural boundaries — everyday RAG default.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2044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520440"/>
            <a:ext cx="109728" cy="9144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30168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1B2B"/>
                </a:solidFill>
                <a:latin typeface="Cambria"/>
              </a:rPr>
              <a:t>3. Thinking LangChain removes embeddings/Chroma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7764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LCEL shortens glue code. You still embed, store, and retrieve vectors.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71999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571999"/>
            <a:ext cx="109728" cy="9144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681727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1B2B"/>
                </a:solidFill>
                <a:latin typeface="Cambria"/>
              </a:rPr>
              <a:t>4. Forgetting to check retrieved chunks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29199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Always peek at what the retriever returned before trusting the answer. Debug retrieval first.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SUMMARY &amp;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You can now build RAG with LangChain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554480"/>
            <a:ext cx="9875520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1737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B2B"/>
                </a:solidFill>
                <a:latin typeface="Calibri"/>
              </a:rPr>
              <a:t>Compose chains with | (LCEL) and run them with invoke / batch / stream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71576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514600"/>
            <a:ext cx="9875520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26974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B2B"/>
                </a:solidFill>
                <a:latin typeface="Calibri"/>
              </a:rPr>
              <a:t>Know Document, main loaders, and main splitters (prefer Recursive)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56616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7588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3474720"/>
            <a:ext cx="9875520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3657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B2B"/>
                </a:solidFill>
                <a:latin typeface="Calibri"/>
              </a:rPr>
              <a:t>Wire Load → Split → Embed/Store → Retrieve → Prompt → LLM → Chain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52628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36008"/>
            <a:ext cx="502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8A33D"/>
                </a:solidFill>
                <a:latin typeface="Calibri"/>
              </a:rPr>
              <a:t>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4434840"/>
            <a:ext cx="9875520" cy="77724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37360" y="46177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Next lecture: tools and tool calling on top of this foundation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libri"/>
              </a:rPr>
              <a:t>END OF LECTURE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Cambria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Run all four demos before Lecture 5. Keep the runbook PDF nearby.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