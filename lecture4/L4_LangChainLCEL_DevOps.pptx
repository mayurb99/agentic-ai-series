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AGENTIC AI FOR DEVOPS ENGINEERS  |  PHASE 1  |  LECTURE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LangChain + Full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mbria"/>
              </a:rPr>
              <a:t>LCEL pipes, loaders, splitters, and an end-to-end RAG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95-110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TRACK (DevOps Edition)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4 of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First 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FRAMEWORK STARTS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Learn every RAG step with LangChain — later lectures will not re-teach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Before you code — packages &amp;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Install once from lecture4/, then keep GROQ_API_KEY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10561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From the lecture4/ folder:  pip install -r requirements.txt   |   Put GROQ_API_KEY in demos/.env  (Demos 1, 2, 4 need it. Demo 3 does not.)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langchain — Runnables, the | pipe, prompts, and parsers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langchain-groq — ChatGroq (chat model Runnable; replaces raw Groq SDK client)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langchain-text-splitters — Character and Recursive splitters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langchain-chroma + langchain-huggingface — Chroma + local MiniLM embeddings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langchain-community + pypdf — document loaders (including PDF)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Keep lecture3/devops_runbook.pdf nearby — Demos 3 and 4 look for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RAG loop as Lecture 3 — today every step gets a LangChain name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270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mbria"/>
              </a:rPr>
              <a:t>Why LangChain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API calls you know — less boilerplate, reusable pieces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mbria"/>
              </a:rPr>
              <a:t>LCEL pipe + invoke / batch /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Demos 1 and 2 — the Runnable interface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815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71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mbria"/>
              </a:rPr>
              <a:t>Loaders and splitters survey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918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Document + main kinds (Demo 3, no API key)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49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mbria"/>
              </a:rPr>
              <a:t>Full RAG with LangChain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69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slide per step, then Demo 4 end-to-end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3600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26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mbria"/>
              </a:rPr>
              <a:t>Four hands-on demos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463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Basics → batch/stream → survey → e2e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Why LangChain — and why only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You already built the pieces by hand. Today you get reusable wiring.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You could not have appreciated LangChain on day one — you had nothing to compare it to. Lectures 1–3 taught the raw loop. Lecture 4 maps each hand-written piece to a LangChain name.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5486400" cy="384048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21992"/>
            <a:ext cx="53035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YOU ALREADY WROTE (L1–L3)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148840"/>
            <a:ext cx="5486400" cy="384048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2221992"/>
            <a:ext cx="53035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LANGCHAIN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32888"/>
            <a:ext cx="54864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32888"/>
            <a:ext cx="54864" cy="43891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06040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messages list + f-string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532888"/>
            <a:ext cx="54864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606040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ChatPromptTemplate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54864" cy="43891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044952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client.chat.completions.create(...)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97180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3044952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ChatGroq (a Runnable)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10712"/>
            <a:ext cx="54864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10712"/>
            <a:ext cx="54864" cy="43891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483864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format → call → unpack by hand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410712"/>
            <a:ext cx="54864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3483864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prompt | llm | parser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49624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49624"/>
            <a:ext cx="54864" cy="43891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922776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for-loop of N SDK calls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849624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3922776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.batch()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88536"/>
            <a:ext cx="54864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88536"/>
            <a:ext cx="54864" cy="43891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361688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wait for full answer, then print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288536"/>
            <a:ext cx="5486400" cy="4389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4361688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.stream()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727448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727448"/>
            <a:ext cx="54864" cy="43891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800600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hand PDF load / chunk / retrieve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727448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4800600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loaders, splitters, retriever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What stays the same (important honesty)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LangChain is glue and naming — not a new kind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mbria"/>
              </a:rPr>
              <a:t>Still your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Same Groq chat model family. ChatGroq is a wrapper that speaks LangChain's Runnable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50876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19" y="1783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mbria"/>
              </a:rPr>
              <a:t>Still embeddings + Chroma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19" y="2423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You still embed chunks and store vectors. LangChain shortens the glue; it does not remove the vector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50876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783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mbria"/>
              </a:rPr>
              <a:t>Still the RAG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423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Load → Split → Embed/Store → Retrieve → Prompt → Answer. Lecture 3 taught the idea; today we rename every 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LCEL basics — the pipe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LCEL = LangChain Expression Language. Fancy name for one idea: compose with |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72800" cy="1005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10561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WHAT: Small pieces connected with | so the output of one feeds the next.
WHY: Stops you from rewriting format → call → unpack glue forever.
HOW: Every piece shares .invoke() (a Runnable), so the pipe can connect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Unix shell (DevOps analogy)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5303520" cy="21945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264408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grep "ERROR" app.log \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| awk '{print $1}' \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| sort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small tools, shared interface,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output of one → input of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LangChain LCEL (same idea)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063240"/>
            <a:ext cx="5303520" cy="21945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264408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chain = prompt | llm | parser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answer = chain.invoke({"question": "..."})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prompt → llm → parser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one .invoke(), plain string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LCEL tiny example (Demo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Read this slowly — this is the whole pattern for the rest of the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0" cy="32004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18488"/>
            <a:ext cx="10515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langchain_core.prompts import ChatPromptTemplate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langchain_core.output_parsers import StrOutputParser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prompt = ChatPromptTemplate.from_template("Answer in one sentence: {question}")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parser = StrOutputParser()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chain  = prompt | llm | parser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answer = chain.invoke({"question": "What is a load balancer?"})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→ plain Python string. No .choices[0].message.content unpacking.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00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Prompt fills {question} and builds chat messages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ChatGroq (llm) calls the model for you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StrOutputParser turns the model message into a plain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Runnable = shared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Anything with .invoke() (and usually .batch() / .stream()) can sit in a pipe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Think of Runnable as a contract: same methods on every piece. That shared contract is why | 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ChatPromptTemplate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Fills {variables}
Outputs chat messages
Ready for the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201168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606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ChatGroq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1546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Calls Groq for you
No SDK unpacking
Returns a 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01168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606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StrOutputParser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1546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Message → plain
Python string
Ready to print or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Three ways to run one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2: same chain object — three call styles. The chain definition does not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A33D"/>
                </a:solidFill>
                <a:latin typeface="Cambria"/>
              </a:rPr>
              <a:t>.invoke()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One input.
Wait for the full result.
One output.
Like one sync REST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50876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7830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A33D"/>
                </a:solidFill>
                <a:latin typeface="Cambria"/>
              </a:rPr>
              <a:t>.batch()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24688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Many inputs.
Run them together.
List of outputs.
Like a small batch job.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50876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9" y="17830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A33D"/>
                </a:solidFill>
                <a:latin typeface="Cambria"/>
              </a:rPr>
              <a:t>.stream()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9" y="24688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One input.
Pieces arrive live.
You see the start early.
Like tail -f on a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invoke vs batch vs stream — when to use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Teaching checkpoint: same chain. Three ways to run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4114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463040"/>
            <a:ext cx="4389120" cy="4114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44368" y="15361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WHAT 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463040"/>
            <a:ext cx="4389120" cy="4114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5361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WHEN YOU WANT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74520"/>
            <a:ext cx="219456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74520"/>
            <a:ext cx="54864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47672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.invoke()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874520"/>
            <a:ext cx="438912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1947672"/>
            <a:ext cx="4187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One call, wait for full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874520"/>
            <a:ext cx="438912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6" y="1947672"/>
            <a:ext cx="4187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Scripts, checks, one-off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14600"/>
            <a:ext cx="21945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14600"/>
            <a:ext cx="54864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587752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.batch()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514600"/>
            <a:ext cx="4389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587752"/>
            <a:ext cx="4187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Many inputs → list of answers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514600"/>
            <a:ext cx="4389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6" y="2587752"/>
            <a:ext cx="4187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N similar questions (faster than a loop)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154680"/>
            <a:ext cx="219456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154680"/>
            <a:ext cx="54864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227832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.stream()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154680"/>
            <a:ext cx="438912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2656" y="3227832"/>
            <a:ext cx="4187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Tokens as they arrive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4389120" cy="6400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3227832"/>
            <a:ext cx="4187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UIs / dashboards that show live 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114800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279392"/>
            <a:ext cx="10561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Demo 2 timing takeaway: three .invoke() calls in a loop add up. .batch() on the same three is often closer to the slowest call than to the sum. .stream() shows the first token before the answer is finished — useful later for ops dashboards.
Run:  python demos/demo_2_batch_stream_async.py   (filename still says async; live file covers invoke/batch/stream only.)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THEORY  |  RAG WITH 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Every RAG step, LangChain-style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mbria"/>
              </a:rPr>
              <a:t>Survey the options (Document, loaders, splitters), then wire one end-to-end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The full RAG loop (LangChain names)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loop as Lecture 3 — each box becomes a LangChain component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459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1.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Loader →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16459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7128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2.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697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Text splitter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9896" y="16459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6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3. Embed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6" y="2697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Embeddings + Chroma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4104" y="16459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544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4. 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5544" y="2697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as_retriever(k=3)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16459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5.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2697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ChatPromptTemplate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6459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6.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697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ChatGroq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96728" y="1645920"/>
            <a:ext cx="1554480" cy="23774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88168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7.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88168" y="2697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LCEL | wire-up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895A7"/>
                </a:solidFill>
                <a:latin typeface="Calibri"/>
              </a:rPr>
              <a:t>→  We survey loaders &amp; splitters first (Demo 3), then run the whole loop (Demo 4).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4632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10912"/>
            <a:ext cx="10561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Memory aid: if you can name these seven boxes, you can debug RAG. Wrong answers usually mean a weak step earlier (often retrieve or split) — not a "broken LLM."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What is a Document?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LangChain's unit of text — everything loaders and splitters return is a list of 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Before loaders, learn Document. Analogy: a log line plus its tags. The line is the content. The tags say which file or host it came from.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A33D"/>
                </a:solidFill>
                <a:latin typeface="Cambria"/>
              </a:rPr>
              <a:t>page_content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The actual text string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This is what gets embedded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This is what gets pasted into prompts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If content is wrong, retrieval fails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A33D"/>
                </a:solidFill>
                <a:latin typeface="Cambria"/>
              </a:rPr>
              <a:t>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A small dictionary of facts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source file, page number, tags…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Useful for citations and filters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Does not replace page_content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Document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3 Part 1 builds one Document by hand so both fields are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0" cy="301752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18488"/>
            <a:ext cx="105156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langchain_core.documents import Document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doc = Document(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page_content="If a pod shows OOMKilled, raise the memory limit.",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metadata={"source": "manual", "topic": "k8s"},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page_content: 'If a pod shows OOMKilled...'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metadata:     {'source': 'manual', 'topic': 'k8s'}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Loaders return list[Document] (often one Document per PDF page)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Splitters also return list[Document] — just smaller pieces of the same idea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Later, the retriever returns Documents again — the top-k hits for your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Loaders — what they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 loader turns a file or URL into Documents. Pick the tool that matches the format.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728" cy="10972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45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A loader reads bytes/text from a source and returns a list of Document objects.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109728" cy="10972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880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You should not hand-parse every file type. Match the loader to the format so text stays clean.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109728" cy="10972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114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Call .load() (or similar). Check page_content and metadata before you split or embed.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Loaders — main kinds (beginners)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We cover Text + PDF thoroughly. We name the rest so you know they exist.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3200400" cy="384048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30175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LOADER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3320" y="1417320"/>
            <a:ext cx="4754880" cy="384048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1490472"/>
            <a:ext cx="4572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USE 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3200400" cy="384048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490472"/>
            <a:ext cx="30175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01368"/>
            <a:ext cx="3200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0136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87452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TextLoader / Document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801368"/>
            <a:ext cx="47548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1874520"/>
            <a:ext cx="4553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.txt or a string you already have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801368"/>
            <a:ext cx="3200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187452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Run in Demo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04288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30428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37744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PyPDFLoader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304288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31336" y="2377440"/>
            <a:ext cx="4553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PDF runbooks / manuals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2304288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6" y="237744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Run in Demo 3 + 4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07208"/>
            <a:ext cx="3200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80720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88036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CSVLoader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807208"/>
            <a:ext cx="47548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2880360"/>
            <a:ext cx="4553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Tables / CSV exports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807208"/>
            <a:ext cx="3200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86216" y="288036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Mention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310128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31012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338328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Web / URL loaders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3310128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31336" y="3383280"/>
            <a:ext cx="4553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 public web page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3310128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216" y="338328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Mention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813048"/>
            <a:ext cx="3200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381304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388620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JSONLoader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03320" y="3813048"/>
            <a:ext cx="475488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31336" y="3886200"/>
            <a:ext cx="4553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JSON configs / dumps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3813048"/>
            <a:ext cx="3200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86216" y="388620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Mention only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315968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31596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438912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DirectoryLoader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03320" y="4315968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31336" y="4389120"/>
            <a:ext cx="4553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 whole folder of files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4315968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86216" y="438912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Mention only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029200"/>
            <a:ext cx="10972800" cy="1005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193792"/>
            <a:ext cx="10561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Beginner rule: pick the loader that matches the file type. Wrong loader = broken text. Do not try every loader on day one — learn Text + PDF well, then expand.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Splitters — why cut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 splitter (chunker) cuts long Documents into smaller searchable pieces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Whole PDF pages are often too big and too mixed for clean retrieval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Same reason Lecture 3 chunked the runbook — search needs focused pieces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Bad cuts hurt meaning: Character with separator="" can slice mid-word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Recursive prefers paragraph → line → space boundaries (keeps meaning together)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chunk_overlap shares a little text between neighbors so boundary sentences survive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06240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370832"/>
            <a:ext cx="10561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DevOps analogy: how you cut a long log before searching it. Cut every N characters blindly, and you split words and lose context. Cut at natural boundaries (blank lines, lines, spaces), and search stays useful.
Demo 3 shows the same short paragraph through Character and Recursive — look at the printed cuts.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Splitters — main kinds (beginners)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Everyday default: RecursiveCharacterTextSplitter (Demo 4 uses 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3840480" cy="4114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90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SPLITTER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417320"/>
            <a:ext cx="4114800" cy="4114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8" y="14904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3200400" cy="4114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490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84048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4864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901952"/>
            <a:ext cx="3639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CharacterTextSplitter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41148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901952"/>
            <a:ext cx="3913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Cut every N chars on a separator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828800"/>
            <a:ext cx="32004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1901952"/>
            <a:ext cx="2999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Tiny experiments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06040"/>
            <a:ext cx="3840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606040"/>
            <a:ext cx="54864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679192"/>
            <a:ext cx="3639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RecursiveCharacterTextSplitter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606040"/>
            <a:ext cx="4114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2679192"/>
            <a:ext cx="3913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Prefer paragraph / line / space cuts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260604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6" y="2679192"/>
            <a:ext cx="2999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Default for RAG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83280"/>
            <a:ext cx="384048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383280"/>
            <a:ext cx="54864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3456432"/>
            <a:ext cx="3639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Token-based splitters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383280"/>
            <a:ext cx="41148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456432"/>
            <a:ext cx="39136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Same idea, counted in tokens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3383280"/>
            <a:ext cx="32004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86216" y="3456432"/>
            <a:ext cx="2999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When token limits matter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297680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62272"/>
            <a:ext cx="10561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Token-based splitters: mention once. Same mental model, different unit of length. We do not run them today.
Teaching checkpoint: Which splitter will Demo 4 use? → RecursiveCharacterTextSplitter.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Character vs Recursive — look at the 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short paragraph, chunk_size ≈ 70. Demo 3 prints this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Input idea: "OOMKilled means..." then a blank line, then "Check the exit code..."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CharacterTextSplitter (separator='')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Cuts every N characters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Can slice mid-word: "memo|ry"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Fine for tiny experiments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Risky as your everyday RAG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RecursiveCharacterTextSplitter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603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Tries paragraph → line → space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Keeps words and sentences together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Everyday default for RAG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Demo 4 uses this splitter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2392"/>
            <a:ext cx="10561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If retrieval feels "random," inspect your chunks first. Mid-word cuts and mixed topics in one chunk are common causes.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RAG step 1 —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Turn a file into a list of Document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WHAT: Read the source (PDF, text, …) into Documents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WHY: Everything later (split, embed, retrieve) expects Documents — not raw bytes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HOW: Match the loader to the file type, then call .load()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CHECK: Print len(docs), a page_content preview, and metadata keys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TODAY: Demo 4 uses PyPDFLoader on devops_runbook.pdf (usually one Document per page)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10972800" cy="21945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58768"/>
            <a:ext cx="10515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langchain_community.document_loaders import PyPDFLoader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docs = PyPDFLoader("devops_runbook.pdf").load()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docs is a list[Document] — usually one Document per PDF page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metadata often includes 'source' and 'page'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RAG step 2 —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Cut long Documents into searchable chunks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WHAT: Produce smaller Documents that still keep meaning together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WHY: Mixed whole pages retrieve poorly; focused chunks retrieve better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HOW: RecursiveCharacterTextSplitter(chunk_size=500, chunk_overlap=50)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OVERLAP: Neighboring chunks share a little text so boundary sentences are less broken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DEFAULT: Prefer Recursive over blind Character cuts for real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20440"/>
            <a:ext cx="10972800" cy="233172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721608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langchain_text_splitters import RecursiveCharacterTextSplitter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splitter = RecursiveCharacterTextSplitter(chunk_size=500, chunk_overlap=50)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chunks = splitter.split_documents(docs)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chunks is still list[Document] — just smaller pieces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RAG step 3 — Embed +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Turn chunks into vectors and save them in Chroma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WHAT: Embed each chunk, then store vectors + text in a vector store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WHY: Later retrieval finds chunks by meaning, not exact keyword match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HOW: HuggingFaceEmbeddings (local MiniLM) + Chroma.from_documents(...)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HONESTY: LangChain does not remove the vector store — it shortens the glue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FIRST RUN: MiniLM may download ~80 MB once, then caches locally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0"/>
            <a:ext cx="10972800" cy="21945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58768"/>
            <a:ext cx="10515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embeddings = HuggingFaceEmbeddings(model_name="...all-MiniLM-L6-v2")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vectorstore = Chroma.from_documents(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    documents=chunks, embedding=embeddings,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    persist_directory="chroma_store_l4_e2e",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    collection_name="runbook_rag_l4_langchain",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RAG step 4 — Retrieve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Ask the vector store for the top-k chunks by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WHAT: A retriever is a Runnable that takes a question string and returns Documents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WHY: You need the right context before the LLM writes an answer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HOW: vectorstore.as_retriever(search_kwargs={"k": 3}) — top 3 by meaning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ANALOGY: grep-by-meaning that returns the top hits (shaped to plug into an LCEL pipe)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DEBUG TIP: Always peek at retrieved chunks before blaming the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840480"/>
            <a:ext cx="10972800" cy="2011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041648"/>
            <a:ext cx="10515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retriever = vectorstore.as_retriever(search_kwargs={"k": 3})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Later in the chain: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  {"context": retriever | format_docs, "question": RunnablePassthrough()}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ChatPromptTemplate — reusable prompts with {placeholders}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Write the wording once. Fill {variables} later. Then pipe it: prompt | llm | parser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 reusable prompt template.
You leave holes like {context}
and {question}. .invoke({...})
fills them and builds chat
messages for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37160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1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WHY NOT an f-string?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19" y="20116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An f-string is a one-off
Python string. This object is
a Runnable — same idea every
call, and it fits cleanly in
an LCEL | 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37160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WHERE in RAG?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116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After retrieve, before the
LLM. Retrieved chunks become
{context}; the user question
becomes {question}. Then the
model answers from that 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0520"/>
            <a:ext cx="10972800" cy="19202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61688"/>
            <a:ext cx="10515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prompt = ChatPromptTemplate.from_template(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    "Use this context to answer.\n\nContext:\n{context}\n\nQuestion: {question}"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chain  = prompt | llm | StrOutputParser()   # Demos 1, 2, 4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answer = chain.invoke({"context": "...", "question": "What is OOMKilled?"})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RAG step 5 —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Stuff retrieved context into a template with {context} and {question}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WHAT: A ChatPromptTemplate that fills {context} and {question}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WHY: The model should answer from retrieved text — not invent runbook policy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RULES: Answer from context, cite [n], say so if the answer is missing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SAME AS L3: Grounded answers beat confident guesses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474720"/>
            <a:ext cx="10972800" cy="23774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675888"/>
            <a:ext cx="10515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prompt = ChatPromptTemplate.from_template(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"Answer using ONLY the numbered context. Cite [n].\n\n"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"Context:\n{context}\n\nQuestion: {question}"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RAG step 6 —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ChatGroq is a Runnable — no raw SDK unpacking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WHAT: ChatGroq calls Groq using LangChain's Runnable interface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WHY: Same model family as Lectures 1–3 — only the client object changed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HOW: get_llm() in demos/_client.py returns ChatGroq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PARSER: StrOutputParser() turns the model message into a plain Python string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•  RESULT: You print or return a string — not a nested SDK response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840480"/>
            <a:ext cx="10972800" cy="2011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041648"/>
            <a:ext cx="10515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_client import get_llm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llm = get_llm()                 # ChatGroq Runnable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parser = StrOutputParser()      # AIMessage → str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RAG step 7 — Chain (LCEL wire-up)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pipe runs retrieve → prompt → LLM → string — this is the money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2651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72768"/>
            <a:ext cx="10515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rag_chain = 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{"context": retriever | format_docs,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 "question": RunnablePassthrough()}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| prompt | llm | StrOutputParser()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answer = rag_chain.invoke("What is OOMKilled?")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The dict builds inputs in parallel: context from retrieval, question from the raw string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RunnablePassthrough() forwards the question string into {question}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format_docs numbers retrieved chunks as [1], [2], [3] for citations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Then the familiar pipe: prompt | llm | StrOutputParser()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One .invoke(question) runs the whole retrieve → answer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What happens on one .invoke(question)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Read this sequence slowly — this is the money walkthrough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270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41732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5544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Retriever finds the top-k chunks for the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19456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331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format_docs numbers them as [1], [2], [3]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815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297180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31089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Prompt fills {context} and {question}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587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374904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38862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ChatGroq generates an answer from that prompt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3600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52628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466344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Parser returns a plain Python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End-to-end picture — how the steps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question flows left to right through LangChain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PDF →
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64592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743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164592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Embed
+Store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43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Chroma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164592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743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top-k
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164592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743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context +
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164592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743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ChatGroq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0" y="164592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743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plain
string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297680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62272"/>
            <a:ext cx="10561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Build once (Load → Split → Embed/Store). Ask many times (Retrieve → Prompt → LLM).
Demo 4 prints STEP headers that match this picture. At STEP 7, pause on the 'Retrieved:' lines before the answer — citations should point at real chunks.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Lecture 3 vs Lecture 4 — same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You are not learning a new kind of AI — you are learning cleaner wiring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486400" cy="384048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53035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LECTURE 3 (BY HAND)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17320"/>
            <a:ext cx="5486400" cy="384048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6208" y="1490472"/>
            <a:ext cx="53035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LECTURE 4 (LANGCHAIN)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01368"/>
            <a:ext cx="5486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0136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452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PdfReader + extract_text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01368"/>
            <a:ext cx="5486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87452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PyPDFLoader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04288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30428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37744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hand sentence_aware_chunks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304288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37744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RecursiveCharacterTextSplitter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07208"/>
            <a:ext cx="5486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80720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88036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raw chromadb + MiniLM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807208"/>
            <a:ext cx="5486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288036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Chroma + HuggingFaceEmbeddings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10128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31012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38328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collection.query(...)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310128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338328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as_retriever(k=3)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813048"/>
            <a:ext cx="5486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81304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88620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f-string + groq SDK unpack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813048"/>
            <a:ext cx="54864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88620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prompt | llm | StrOutputParser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315968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31596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38912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hand-written ask() helper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315968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4389120"/>
            <a:ext cx="5285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one LCEL chain.invoke(question)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4 demos — run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Demos 1, 2, 4 need GROQ_API_KEY. Demo 3 does not.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LCEL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demo_1_lcel_basics.py
prompt | llm | parser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invoke / batch /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0175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demo_2_batch_stream_async.py
Three ways to run one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5087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Loaders + splitters survey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0175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demo_3_langchain_loaders_splitters.py
Document, Text/PDF, Character vs Recursive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5087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End-to-end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0175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demo_4_rag_langchain_e2e.py
Every step on the runbook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Run from lecture4/:  python demos/demo_1_lcel_basics.py
Homework if short on time: re-run Demo 3 and Demo 4; explain each STEP printout in your own words.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Today's Analogy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Simple DevOps comparisons — also in the root ANALOGY_GLOSSARY.md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029200" cy="384048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0472"/>
            <a:ext cx="48463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AI 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417320"/>
            <a:ext cx="5943600" cy="384048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79008" y="1490472"/>
            <a:ext cx="57607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SIMPLE ANALOGY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01368"/>
            <a:ext cx="50292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0136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4520"/>
            <a:ext cx="4828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LCEL | / Runnable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801368"/>
            <a:ext cx="59436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1874520"/>
            <a:ext cx="5742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Unix shell pipes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0428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30428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377440"/>
            <a:ext cx="4828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invoke / batch / stream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30428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377440"/>
            <a:ext cx="5742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REST call / batch job / tail -f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07208"/>
            <a:ext cx="50292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80720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880360"/>
            <a:ext cx="4828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Document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807208"/>
            <a:ext cx="59436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296" y="2880360"/>
            <a:ext cx="5742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log line + its tags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1012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31012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383280"/>
            <a:ext cx="4828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Loader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31012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3383280"/>
            <a:ext cx="5742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cat / open the right file 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813048"/>
            <a:ext cx="50292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81304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886200"/>
            <a:ext cx="4828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Splitter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813048"/>
            <a:ext cx="5943600" cy="502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97296" y="3886200"/>
            <a:ext cx="5742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How you cut a long log before 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31596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315968"/>
            <a:ext cx="54864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389120"/>
            <a:ext cx="4828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Retriever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31596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97296" y="4389120"/>
            <a:ext cx="5742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grep-by-meaning that returns top hits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Common mistakes beginners make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Four traps — read them before you ship a LangChain RAG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270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2B"/>
                </a:solidFill>
                <a:latin typeface="Cambria"/>
              </a:rPr>
              <a:t>1. Trying every loader on day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Learn Text + PDF well. Name the others. Match loader to file type. Wrong loader = broken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109728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2B"/>
                </a:solidFill>
                <a:latin typeface="Cambria"/>
              </a:rPr>
              <a:t>2. Skipping Recursive for Character forever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Character is fine for tiny demos. Recursive prefers natural boundaries — everyday RAG default.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109728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3016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2B"/>
                </a:solidFill>
                <a:latin typeface="Cambria"/>
              </a:rPr>
              <a:t>3. Thinking LangChain removes embeddings/Chroma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LCEL shortens glue code. You still embed, store, and retrieve vectors.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1999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571999"/>
            <a:ext cx="109728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7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2B"/>
                </a:solidFill>
                <a:latin typeface="Cambria"/>
              </a:rPr>
              <a:t>4. Forgetting to check retrieved chunks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19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Always peek at what the retriever returned before trusting the answer. Debug retrieval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1B2B"/>
                </a:solidFill>
                <a:latin typeface="Cambria"/>
              </a:rPr>
              <a:t>SUMMARY &amp;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You can now build RAG with LangChain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554480"/>
            <a:ext cx="987552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737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Compose chains with | (LCEL) and run them with invoke / batch / stream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0604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514600"/>
            <a:ext cx="987552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697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Know Document, main loaders, and main splitters (prefer Recursive)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758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474720"/>
            <a:ext cx="987552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E1B2B"/>
                </a:solidFill>
                <a:latin typeface="Calibri"/>
              </a:rPr>
              <a:t>Wire Load → Split → Embed/Store → Retrieve → Prompt → LLM → Chain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3600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4434840"/>
            <a:ext cx="9875520" cy="77724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4617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Next lecture: tools and tool calling on top of this 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END OF LECTURE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mbria"/>
              </a:rPr>
              <a:t>Run all four demos before Lecture 5. Keep the runbook PDF nearby.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