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AGENTIC AI FOR DEVOPS ENGINEERS  |  PHASE 1  |  LECTURE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600" b="1">
                <a:solidFill>
                  <a:srgbClr val="FFFFFF"/>
                </a:solidFill>
                <a:latin typeface="Cambria"/>
              </a:rPr>
              <a:t>LLM </a:t>
            </a:r>
            <a:r>
              <a:rPr sz="5600" b="1">
                <a:solidFill>
                  <a:srgbClr val="E8A33D"/>
                </a:solidFill>
                <a:latin typeface="Cambria"/>
              </a:rPr>
              <a:t>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mbria"/>
              </a:rPr>
              <a:t>Everything you need to know before you touch a single AI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90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alibri"/>
              </a:rPr>
              <a:t>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4251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alibri"/>
              </a:rPr>
              <a:t>TRACK (DevOps Edition)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1 of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251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alibri"/>
              </a:rPr>
              <a:t>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Raw Groq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251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alibri"/>
              </a:rPr>
              <a:t>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No LangChain, no ChromaDB yet -- raw SDK calls only, exactly like curl-ing an API before you reach for a client library.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Six ideas -- each one mapped to something you already run in production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361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What is an LLM, really?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8366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A stateless function, same as a REST endpoint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048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13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6090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What you're actually billed for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8211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906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Context window &amp; 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3814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The hard ceiling, and the randomness knob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593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679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system / user / assistant roles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1538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Config, request, response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365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645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Prompt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9262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Zero-shot, few-shot, chain-of-thought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44068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5138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4223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3 hands-on demos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76986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Raw Groq SDK, no frameworks, live in your terminal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Why DevOps → AI is a natural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You already think in the exact shapes this field runs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058400" cy="914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E1B2B"/>
                </a:solidFill>
                <a:latin typeface="Calibri"/>
              </a:rPr>
              <a:t>You already operate </a:t>
            </a:r>
            <a:r>
              <a:rPr sz="1500" b="1">
                <a:solidFill>
                  <a:srgbClr val="E8A33D"/>
                </a:solidFill>
                <a:latin typeface="Calibri"/>
              </a:rPr>
              <a:t>stateless services</a:t>
            </a:r>
            <a:r>
              <a:rPr sz="1500" b="0">
                <a:solidFill>
                  <a:srgbClr val="0E1B2B"/>
                </a:solidFill>
                <a:latin typeface="Calibri"/>
              </a:rPr>
              <a:t>, </a:t>
            </a:r>
            <a:r>
              <a:rPr sz="1500" b="1">
                <a:solidFill>
                  <a:srgbClr val="E8A33D"/>
                </a:solidFill>
                <a:latin typeface="Calibri"/>
              </a:rPr>
              <a:t>auth via keys</a:t>
            </a:r>
            <a:r>
              <a:rPr sz="1500" b="0">
                <a:solidFill>
                  <a:srgbClr val="0E1B2B"/>
                </a:solidFill>
                <a:latin typeface="Calibri"/>
              </a:rPr>
              <a:t>, </a:t>
            </a:r>
            <a:r>
              <a:rPr sz="1500" b="1">
                <a:solidFill>
                  <a:srgbClr val="E8A33D"/>
                </a:solidFill>
                <a:latin typeface="Calibri"/>
              </a:rPr>
              <a:t>rate limits</a:t>
            </a:r>
            <a:r>
              <a:rPr sz="1500" b="0">
                <a:solidFill>
                  <a:srgbClr val="0E1B2B"/>
                </a:solidFill>
                <a:latin typeface="Calibri"/>
              </a:rPr>
              <a:t>, </a:t>
            </a:r>
            <a:r>
              <a:rPr sz="1500" b="1">
                <a:solidFill>
                  <a:srgbClr val="E8A33D"/>
                </a:solidFill>
                <a:latin typeface="Calibri"/>
              </a:rPr>
              <a:t>resource ceilings</a:t>
            </a:r>
            <a:r>
              <a:rPr sz="1500" b="0">
                <a:solidFill>
                  <a:srgbClr val="0E1B2B"/>
                </a:solidFill>
                <a:latin typeface="Calibri"/>
              </a:rPr>
              <a:t>, and </a:t>
            </a:r>
            <a:r>
              <a:rPr sz="1500" b="1">
                <a:solidFill>
                  <a:srgbClr val="E8A33D"/>
                </a:solidFill>
                <a:latin typeface="Calibri"/>
              </a:rPr>
              <a:t>config vs. request vs. response</a:t>
            </a:r>
            <a:r>
              <a:rPr sz="1500" b="0">
                <a:solidFill>
                  <a:srgbClr val="0E1B2B"/>
                </a:solidFill>
                <a:latin typeface="Calibri"/>
              </a:rPr>
              <a:t>. An LLM API is built from those same primitives.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95A7"/>
                </a:solidFill>
                <a:latin typeface="Calibri"/>
              </a:rPr>
              <a:t>YOU ALREADY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33D"/>
                </a:solidFill>
                <a:latin typeface="Calibri"/>
              </a:rPr>
              <a:t>YOU'RE ABOUT TO 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4640"/>
            <a:ext cx="484632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53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A REST API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0358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A33D"/>
                </a:solidFill>
                <a:latin typeface="Cambria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834640"/>
            <a:ext cx="4846320" cy="594360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53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An LLM API 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611880"/>
            <a:ext cx="484632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307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A cloud billing line-item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813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A33D"/>
                </a:solidFill>
                <a:latin typeface="Cambria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611880"/>
            <a:ext cx="4846320" cy="594360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7307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usage.total_tokens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89120"/>
            <a:ext cx="484632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5079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A container memory 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45902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A33D"/>
                </a:solidFill>
                <a:latin typeface="Cambria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389120"/>
            <a:ext cx="4846320" cy="594360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5079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The context window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166360"/>
            <a:ext cx="484632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852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A chaos-engineering knob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5367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A33D"/>
                </a:solidFill>
                <a:latin typeface="Cambria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5166360"/>
            <a:ext cx="4846320" cy="594360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2852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The temperature parameter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THEORY 1  |  SLIDES 4-5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54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What is an LLM, really?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mbria"/>
              </a:rPr>
              <a:t>The mental model everything else builds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An LLM is a stateless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Text in, text out -- nothing is kept between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005840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55648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Think of the exact request you'd send to a </a:t>
            </a:r>
            <a:r>
              <a:rPr sz="1400" b="1">
                <a:solidFill>
                  <a:srgbClr val="E8A33D"/>
                </a:solidFill>
                <a:latin typeface="Calibri"/>
              </a:rPr>
              <a:t>stateless microservice</a:t>
            </a:r>
            <a:r>
              <a:rPr sz="1400" b="0">
                <a:solidFill>
                  <a:srgbClr val="0E1B2B"/>
                </a:solidFill>
                <a:latin typeface="Calibri"/>
              </a:rPr>
              <a:t>: a payload goes in, a response comes back, and the server keeps nothing about you once it's done.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06040"/>
            <a:ext cx="10058400" cy="2651760"/>
          </a:xfrm>
          <a:prstGeom prst="rect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client.chat.completions.create(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    model="llama-3.1-8b-instant",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    messages=[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        {"role": "system", "content": "You are concise."},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        {"role": "user", "content": "What is a load balancer?"},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    ],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8895A7"/>
                </a:solidFill>
                <a:latin typeface="Courier New"/>
              </a:rPr>
              <a:t># Call it again right now -- it has NO idea this ever happened.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Analogy: an LLM call = a REST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10058400" cy="3108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95A7"/>
                </a:solidFill>
                <a:latin typeface="Calibri"/>
              </a:rPr>
              <a:t>AI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B2B"/>
                </a:solidFill>
                <a:latin typeface="Cambria"/>
              </a:rPr>
              <a:t>POST /chat/completions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33D"/>
                </a:solidFill>
                <a:latin typeface="Calibri"/>
              </a:rPr>
              <a:t>DEVOPS ANALOGY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B2B"/>
                </a:solidFill>
                <a:latin typeface="Cambria"/>
              </a:rPr>
              <a:t>POST /predict on a microservice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9509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Same anatomy either way: a payload goes in the body, an API key goes in the header for auth, and a JSON response comes back. Nothing about the call is remembered by the server afterward -- that's true of a stateless microservice, and it's just as true of an LLM API. 'Memory' is never automatic on either side; if you want it, you build it yourself (Lecture 7 covers exactly how).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THEORY 2  |  SLIDES 7-8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54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mbria"/>
              </a:rPr>
              <a:t>What you're actually billed for, every single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Tokens: what you're actually billed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Not 'per request' -- per unit of work, like a cloud invoice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005840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55648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A token is roughly a chunk of a word. Every response carries a </a:t>
            </a:r>
            <a:r>
              <a:rPr sz="1400" b="1">
                <a:solidFill>
                  <a:srgbClr val="E8A33D"/>
                </a:solidFill>
                <a:latin typeface="Calibri"/>
              </a:rPr>
              <a:t>usage</a:t>
            </a:r>
            <a:r>
              <a:rPr sz="1400" b="0">
                <a:solidFill>
                  <a:srgbClr val="0E1B2B"/>
                </a:solidFill>
                <a:latin typeface="Calibri"/>
              </a:rPr>
              <a:t> object with the exact bill for that one call.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06040"/>
            <a:ext cx="10058400" cy="2651760"/>
          </a:xfrm>
          <a:prstGeom prst="rect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response.usage.prompt_tokens      # input  -- what you sent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response.usage.completion_tokens  # output -- what came back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response.usage.total_tokens       # input + output = your bill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8895A7"/>
                </a:solidFill>
                <a:latin typeface="Courier New"/>
              </a:rPr>
              <a:t># Itemized separately, same as a cloud invoice splits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8895A7"/>
                </a:solidFill>
                <a:latin typeface="Courier New"/>
              </a:rPr>
              <a:t># ingress vs. compute vs. egress into different line-items.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Analogy: tokens = billed compute units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10058400" cy="3108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95A7"/>
                </a:solidFill>
                <a:latin typeface="Calibri"/>
              </a:rPr>
              <a:t>AI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B2B"/>
                </a:solidFill>
                <a:latin typeface="Cambria"/>
              </a:rPr>
              <a:t>usage.total_tokens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33D"/>
                </a:solidFill>
                <a:latin typeface="Calibri"/>
              </a:rPr>
              <a:t>DEVOPS ANALOGY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B2B"/>
                </a:solidFill>
                <a:latin typeface="Cambria"/>
              </a:rPr>
              <a:t>CPU-seconds / GB-processed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9509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You don't get charged 'one request costs $X flat' -- you get charged per unit of work actually done. That is exactly how a cloud bill works: CPU-seconds, GB transferred, or GB processed. Input tokens (what you sent) and output tokens (what came back) are billed as separate line-items -- and a longer conversation history means a bigger 'input' line-item on every single call, even if your new question is short.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THEORY 3  |  SLIDES 10-13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54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Context Window &amp; Temperature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mbria"/>
              </a:rPr>
              <a:t>The hard ceiling, and the randomness knob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The context window: a hard ceiling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Measured in tokens, not bytes -- but it's the same kind of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005840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9509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Every model has a maximum number of tokens it can process in a single call -- prompt + response combined. Send more than that, and the call </a:t>
            </a:r>
            <a:r>
              <a:rPr sz="1400" b="1">
                <a:solidFill>
                  <a:srgbClr val="E8A33D"/>
                </a:solidFill>
                <a:latin typeface="Calibri"/>
              </a:rPr>
              <a:t>fails outright</a:t>
            </a:r>
            <a:r>
              <a:rPr sz="1400" b="0">
                <a:solidFill>
                  <a:srgbClr val="0E1B2B"/>
                </a:solidFill>
                <a:latin typeface="Calibri"/>
              </a:rPr>
              <a:t>, it does not quietly 'forget' the oldest 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1B2B"/>
                </a:solidFill>
                <a:latin typeface="Calibri"/>
              </a:rPr>
              <a:t>Demo 1 sends 8,000,000 characters on purpose and shows the real error: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703320"/>
            <a:ext cx="10058400" cy="1554480"/>
          </a:xfrm>
          <a:prstGeom prst="rect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88620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BadRequestError: Error code: 400 -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  {"error": {"message": "Please reduce the length of the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   messages or completion.", "type": "invalid_request_error"}}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Analogy: context window = container memory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10058400" cy="3108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95A7"/>
                </a:solidFill>
                <a:latin typeface="Calibri"/>
              </a:rPr>
              <a:t>AI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B2B"/>
                </a:solidFill>
                <a:latin typeface="Cambria"/>
              </a:rPr>
              <a:t>Context window overflow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33D"/>
                </a:solidFill>
                <a:latin typeface="Calibri"/>
              </a:rPr>
              <a:t>DEVOPS ANALOGY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B2B"/>
                </a:solidFill>
                <a:latin typeface="Cambria"/>
              </a:rPr>
              <a:t>Container OOM-kill / ring buffer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9509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Every container has a memory ceiling -- exceed it, and the kernel OOM-kills the process. A fixed-size log ring-buffer works the same way -- push past capacity, and the oldest lines silently fall off the front. A model's context window behaves like both at once: an API call either errors out completely, or (if you're managing history yourself, like Demo 3) the oldest turns quietly drop off. It is never 'the model forgot' -- it's a hard resource ceiling, exactly like memory or disk.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Temperature: determinism vs. randomness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One number, one very different kind of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005840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55648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temperature=0</a:t>
            </a:r>
            <a:r>
              <a:rPr sz="1400" b="0">
                <a:solidFill>
                  <a:srgbClr val="0E1B2B"/>
                </a:solidFill>
                <a:latin typeface="Calibri"/>
              </a:rPr>
              <a:t> → same input, same output, every time. </a:t>
            </a:r>
            <a:r>
              <a:rPr sz="1400" b="1">
                <a:solidFill>
                  <a:srgbClr val="E8A33D"/>
                </a:solidFill>
                <a:latin typeface="Calibri"/>
              </a:rPr>
              <a:t>temperature=1</a:t>
            </a:r>
            <a:r>
              <a:rPr sz="1400" b="0">
                <a:solidFill>
                  <a:srgbClr val="0E1B2B"/>
                </a:solidFill>
                <a:latin typeface="Calibri"/>
              </a:rPr>
              <a:t> → same input, different output, on purpose.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06040"/>
            <a:ext cx="10058400" cy="2651760"/>
          </a:xfrm>
          <a:prstGeom prst="rect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8895A7"/>
                </a:solidFill>
                <a:latin typeface="Courier New"/>
              </a:rPr>
              <a:t># temperature=0, run 3x -&gt; identical every time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  "DevKit"   "DevKit"   "DevKit"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8895A7"/>
                </a:solidFill>
                <a:latin typeface="Courier New"/>
              </a:rPr>
              <a:t># temperature=1, run 3x -&gt; different every time, on purpose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  "Operia"   "DevolveX"   "Dura"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Analogy: temperature = a chaos-engineering knob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10058400" cy="3108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95A7"/>
                </a:solidFill>
                <a:latin typeface="Calibri"/>
              </a:rPr>
              <a:t>AI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B2B"/>
                </a:solidFill>
                <a:latin typeface="Cambria"/>
              </a:rPr>
              <a:t>temperature parameter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33D"/>
                </a:solidFill>
                <a:latin typeface="Calibri"/>
              </a:rPr>
              <a:t>DEVOPS ANALOGY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B2B"/>
                </a:solidFill>
                <a:latin typeface="Cambria"/>
              </a:rPr>
              <a:t>Chaos Monkey / blue-green rollout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9509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temperature=0 is a deterministic blue/green rollout -- reproducible, same input always gives the same output. That's what you want for config generation, runbook answers, or anything a script depends on. Higher temperature is closer to a chaos-engineering exercise -- deliberately injecting randomness to explore a wider space of possible outcomes. Pick it the same way you'd pick a chaos-testing schedule: only turn it up when you actually want the variety.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THEORY 4  |  SLIDES 15-16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54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system / user / assistant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mbria"/>
              </a:rPr>
              <a:t>Config, request, and response, in every single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system / user / assistant: three message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The exact same shape as config, request, and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05840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33D"/>
                </a:solidFill>
                <a:latin typeface="Courier New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0136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1B2B"/>
                </a:solidFill>
                <a:latin typeface="Calibri"/>
              </a:rPr>
              <a:t>Set once, shapes every reply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0136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ourier New"/>
              </a:rPr>
              <a:t>"You are a concise DevOps assistant."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606040"/>
            <a:ext cx="1005840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33D"/>
                </a:solidFill>
                <a:latin typeface="Courier New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71576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1B2B"/>
                </a:solidFill>
                <a:latin typeface="Calibri"/>
              </a:rPr>
              <a:t>The actual question or instruction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71576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ourier New"/>
              </a:rPr>
              <a:t>"What is a load balancer?"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520440"/>
            <a:ext cx="1005840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33D"/>
                </a:solidFill>
                <a:latin typeface="Courier New"/>
              </a:rPr>
              <a:t>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3016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1B2B"/>
                </a:solidFill>
                <a:latin typeface="Calibri"/>
              </a:rPr>
              <a:t>What the model sent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63016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ourier New"/>
              </a:rPr>
              <a:t>"A load balancer distributes traffic..."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Analogy: roles = config vs. request vs.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10058400" cy="3108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95A7"/>
                </a:solidFill>
                <a:latin typeface="Calibri"/>
              </a:rPr>
              <a:t>AI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B2B"/>
                </a:solidFill>
                <a:latin typeface="Cambria"/>
              </a:rPr>
              <a:t>system / user /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33D"/>
                </a:solidFill>
                <a:latin typeface="Calibri"/>
              </a:rPr>
              <a:t>DEVOPS ANALOGY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B2B"/>
                </a:solidFill>
                <a:latin typeface="Cambria"/>
              </a:rPr>
              <a:t>Terraform provider config / apply /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9509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895A7"/>
                </a:solidFill>
                <a:latin typeface="Calibri"/>
              </a:rPr>
              <a:t>system is the environment default baked in at provision time -- like a Terraform provider block or a container's baked-in ENV vars. It shapes every request but isn't a request itself. user is the actual request payload -- like a 'kubectl apply' manifest or an API request body. assistant is the response body that comes back. Same three-part shape as 'config → request → response' you already reason about every day.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THEORY 5  |  SLIDES 18-21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54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mbria"/>
              </a:rPr>
              <a:t>Zero-shot, few-shot, chain-of-thought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Prompt engineering: three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Same question, three different ways of asking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0058400" cy="11887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1B2B"/>
                </a:solidFill>
                <a:latin typeface="Cambria"/>
              </a:rPr>
              <a:t>Zero-shot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Just ask. No examples, no format hint.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920240"/>
            <a:ext cx="3200400" cy="822960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2103120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8A33D"/>
                </a:solidFill>
                <a:latin typeface="Calibri"/>
              </a:rPr>
              <a:t>An ad-hoc script with no reference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08960"/>
            <a:ext cx="10058400" cy="11887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2735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1B2B"/>
                </a:solidFill>
                <a:latin typeface="Cambria"/>
              </a:rPr>
              <a:t>Few-shot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033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Show 2-4 solved examples before the real question.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3291840"/>
            <a:ext cx="3200400" cy="822960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3474720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8A33D"/>
                </a:solidFill>
                <a:latin typeface="Calibri"/>
              </a:rPr>
              <a:t>Copying a working Terraform module example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480560"/>
            <a:ext cx="10058400" cy="11887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451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1B2B"/>
                </a:solidFill>
                <a:latin typeface="Cambria"/>
              </a:rPr>
              <a:t>Chain-of-thought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0749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Force step-by-step reasoning before the answer.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4663440"/>
            <a:ext cx="3200400" cy="822960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4846320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8A33D"/>
                </a:solidFill>
                <a:latin typeface="Calibri"/>
              </a:rPr>
              <a:t>A written incident-response runbook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Zero-shot: just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Fastest to write. Least reliable to parse.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058400" cy="1371600"/>
          </a:xfrm>
          <a:prstGeom prst="rect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"Classify this log line's severity: INFO, WARNING, ERROR, 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 CRITICAL.\n\nLog line: Disk usage at 92% on /var/log"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46120"/>
            <a:ext cx="1005840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Result: a free-form paragraph, different length and shape every time. Nothing downstream can reliably </a:t>
            </a:r>
            <a:r>
              <a:rPr sz="1400" b="1">
                <a:solidFill>
                  <a:srgbClr val="E8A33D"/>
                </a:solidFill>
                <a:latin typeface="Calibri"/>
              </a:rPr>
              <a:t>parse</a:t>
            </a:r>
            <a:r>
              <a:rPr sz="1400" b="0">
                <a:solidFill>
                  <a:srgbClr val="0E1B2B"/>
                </a:solidFill>
                <a:latin typeface="Calibri"/>
              </a:rPr>
              <a:t> this output -- which is fine for a human reading it once, and a real problem for anything automated.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Few-shot: show it 2-4 solved examples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Anchors both the judgement AND the output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058400" cy="2377440"/>
          </a:xfrm>
          <a:prstGeom prst="rect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2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8895A7"/>
                </a:solidFill>
                <a:latin typeface="Courier New"/>
              </a:rPr>
              <a:t>Log line: SSL cert expires in 3 days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SEVERITY: WARNING | REASON: Not broken yet, will cause an outage soon.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8895A7"/>
                </a:solidFill>
                <a:latin typeface="Courier New"/>
              </a:rPr>
              <a:t>Log line: Pod crash-looped 6 times in 8 minutes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SEVERITY: CRITICAL | REASON: Repeated crashing is escalating, not a blip.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8895A7"/>
                </a:solidFill>
                <a:latin typeface="Courier New"/>
              </a:rPr>
              <a:t>Now classify this one, same format: &lt;your real log line&gt;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51960"/>
            <a:ext cx="10058400" cy="822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416552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Like handing someone a working Terraform module to copy instead of a blank file -- they inherit both the pattern AND the format.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Chain-of-thought: force step-by-step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The technique built specifically to catch subtle nuance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058400" cy="2377440"/>
          </a:xfrm>
          <a:prstGeom prst="rect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2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Step 1 - What signals are present (keywords, repetition)?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Step 2 - Is this a one-off event, or an escalating pattern?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>Step 3 - Based on 1-2, assign a final severity.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CADCFC"/>
                </a:solidFill>
                <a:latin typeface="Courier New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8895A7"/>
                </a:solidFill>
                <a:latin typeface="Courier New"/>
              </a:rPr>
              <a:t># Forces the model to weigh repetition/frequency explicitly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>
                <a:solidFill>
                  <a:srgbClr val="8895A7"/>
                </a:solidFill>
                <a:latin typeface="Courier New"/>
              </a:rPr>
              <a:t># instead of jumping straight from keyword to guess.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51960"/>
            <a:ext cx="10058400" cy="8229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416552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E1B2B"/>
                </a:solidFill>
                <a:latin typeface="Calibri"/>
              </a:rPr>
              <a:t>Like a written incident-response runbook -- 'check logs → check metrics → check recent deploys → conclude' instead of jumping straight to a guess.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Today's Analogy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Every future lecture in this track reuses these exact comparisons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95A7"/>
                </a:solidFill>
                <a:latin typeface="Calibri"/>
              </a:rPr>
              <a:t>AI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33D"/>
                </a:solidFill>
                <a:latin typeface="Calibri"/>
              </a:rPr>
              <a:t>DEVOPS ANALOGY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1005840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LLM API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1B2B"/>
                </a:solidFill>
                <a:latin typeface="Calibri"/>
              </a:rPr>
              <a:t>Stateless REST 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0584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1B2B"/>
                </a:solidFill>
                <a:latin typeface="Calibri"/>
              </a:rPr>
              <a:t>Billed compute units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063240"/>
            <a:ext cx="1005840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Context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1B2B"/>
                </a:solidFill>
                <a:latin typeface="Calibri"/>
              </a:rPr>
              <a:t>Container memory limit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49040"/>
            <a:ext cx="100584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Temperature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1B2B"/>
                </a:solidFill>
                <a:latin typeface="Calibri"/>
              </a:rPr>
              <a:t>Chaos-engineering knob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434840"/>
            <a:ext cx="1005840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system/user/assistant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1B2B"/>
                </a:solidFill>
                <a:latin typeface="Calibri"/>
              </a:rPr>
              <a:t>IaC config / request / 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120640"/>
            <a:ext cx="100584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257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Zero/few-shot/CoT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1B2B"/>
                </a:solidFill>
                <a:latin typeface="Calibri"/>
              </a:rPr>
              <a:t>Ad-hoc script / module example / runbook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alibri"/>
              </a:rPr>
              <a:t>Full detail lives in Devops_Knowledge/ANALOGY_GLOSSARY.md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3 DEMOS  |  RAW GROQ SDK, ZERO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From Theory to Terminal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4767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urier New"/>
              </a:rPr>
              <a:t>demo_1_raw_api_basics.py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3317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Tokens, temperature, and a deliberate context-window overflow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337560"/>
            <a:ext cx="548640" cy="548640"/>
          </a:xfrm>
          <a:prstGeom prst="ellipse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31927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urier New"/>
              </a:rPr>
              <a:t>demo_2_prompt_engineering.py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7033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Zero-shot vs. few-shot vs. chain-of-thought on log triage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709160"/>
            <a:ext cx="548640" cy="548640"/>
          </a:xfrm>
          <a:prstGeom prst="ellipse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00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69087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ourier New"/>
              </a:rPr>
              <a:t>demo_3_conversational_loop.py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0749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The required demo -- memory built by hand, no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Common mistakes DevOps engineers make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Read this before you touch the demos -- it will save real debugging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05840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013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Assuming the API 'remembers'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It's stateless, like any REST call. Memory is something YOU build (Demo 3), not something the server gives you for free.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43200"/>
            <a:ext cx="1005840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Ignoring token usage until the bill arrives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004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usage.total_tokens is visible on every single response. Treat it like a cloud cost dashboard, not an afterthought.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794760"/>
            <a:ext cx="1005840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9044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Treating a context-window error as a bug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51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It's a hard ceiling, exactly like a container memory limit. Design around it, don't just retry blindly.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46320"/>
            <a:ext cx="1005840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9560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Using temperature=1 for anything that needs to be reproducible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303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If a script depends on the output, use temperature=0 -- same discipline as a deterministic deploy.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SUMMARY &amp;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What you can now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Calibri"/>
              </a:rPr>
              <a:t>- </a:t>
            </a:r>
            <a:r>
              <a:rPr sz="1500" b="0">
                <a:solidFill>
                  <a:srgbClr val="CADCFC"/>
                </a:solidFill>
                <a:latin typeface="Calibri"/>
              </a:rPr>
              <a:t>Call an LLM with a raw SDK -- no framework, full visibility into every request and response.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Calibri"/>
              </a:rPr>
              <a:t>- </a:t>
            </a:r>
            <a:r>
              <a:rPr sz="1500" b="0">
                <a:solidFill>
                  <a:srgbClr val="CADCFC"/>
                </a:solidFill>
                <a:latin typeface="Calibri"/>
              </a:rPr>
              <a:t>Read usage.total_tokens like a cloud bill, and reason about the context window like a memory limit.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Calibri"/>
              </a:rPr>
              <a:t>- </a:t>
            </a:r>
            <a:r>
              <a:rPr sz="1500" b="0">
                <a:solidFill>
                  <a:srgbClr val="CADCFC"/>
                </a:solidFill>
                <a:latin typeface="Calibri"/>
              </a:rPr>
              <a:t>Choose temperature deliberately -- reproducible for scripts, varied for brainstorming.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Calibri"/>
              </a:rPr>
              <a:t>- </a:t>
            </a:r>
            <a:r>
              <a:rPr sz="1500" b="0">
                <a:solidFill>
                  <a:srgbClr val="CADCFC"/>
                </a:solidFill>
                <a:latin typeface="Calibri"/>
              </a:rPr>
              <a:t>Pick zero-shot, few-shot, or chain-of-thought based on what the task actually needs.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Calibri"/>
              </a:rPr>
              <a:t>- </a:t>
            </a:r>
            <a:r>
              <a:rPr sz="1500" b="0">
                <a:solidFill>
                  <a:srgbClr val="CADCFC"/>
                </a:solidFill>
                <a:latin typeface="Calibri"/>
              </a:rPr>
              <a:t>Build a conversational loop by hand -- and see exactly why it breaks without careful engineering.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029200"/>
            <a:ext cx="10058400" cy="1051560"/>
          </a:xfrm>
          <a:prstGeom prst="rect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193792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Calibri"/>
              </a:rPr>
              <a:t>Next lecture: </a:t>
            </a:r>
            <a:r>
              <a:rPr sz="1400" b="1">
                <a:solidFill>
                  <a:srgbClr val="FFFFFF"/>
                </a:solidFill>
                <a:latin typeface="Calibri"/>
              </a:rPr>
              <a:t>Embeddings &amp; Vector Databases</a:t>
            </a:r>
            <a:r>
              <a:rPr sz="1400" b="0">
                <a:solidFill>
                  <a:srgbClr val="CADCFC"/>
                </a:solidFill>
                <a:latin typeface="Calibri"/>
              </a:rPr>
              <a:t> -- turning text into numbers you can search by meaning, with ChromaDB and sentence-transformers.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