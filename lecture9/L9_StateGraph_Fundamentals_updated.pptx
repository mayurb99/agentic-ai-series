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777240"/>
            <a:ext cx="10515600" cy="365760"/>
          </a:xfrm>
          <a:prstGeom prst="rect">
            <a:avLst/>
          </a:prstGeom>
          <a:noFill/>
        </p:spPr>
        <p:txBody>
          <a:bodyPr wrap="square">
            <a:spAutoFit/>
          </a:bodyPr>
          <a:lstStyle/>
          <a:p>
            <a:pPr algn="l">
              <a:spcBef>
                <a:spcPts val="0"/>
              </a:spcBef>
              <a:spcAft>
                <a:spcPts val="0"/>
              </a:spcAft>
            </a:pPr>
            <a:r>
              <a:rPr sz="1300" b="1">
                <a:solidFill>
                  <a:srgbClr val="E8A33D"/>
                </a:solidFill>
                <a:latin typeface="Calibri"/>
              </a:rPr>
              <a:t>AGENTIC AI FOR DEVOPS ENGINEERS  |  PHASE C  |  LECTURE 9</a:t>
            </a:r>
          </a:p>
        </p:txBody>
      </p:sp>
      <p:sp>
        <p:nvSpPr>
          <p:cNvPr id="3" name="TextBox 2"/>
          <p:cNvSpPr txBox="1"/>
          <p:nvPr/>
        </p:nvSpPr>
        <p:spPr>
          <a:xfrm>
            <a:off x="777240" y="1325880"/>
            <a:ext cx="10515600" cy="914400"/>
          </a:xfrm>
          <a:prstGeom prst="rect">
            <a:avLst/>
          </a:prstGeom>
          <a:noFill/>
        </p:spPr>
        <p:txBody>
          <a:bodyPr wrap="square">
            <a:spAutoFit/>
          </a:bodyPr>
          <a:lstStyle/>
          <a:p>
            <a:pPr algn="l">
              <a:spcBef>
                <a:spcPts val="0"/>
              </a:spcBef>
              <a:spcAft>
                <a:spcPts val="0"/>
              </a:spcAft>
            </a:pPr>
            <a:r>
              <a:rPr sz="4000" b="1">
                <a:solidFill>
                  <a:srgbClr val="FFFFFF"/>
                </a:solidFill>
                <a:latin typeface="Cambria"/>
              </a:rPr>
              <a:t>StateGraph Fundamentals</a:t>
            </a:r>
          </a:p>
        </p:txBody>
      </p:sp>
      <p:sp>
        <p:nvSpPr>
          <p:cNvPr id="4" name="TextBox 3"/>
          <p:cNvSpPr txBox="1"/>
          <p:nvPr/>
        </p:nvSpPr>
        <p:spPr>
          <a:xfrm>
            <a:off x="822960" y="2377440"/>
            <a:ext cx="10058400" cy="822960"/>
          </a:xfrm>
          <a:prstGeom prst="rect">
            <a:avLst/>
          </a:prstGeom>
          <a:noFill/>
        </p:spPr>
        <p:txBody>
          <a:bodyPr wrap="square">
            <a:spAutoFit/>
          </a:bodyPr>
          <a:lstStyle/>
          <a:p>
            <a:pPr algn="l">
              <a:spcBef>
                <a:spcPts val="0"/>
              </a:spcBef>
              <a:spcAft>
                <a:spcPts val="0"/>
              </a:spcAft>
            </a:pPr>
            <a:r>
              <a:rPr sz="1600" b="0">
                <a:solidFill>
                  <a:srgbClr val="CADCFC"/>
                </a:solidFill>
                <a:latin typeface="Cambria"/>
              </a:rPr>
              <a:t>You already used create_agent from LangChain. Today we open the gearbox and learn to draw our own LangGraph StateGraph.</a:t>
            </a:r>
          </a:p>
        </p:txBody>
      </p:sp>
      <p:sp>
        <p:nvSpPr>
          <p:cNvPr id="5" name="TextBox 4"/>
          <p:cNvSpPr txBox="1"/>
          <p:nvPr/>
        </p:nvSpPr>
        <p:spPr>
          <a:xfrm>
            <a:off x="822960" y="3657600"/>
            <a:ext cx="2331720" cy="411480"/>
          </a:xfrm>
          <a:prstGeom prst="rect">
            <a:avLst/>
          </a:prstGeom>
          <a:noFill/>
        </p:spPr>
        <p:txBody>
          <a:bodyPr wrap="square">
            <a:spAutoFit/>
          </a:bodyPr>
          <a:lstStyle/>
          <a:p>
            <a:pPr algn="l">
              <a:spcBef>
                <a:spcPts val="0"/>
              </a:spcBef>
              <a:spcAft>
                <a:spcPts val="0"/>
              </a:spcAft>
            </a:pPr>
            <a:r>
              <a:rPr sz="2000" b="1">
                <a:solidFill>
                  <a:srgbClr val="FFFFFF"/>
                </a:solidFill>
                <a:latin typeface="Cambria"/>
              </a:rPr>
              <a:t>90 min</a:t>
            </a:r>
          </a:p>
        </p:txBody>
      </p:sp>
      <p:sp>
        <p:nvSpPr>
          <p:cNvPr id="6" name="TextBox 5"/>
          <p:cNvSpPr txBox="1"/>
          <p:nvPr/>
        </p:nvSpPr>
        <p:spPr>
          <a:xfrm>
            <a:off x="822960" y="4114800"/>
            <a:ext cx="2331720" cy="320040"/>
          </a:xfrm>
          <a:prstGeom prst="rect">
            <a:avLst/>
          </a:prstGeom>
          <a:noFill/>
        </p:spPr>
        <p:txBody>
          <a:bodyPr wrap="square">
            <a:spAutoFit/>
          </a:bodyPr>
          <a:lstStyle/>
          <a:p>
            <a:pPr algn="l">
              <a:spcBef>
                <a:spcPts val="0"/>
              </a:spcBef>
              <a:spcAft>
                <a:spcPts val="0"/>
              </a:spcAft>
            </a:pPr>
            <a:r>
              <a:rPr sz="1100" b="0">
                <a:solidFill>
                  <a:srgbClr val="8895A7"/>
                </a:solidFill>
                <a:latin typeface="Calibri"/>
              </a:rPr>
              <a:t>DURATION</a:t>
            </a:r>
          </a:p>
        </p:txBody>
      </p:sp>
      <p:sp>
        <p:nvSpPr>
          <p:cNvPr id="7" name="TextBox 6"/>
          <p:cNvSpPr txBox="1"/>
          <p:nvPr/>
        </p:nvSpPr>
        <p:spPr>
          <a:xfrm>
            <a:off x="3337560" y="3657600"/>
            <a:ext cx="2331720" cy="411480"/>
          </a:xfrm>
          <a:prstGeom prst="rect">
            <a:avLst/>
          </a:prstGeom>
          <a:noFill/>
        </p:spPr>
        <p:txBody>
          <a:bodyPr wrap="square">
            <a:spAutoFit/>
          </a:bodyPr>
          <a:lstStyle/>
          <a:p>
            <a:pPr algn="l">
              <a:spcBef>
                <a:spcPts val="0"/>
              </a:spcBef>
              <a:spcAft>
                <a:spcPts val="0"/>
              </a:spcAft>
            </a:pPr>
            <a:r>
              <a:rPr sz="2000" b="1">
                <a:solidFill>
                  <a:srgbClr val="FFFFFF"/>
                </a:solidFill>
                <a:latin typeface="Cambria"/>
              </a:rPr>
              <a:t>LangGraph</a:t>
            </a:r>
          </a:p>
        </p:txBody>
      </p:sp>
      <p:sp>
        <p:nvSpPr>
          <p:cNvPr id="8" name="TextBox 7"/>
          <p:cNvSpPr txBox="1"/>
          <p:nvPr/>
        </p:nvSpPr>
        <p:spPr>
          <a:xfrm>
            <a:off x="3337560" y="4114800"/>
            <a:ext cx="2331720" cy="320040"/>
          </a:xfrm>
          <a:prstGeom prst="rect">
            <a:avLst/>
          </a:prstGeom>
          <a:noFill/>
        </p:spPr>
        <p:txBody>
          <a:bodyPr wrap="square">
            <a:spAutoFit/>
          </a:bodyPr>
          <a:lstStyle/>
          <a:p>
            <a:pPr algn="l">
              <a:spcBef>
                <a:spcPts val="0"/>
              </a:spcBef>
              <a:spcAft>
                <a:spcPts val="0"/>
              </a:spcAft>
            </a:pPr>
            <a:r>
              <a:rPr sz="1100" b="0">
                <a:solidFill>
                  <a:srgbClr val="8895A7"/>
                </a:solidFill>
                <a:latin typeface="Calibri"/>
              </a:rPr>
              <a:t>FOCUS</a:t>
            </a:r>
          </a:p>
        </p:txBody>
      </p:sp>
      <p:sp>
        <p:nvSpPr>
          <p:cNvPr id="9" name="TextBox 8"/>
          <p:cNvSpPr txBox="1"/>
          <p:nvPr/>
        </p:nvSpPr>
        <p:spPr>
          <a:xfrm>
            <a:off x="5852160" y="3657600"/>
            <a:ext cx="2331720" cy="411480"/>
          </a:xfrm>
          <a:prstGeom prst="rect">
            <a:avLst/>
          </a:prstGeom>
          <a:noFill/>
        </p:spPr>
        <p:txBody>
          <a:bodyPr wrap="square">
            <a:spAutoFit/>
          </a:bodyPr>
          <a:lstStyle/>
          <a:p>
            <a:pPr algn="l">
              <a:spcBef>
                <a:spcPts val="0"/>
              </a:spcBef>
              <a:spcAft>
                <a:spcPts val="0"/>
              </a:spcAft>
            </a:pPr>
            <a:r>
              <a:rPr sz="2000" b="1">
                <a:solidFill>
                  <a:srgbClr val="FFFFFF"/>
                </a:solidFill>
                <a:latin typeface="Cambria"/>
              </a:rPr>
              <a:t>9 of 50</a:t>
            </a:r>
          </a:p>
        </p:txBody>
      </p:sp>
      <p:sp>
        <p:nvSpPr>
          <p:cNvPr id="10" name="TextBox 9"/>
          <p:cNvSpPr txBox="1"/>
          <p:nvPr/>
        </p:nvSpPr>
        <p:spPr>
          <a:xfrm>
            <a:off x="5852160" y="4114800"/>
            <a:ext cx="2331720" cy="320040"/>
          </a:xfrm>
          <a:prstGeom prst="rect">
            <a:avLst/>
          </a:prstGeom>
          <a:noFill/>
        </p:spPr>
        <p:txBody>
          <a:bodyPr wrap="square">
            <a:spAutoFit/>
          </a:bodyPr>
          <a:lstStyle/>
          <a:p>
            <a:pPr algn="l">
              <a:spcBef>
                <a:spcPts val="0"/>
              </a:spcBef>
              <a:spcAft>
                <a:spcPts val="0"/>
              </a:spcAft>
            </a:pPr>
            <a:r>
              <a:rPr sz="1100" b="0">
                <a:solidFill>
                  <a:srgbClr val="8895A7"/>
                </a:solidFill>
                <a:latin typeface="Calibri"/>
              </a:rPr>
              <a:t>LECTURE</a:t>
            </a:r>
          </a:p>
        </p:txBody>
      </p:sp>
      <p:sp>
        <p:nvSpPr>
          <p:cNvPr id="11" name="TextBox 10"/>
          <p:cNvSpPr txBox="1"/>
          <p:nvPr/>
        </p:nvSpPr>
        <p:spPr>
          <a:xfrm>
            <a:off x="8366760" y="3657600"/>
            <a:ext cx="2331720" cy="411480"/>
          </a:xfrm>
          <a:prstGeom prst="rect">
            <a:avLst/>
          </a:prstGeom>
          <a:noFill/>
        </p:spPr>
        <p:txBody>
          <a:bodyPr wrap="square">
            <a:spAutoFit/>
          </a:bodyPr>
          <a:lstStyle/>
          <a:p>
            <a:pPr algn="l">
              <a:spcBef>
                <a:spcPts val="0"/>
              </a:spcBef>
              <a:spcAft>
                <a:spcPts val="0"/>
              </a:spcAft>
            </a:pPr>
            <a:r>
              <a:rPr sz="2000" b="1">
                <a:solidFill>
                  <a:srgbClr val="FFFFFF"/>
                </a:solidFill>
                <a:latin typeface="Cambria"/>
              </a:rPr>
              <a:t>3 demos</a:t>
            </a:r>
          </a:p>
        </p:txBody>
      </p:sp>
      <p:sp>
        <p:nvSpPr>
          <p:cNvPr id="12" name="TextBox 11"/>
          <p:cNvSpPr txBox="1"/>
          <p:nvPr/>
        </p:nvSpPr>
        <p:spPr>
          <a:xfrm>
            <a:off x="8366760" y="4114800"/>
            <a:ext cx="2331720" cy="320040"/>
          </a:xfrm>
          <a:prstGeom prst="rect">
            <a:avLst/>
          </a:prstGeom>
          <a:noFill/>
        </p:spPr>
        <p:txBody>
          <a:bodyPr wrap="square">
            <a:spAutoFit/>
          </a:bodyPr>
          <a:lstStyle/>
          <a:p>
            <a:pPr algn="l">
              <a:spcBef>
                <a:spcPts val="0"/>
              </a:spcBef>
              <a:spcAft>
                <a:spcPts val="0"/>
              </a:spcAft>
            </a:pPr>
            <a:r>
              <a:rPr sz="1100" b="0">
                <a:solidFill>
                  <a:srgbClr val="8895A7"/>
                </a:solidFill>
                <a:latin typeface="Calibri"/>
              </a:rPr>
              <a:t>HANDS-ON</a:t>
            </a:r>
          </a:p>
        </p:txBody>
      </p:sp>
      <p:sp>
        <p:nvSpPr>
          <p:cNvPr id="13" name="TextBox 12"/>
          <p:cNvSpPr txBox="1"/>
          <p:nvPr/>
        </p:nvSpPr>
        <p:spPr>
          <a:xfrm>
            <a:off x="822960" y="4892040"/>
            <a:ext cx="10058400" cy="6400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One sentence: LangChain on the outside · LangGraph as the engine inside · L9 = you own the flowchart.</a:t>
            </a:r>
          </a:p>
        </p:txBody>
      </p:sp>
      <p:sp>
        <p:nvSpPr>
          <p:cNvPr id="14" name="TextBox 13"/>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What you'll learn today</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Five outcomes — each tied to a real client-project use case</a:t>
            </a:r>
          </a:p>
        </p:txBody>
      </p:sp>
      <p:sp>
        <p:nvSpPr>
          <p:cNvPr id="4" name="Oval 3"/>
          <p:cNvSpPr/>
          <p:nvPr/>
        </p:nvSpPr>
        <p:spPr>
          <a:xfrm>
            <a:off x="640080" y="123444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07592"/>
            <a:ext cx="384048" cy="256032"/>
          </a:xfrm>
          <a:prstGeom prst="rect">
            <a:avLst/>
          </a:prstGeom>
          <a:noFill/>
        </p:spPr>
        <p:txBody>
          <a:bodyPr wrap="none">
            <a:spAutoFit/>
          </a:bodyPr>
          <a:lstStyle/>
          <a:p>
            <a:pPr algn="ctr"/>
            <a:r>
              <a:rPr sz="1100" b="1">
                <a:solidFill>
                  <a:srgbClr val="E8A33D"/>
                </a:solidFill>
                <a:latin typeface="Calibri"/>
              </a:rPr>
              <a:t>01</a:t>
            </a:r>
          </a:p>
        </p:txBody>
      </p:sp>
      <p:sp>
        <p:nvSpPr>
          <p:cNvPr id="6" name="TextBox 5"/>
          <p:cNvSpPr txBox="1"/>
          <p:nvPr/>
        </p:nvSpPr>
        <p:spPr>
          <a:xfrm>
            <a:off x="1280160" y="123444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Clear the confusion</a:t>
            </a:r>
          </a:p>
        </p:txBody>
      </p:sp>
      <p:sp>
        <p:nvSpPr>
          <p:cNvPr id="7" name="TextBox 6"/>
          <p:cNvSpPr txBox="1"/>
          <p:nvPr/>
        </p:nvSpPr>
        <p:spPr>
          <a:xfrm>
            <a:off x="1280160" y="155448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create_agent is a LangChain API; LangGraph is the engine underneath</a:t>
            </a:r>
          </a:p>
        </p:txBody>
      </p:sp>
      <p:sp>
        <p:nvSpPr>
          <p:cNvPr id="8" name="Oval 7"/>
          <p:cNvSpPr/>
          <p:nvPr/>
        </p:nvSpPr>
        <p:spPr>
          <a:xfrm>
            <a:off x="640080" y="210312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76272"/>
            <a:ext cx="384048" cy="256032"/>
          </a:xfrm>
          <a:prstGeom prst="rect">
            <a:avLst/>
          </a:prstGeom>
          <a:noFill/>
        </p:spPr>
        <p:txBody>
          <a:bodyPr wrap="none">
            <a:spAutoFit/>
          </a:bodyPr>
          <a:lstStyle/>
          <a:p>
            <a:pPr algn="ctr"/>
            <a:r>
              <a:rPr sz="1100" b="1">
                <a:solidFill>
                  <a:srgbClr val="E8A33D"/>
                </a:solidFill>
                <a:latin typeface="Calibri"/>
              </a:rPr>
              <a:t>02</a:t>
            </a:r>
          </a:p>
        </p:txBody>
      </p:sp>
      <p:sp>
        <p:nvSpPr>
          <p:cNvPr id="10" name="TextBox 9"/>
          <p:cNvSpPr txBox="1"/>
          <p:nvPr/>
        </p:nvSpPr>
        <p:spPr>
          <a:xfrm>
            <a:off x="1280160" y="210312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Know when to switch</a:t>
            </a:r>
          </a:p>
        </p:txBody>
      </p:sp>
      <p:sp>
        <p:nvSpPr>
          <p:cNvPr id="11" name="TextBox 10"/>
          <p:cNvSpPr txBox="1"/>
          <p:nvPr/>
        </p:nvSpPr>
        <p:spPr>
          <a:xfrm>
            <a:off x="1280160" y="242316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HR FAQ lookup vs leave request that needs manager approval</a:t>
            </a:r>
          </a:p>
        </p:txBody>
      </p:sp>
      <p:sp>
        <p:nvSpPr>
          <p:cNvPr id="12" name="Oval 11"/>
          <p:cNvSpPr/>
          <p:nvPr/>
        </p:nvSpPr>
        <p:spPr>
          <a:xfrm>
            <a:off x="640080" y="297180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044952"/>
            <a:ext cx="384048" cy="256032"/>
          </a:xfrm>
          <a:prstGeom prst="rect">
            <a:avLst/>
          </a:prstGeom>
          <a:noFill/>
        </p:spPr>
        <p:txBody>
          <a:bodyPr wrap="none">
            <a:spAutoFit/>
          </a:bodyPr>
          <a:lstStyle/>
          <a:p>
            <a:pPr algn="ctr"/>
            <a:r>
              <a:rPr sz="1100" b="1">
                <a:solidFill>
                  <a:srgbClr val="E8A33D"/>
                </a:solidFill>
                <a:latin typeface="Calibri"/>
              </a:rPr>
              <a:t>03</a:t>
            </a:r>
          </a:p>
        </p:txBody>
      </p:sp>
      <p:sp>
        <p:nvSpPr>
          <p:cNvPr id="14" name="TextBox 13"/>
          <p:cNvSpPr txBox="1"/>
          <p:nvPr/>
        </p:nvSpPr>
        <p:spPr>
          <a:xfrm>
            <a:off x="1280160" y="297180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Speak the parts</a:t>
            </a:r>
          </a:p>
        </p:txBody>
      </p:sp>
      <p:sp>
        <p:nvSpPr>
          <p:cNvPr id="15" name="TextBox 14"/>
          <p:cNvSpPr txBox="1"/>
          <p:nvPr/>
        </p:nvSpPr>
        <p:spPr>
          <a:xfrm>
            <a:off x="1280160" y="329184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State, node, edge, conditional edge, START/END, compile, invoke, stream</a:t>
            </a:r>
          </a:p>
        </p:txBody>
      </p:sp>
      <p:sp>
        <p:nvSpPr>
          <p:cNvPr id="16" name="Oval 15"/>
          <p:cNvSpPr/>
          <p:nvPr/>
        </p:nvSpPr>
        <p:spPr>
          <a:xfrm>
            <a:off x="640080" y="3840479"/>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913631"/>
            <a:ext cx="384048" cy="256032"/>
          </a:xfrm>
          <a:prstGeom prst="rect">
            <a:avLst/>
          </a:prstGeom>
          <a:noFill/>
        </p:spPr>
        <p:txBody>
          <a:bodyPr wrap="none">
            <a:spAutoFit/>
          </a:bodyPr>
          <a:lstStyle/>
          <a:p>
            <a:pPr algn="ctr"/>
            <a:r>
              <a:rPr sz="1100" b="1">
                <a:solidFill>
                  <a:srgbClr val="E8A33D"/>
                </a:solidFill>
                <a:latin typeface="Calibri"/>
              </a:rPr>
              <a:t>04</a:t>
            </a:r>
          </a:p>
        </p:txBody>
      </p:sp>
      <p:sp>
        <p:nvSpPr>
          <p:cNvPr id="18" name="TextBox 17"/>
          <p:cNvSpPr txBox="1"/>
          <p:nvPr/>
        </p:nvSpPr>
        <p:spPr>
          <a:xfrm>
            <a:off x="1280160" y="3840479"/>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Build a tiny graph</a:t>
            </a:r>
          </a:p>
        </p:txBody>
      </p:sp>
      <p:sp>
        <p:nvSpPr>
          <p:cNvPr id="19" name="TextBox 18"/>
          <p:cNvSpPr txBox="1"/>
          <p:nvPr/>
        </p:nvSpPr>
        <p:spPr>
          <a:xfrm>
            <a:off x="1280160" y="4160519"/>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Three demos: IT intake → expense branch → HR stream</a:t>
            </a:r>
          </a:p>
        </p:txBody>
      </p:sp>
      <p:sp>
        <p:nvSpPr>
          <p:cNvPr id="20" name="Oval 19"/>
          <p:cNvSpPr/>
          <p:nvPr/>
        </p:nvSpPr>
        <p:spPr>
          <a:xfrm>
            <a:off x="640080" y="470916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782312"/>
            <a:ext cx="384048" cy="256032"/>
          </a:xfrm>
          <a:prstGeom prst="rect">
            <a:avLst/>
          </a:prstGeom>
          <a:noFill/>
        </p:spPr>
        <p:txBody>
          <a:bodyPr wrap="none">
            <a:spAutoFit/>
          </a:bodyPr>
          <a:lstStyle/>
          <a:p>
            <a:pPr algn="ctr"/>
            <a:r>
              <a:rPr sz="1100" b="1">
                <a:solidFill>
                  <a:srgbClr val="E8A33D"/>
                </a:solidFill>
                <a:latin typeface="Calibri"/>
              </a:rPr>
              <a:t>05</a:t>
            </a:r>
          </a:p>
        </p:txBody>
      </p:sp>
      <p:sp>
        <p:nvSpPr>
          <p:cNvPr id="22" name="TextBox 21"/>
          <p:cNvSpPr txBox="1"/>
          <p:nvPr/>
        </p:nvSpPr>
        <p:spPr>
          <a:xfrm>
            <a:off x="1280160" y="470916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Pause tools on purpose</a:t>
            </a:r>
          </a:p>
        </p:txBody>
      </p:sp>
      <p:sp>
        <p:nvSpPr>
          <p:cNvPr id="23" name="TextBox 22"/>
          <p:cNvSpPr txBox="1"/>
          <p:nvPr/>
        </p:nvSpPr>
        <p:spPr>
          <a:xfrm>
            <a:off x="1280160" y="502920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Wiring first; tools return in Lecture 10</a:t>
            </a:r>
          </a:p>
        </p:txBody>
      </p:sp>
      <p:sp>
        <p:nvSpPr>
          <p:cNvPr id="24" name="TextBox 23"/>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Today's agenda</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One idea at a time — every idea has a client-project example</a:t>
            </a:r>
          </a:p>
        </p:txBody>
      </p:sp>
      <p:sp>
        <p:nvSpPr>
          <p:cNvPr id="4" name="Oval 3"/>
          <p:cNvSpPr/>
          <p:nvPr/>
        </p:nvSpPr>
        <p:spPr>
          <a:xfrm>
            <a:off x="640080" y="128016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53312"/>
            <a:ext cx="384048" cy="256032"/>
          </a:xfrm>
          <a:prstGeom prst="rect">
            <a:avLst/>
          </a:prstGeom>
          <a:noFill/>
        </p:spPr>
        <p:txBody>
          <a:bodyPr wrap="none">
            <a:spAutoFit/>
          </a:bodyPr>
          <a:lstStyle/>
          <a:p>
            <a:pPr algn="ctr"/>
            <a:r>
              <a:rPr sz="1100" b="1">
                <a:solidFill>
                  <a:srgbClr val="E8A33D"/>
                </a:solidFill>
                <a:latin typeface="Calibri"/>
              </a:rPr>
              <a:t>01</a:t>
            </a:r>
          </a:p>
        </p:txBody>
      </p:sp>
      <p:sp>
        <p:nvSpPr>
          <p:cNvPr id="6" name="TextBox 5"/>
          <p:cNvSpPr txBox="1"/>
          <p:nvPr/>
        </p:nvSpPr>
        <p:spPr>
          <a:xfrm>
            <a:off x="1280160" y="128016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Recap + clear the confusion</a:t>
            </a:r>
          </a:p>
        </p:txBody>
      </p:sp>
      <p:sp>
        <p:nvSpPr>
          <p:cNvPr id="7" name="TextBox 6"/>
          <p:cNvSpPr txBox="1"/>
          <p:nvPr/>
        </p:nvSpPr>
        <p:spPr>
          <a:xfrm>
            <a:off x="1280160" y="160020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What create_agent really is (LangChain API + LangGraph engine)</a:t>
            </a:r>
          </a:p>
        </p:txBody>
      </p:sp>
      <p:sp>
        <p:nvSpPr>
          <p:cNvPr id="8" name="Oval 7"/>
          <p:cNvSpPr/>
          <p:nvPr/>
        </p:nvSpPr>
        <p:spPr>
          <a:xfrm>
            <a:off x="640080" y="210312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76272"/>
            <a:ext cx="384048" cy="256032"/>
          </a:xfrm>
          <a:prstGeom prst="rect">
            <a:avLst/>
          </a:prstGeom>
          <a:noFill/>
        </p:spPr>
        <p:txBody>
          <a:bodyPr wrap="none">
            <a:spAutoFit/>
          </a:bodyPr>
          <a:lstStyle/>
          <a:p>
            <a:pPr algn="ctr"/>
            <a:r>
              <a:rPr sz="1100" b="1">
                <a:solidFill>
                  <a:srgbClr val="E8A33D"/>
                </a:solidFill>
                <a:latin typeface="Calibri"/>
              </a:rPr>
              <a:t>02</a:t>
            </a:r>
          </a:p>
        </p:txBody>
      </p:sp>
      <p:sp>
        <p:nvSpPr>
          <p:cNvPr id="10" name="TextBox 9"/>
          <p:cNvSpPr txBox="1"/>
          <p:nvPr/>
        </p:nvSpPr>
        <p:spPr>
          <a:xfrm>
            <a:off x="1280160" y="210312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When to use what</a:t>
            </a:r>
          </a:p>
        </p:txBody>
      </p:sp>
      <p:sp>
        <p:nvSpPr>
          <p:cNvPr id="11" name="TextBox 10"/>
          <p:cNvSpPr txBox="1"/>
          <p:nvPr/>
        </p:nvSpPr>
        <p:spPr>
          <a:xfrm>
            <a:off x="1280160" y="242316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HR FAQ vs leave / access / expense gates — detailed stories</a:t>
            </a:r>
          </a:p>
        </p:txBody>
      </p:sp>
      <p:sp>
        <p:nvSpPr>
          <p:cNvPr id="12" name="Oval 11"/>
          <p:cNvSpPr/>
          <p:nvPr/>
        </p:nvSpPr>
        <p:spPr>
          <a:xfrm>
            <a:off x="640080" y="292608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999232"/>
            <a:ext cx="384048" cy="256032"/>
          </a:xfrm>
          <a:prstGeom prst="rect">
            <a:avLst/>
          </a:prstGeom>
          <a:noFill/>
        </p:spPr>
        <p:txBody>
          <a:bodyPr wrap="none">
            <a:spAutoFit/>
          </a:bodyPr>
          <a:lstStyle/>
          <a:p>
            <a:pPr algn="ctr"/>
            <a:r>
              <a:rPr sz="1100" b="1">
                <a:solidFill>
                  <a:srgbClr val="E8A33D"/>
                </a:solidFill>
                <a:latin typeface="Calibri"/>
              </a:rPr>
              <a:t>03</a:t>
            </a:r>
          </a:p>
        </p:txBody>
      </p:sp>
      <p:sp>
        <p:nvSpPr>
          <p:cNvPr id="14" name="TextBox 13"/>
          <p:cNvSpPr txBox="1"/>
          <p:nvPr/>
        </p:nvSpPr>
        <p:spPr>
          <a:xfrm>
            <a:off x="1280160" y="292608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Graph vs chain</a:t>
            </a:r>
          </a:p>
        </p:txBody>
      </p:sp>
      <p:sp>
        <p:nvSpPr>
          <p:cNvPr id="15" name="TextBox 14"/>
          <p:cNvSpPr txBox="1"/>
          <p:nvPr/>
        </p:nvSpPr>
        <p:spPr>
          <a:xfrm>
            <a:off x="1280160" y="324612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Fixed pipeline vs workflow with forks and human review</a:t>
            </a:r>
          </a:p>
        </p:txBody>
      </p:sp>
      <p:sp>
        <p:nvSpPr>
          <p:cNvPr id="16" name="Oval 15"/>
          <p:cNvSpPr/>
          <p:nvPr/>
        </p:nvSpPr>
        <p:spPr>
          <a:xfrm>
            <a:off x="640080" y="374904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822192"/>
            <a:ext cx="384048" cy="256032"/>
          </a:xfrm>
          <a:prstGeom prst="rect">
            <a:avLst/>
          </a:prstGeom>
          <a:noFill/>
        </p:spPr>
        <p:txBody>
          <a:bodyPr wrap="none">
            <a:spAutoFit/>
          </a:bodyPr>
          <a:lstStyle/>
          <a:p>
            <a:pPr algn="ctr"/>
            <a:r>
              <a:rPr sz="1100" b="1">
                <a:solidFill>
                  <a:srgbClr val="E8A33D"/>
                </a:solidFill>
                <a:latin typeface="Calibri"/>
              </a:rPr>
              <a:t>04</a:t>
            </a:r>
          </a:p>
        </p:txBody>
      </p:sp>
      <p:sp>
        <p:nvSpPr>
          <p:cNvPr id="18" name="TextBox 17"/>
          <p:cNvSpPr txBox="1"/>
          <p:nvPr/>
        </p:nvSpPr>
        <p:spPr>
          <a:xfrm>
            <a:off x="1280160" y="374904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StateGraph building blocks</a:t>
            </a:r>
          </a:p>
        </p:txBody>
      </p:sp>
      <p:sp>
        <p:nvSpPr>
          <p:cNvPr id="19" name="TextBox 18"/>
          <p:cNvSpPr txBox="1"/>
          <p:nvPr/>
        </p:nvSpPr>
        <p:spPr>
          <a:xfrm>
            <a:off x="1280160" y="406908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Ticket clipboard, steps, fixed arrows, amount router</a:t>
            </a:r>
          </a:p>
        </p:txBody>
      </p:sp>
      <p:sp>
        <p:nvSpPr>
          <p:cNvPr id="20" name="Oval 19"/>
          <p:cNvSpPr/>
          <p:nvPr/>
        </p:nvSpPr>
        <p:spPr>
          <a:xfrm>
            <a:off x="640080" y="4572000"/>
            <a:ext cx="384048" cy="384048"/>
          </a:xfrm>
          <a:prstGeom prst="ellipse">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645152"/>
            <a:ext cx="384048" cy="256032"/>
          </a:xfrm>
          <a:prstGeom prst="rect">
            <a:avLst/>
          </a:prstGeom>
          <a:noFill/>
        </p:spPr>
        <p:txBody>
          <a:bodyPr wrap="none">
            <a:spAutoFit/>
          </a:bodyPr>
          <a:lstStyle/>
          <a:p>
            <a:pPr algn="ctr"/>
            <a:r>
              <a:rPr sz="1100" b="1">
                <a:solidFill>
                  <a:srgbClr val="E8A33D"/>
                </a:solidFill>
                <a:latin typeface="Calibri"/>
              </a:rPr>
              <a:t>05</a:t>
            </a:r>
          </a:p>
        </p:txBody>
      </p:sp>
      <p:sp>
        <p:nvSpPr>
          <p:cNvPr id="22" name="TextBox 21"/>
          <p:cNvSpPr txBox="1"/>
          <p:nvPr/>
        </p:nvSpPr>
        <p:spPr>
          <a:xfrm>
            <a:off x="1280160" y="4572000"/>
            <a:ext cx="9875520" cy="320040"/>
          </a:xfrm>
          <a:prstGeom prst="rect">
            <a:avLst/>
          </a:prstGeom>
          <a:noFill/>
        </p:spPr>
        <p:txBody>
          <a:bodyPr wrap="square">
            <a:spAutoFit/>
          </a:bodyPr>
          <a:lstStyle/>
          <a:p>
            <a:pPr algn="l">
              <a:spcBef>
                <a:spcPts val="0"/>
              </a:spcBef>
              <a:spcAft>
                <a:spcPts val="0"/>
              </a:spcAft>
            </a:pPr>
            <a:r>
              <a:rPr sz="1600" b="1">
                <a:solidFill>
                  <a:srgbClr val="0E1B2B"/>
                </a:solidFill>
                <a:latin typeface="Cambria"/>
              </a:rPr>
              <a:t>Demos 1 → 2 → 3</a:t>
            </a:r>
          </a:p>
        </p:txBody>
      </p:sp>
      <p:sp>
        <p:nvSpPr>
          <p:cNvPr id="23" name="TextBox 22"/>
          <p:cNvSpPr txBox="1"/>
          <p:nvPr/>
        </p:nvSpPr>
        <p:spPr>
          <a:xfrm>
            <a:off x="1280160" y="4892040"/>
            <a:ext cx="9875520" cy="32004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IT intake · expense branch · HR stream (tools still paused)</a:t>
            </a:r>
          </a:p>
        </p:txBody>
      </p:sp>
      <p:sp>
        <p:nvSpPr>
          <p:cNvPr id="24" name="TextBox 23"/>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1828800"/>
            <a:ext cx="10515600" cy="320040"/>
          </a:xfrm>
          <a:prstGeom prst="rect">
            <a:avLst/>
          </a:prstGeom>
          <a:noFill/>
        </p:spPr>
        <p:txBody>
          <a:bodyPr wrap="square">
            <a:spAutoFit/>
          </a:bodyPr>
          <a:lstStyle/>
          <a:p>
            <a:pPr algn="l">
              <a:spcBef>
                <a:spcPts val="0"/>
              </a:spcBef>
              <a:spcAft>
                <a:spcPts val="0"/>
              </a:spcAft>
            </a:pPr>
            <a:r>
              <a:rPr sz="1400" b="1">
                <a:solidFill>
                  <a:srgbClr val="E8A33D"/>
                </a:solidFill>
                <a:latin typeface="Calibri"/>
              </a:rPr>
              <a:t>PART 1</a:t>
            </a:r>
          </a:p>
        </p:txBody>
      </p:sp>
      <p:sp>
        <p:nvSpPr>
          <p:cNvPr id="3" name="TextBox 2"/>
          <p:cNvSpPr txBox="1"/>
          <p:nvPr/>
        </p:nvSpPr>
        <p:spPr>
          <a:xfrm>
            <a:off x="822960" y="2286000"/>
            <a:ext cx="10515600" cy="914400"/>
          </a:xfrm>
          <a:prstGeom prst="rect">
            <a:avLst/>
          </a:prstGeom>
          <a:noFill/>
        </p:spPr>
        <p:txBody>
          <a:bodyPr wrap="square">
            <a:spAutoFit/>
          </a:bodyPr>
          <a:lstStyle/>
          <a:p>
            <a:pPr algn="l">
              <a:spcBef>
                <a:spcPts val="0"/>
              </a:spcBef>
              <a:spcAft>
                <a:spcPts val="0"/>
              </a:spcAft>
            </a:pPr>
            <a:r>
              <a:rPr sz="3400" b="1">
                <a:solidFill>
                  <a:srgbClr val="FFFFFF"/>
                </a:solidFill>
                <a:latin typeface="Cambria"/>
              </a:rPr>
              <a:t>Clearing the confusion</a:t>
            </a:r>
          </a:p>
        </p:txBody>
      </p:sp>
      <p:sp>
        <p:nvSpPr>
          <p:cNvPr id="4" name="TextBox 3"/>
          <p:cNvSpPr txBox="1"/>
          <p:nvPr/>
        </p:nvSpPr>
        <p:spPr>
          <a:xfrm>
            <a:off x="822960" y="3383280"/>
            <a:ext cx="10058400" cy="914400"/>
          </a:xfrm>
          <a:prstGeom prst="rect">
            <a:avLst/>
          </a:prstGeom>
          <a:noFill/>
        </p:spPr>
        <p:txBody>
          <a:bodyPr wrap="square">
            <a:spAutoFit/>
          </a:bodyPr>
          <a:lstStyle/>
          <a:p>
            <a:pPr algn="l">
              <a:spcBef>
                <a:spcPts val="0"/>
              </a:spcBef>
              <a:spcAft>
                <a:spcPts val="0"/>
              </a:spcAft>
            </a:pPr>
            <a:r>
              <a:rPr sz="1600" b="0">
                <a:solidFill>
                  <a:srgbClr val="CADCFC"/>
                </a:solidFill>
                <a:latin typeface="Calibri"/>
              </a:rPr>
              <a:t>You were not wrong about LangChain — we just open the gearbox today.</a:t>
            </a:r>
          </a:p>
        </p:txBody>
      </p:sp>
      <p:sp>
        <p:nvSpPr>
          <p:cNvPr id="5" name="TextBox 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Recap: what you already used</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Until Lecture 7–8, your agent entry point looked like this</a:t>
            </a:r>
          </a:p>
        </p:txBody>
      </p:sp>
      <p:sp>
        <p:nvSpPr>
          <p:cNvPr id="4" name="Rectangle 3"/>
          <p:cNvSpPr/>
          <p:nvPr/>
        </p:nvSpPr>
        <p:spPr>
          <a:xfrm>
            <a:off x="640080" y="1325880"/>
            <a:ext cx="10972800" cy="146304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463040"/>
            <a:ext cx="10607040" cy="1234440"/>
          </a:xfrm>
          <a:prstGeom prst="rect">
            <a:avLst/>
          </a:prstGeom>
          <a:noFill/>
        </p:spPr>
        <p:txBody>
          <a:bodyPr wrap="square">
            <a:spAutoFit/>
          </a:bodyPr>
          <a:lstStyle/>
          <a:p>
            <a:pPr>
              <a:spcBef>
                <a:spcPts val="100"/>
              </a:spcBef>
              <a:spcAft>
                <a:spcPts val="100"/>
              </a:spcAft>
            </a:pPr>
            <a:r>
              <a:rPr sz="1400" b="0">
                <a:solidFill>
                  <a:srgbClr val="CADCFC"/>
                </a:solidFill>
                <a:latin typeface="Courier New"/>
              </a:rPr>
              <a:t>from langchain.agents import create_agent</a:t>
            </a:r>
          </a:p>
          <a:p>
            <a:pPr>
              <a:spcBef>
                <a:spcPts val="100"/>
              </a:spcBef>
              <a:spcAft>
                <a:spcPts val="100"/>
              </a:spcAft>
            </a:pPr>
            <a:endParaRPr sz="1400" b="0">
              <a:solidFill>
                <a:srgbClr val="CADCFC"/>
              </a:solidFill>
              <a:latin typeface="Courier New"/>
            </a:endParaRPr>
          </a:p>
          <a:p>
            <a:pPr>
              <a:spcBef>
                <a:spcPts val="100"/>
              </a:spcBef>
              <a:spcAft>
                <a:spcPts val="100"/>
              </a:spcAft>
            </a:pPr>
            <a:r>
              <a:rPr sz="1400" b="0">
                <a:solidFill>
                  <a:srgbClr val="CADCFC"/>
                </a:solidFill>
                <a:latin typeface="Courier New"/>
              </a:rPr>
              <a:t>agent = create_agent(model=llm, tools=[...])</a:t>
            </a:r>
          </a:p>
          <a:p>
            <a:pPr>
              <a:spcBef>
                <a:spcPts val="100"/>
              </a:spcBef>
              <a:spcAft>
                <a:spcPts val="100"/>
              </a:spcAft>
            </a:pPr>
            <a:r>
              <a:rPr sz="1400" b="0">
                <a:solidFill>
                  <a:srgbClr val="CADCFC"/>
                </a:solidFill>
                <a:latin typeface="Courier New"/>
              </a:rPr>
              <a:t>result = agent.invoke({"messages": [("user", "...")]})</a:t>
            </a:r>
          </a:p>
        </p:txBody>
      </p:sp>
      <p:sp>
        <p:nvSpPr>
          <p:cNvPr id="6" name="TextBox 5"/>
          <p:cNvSpPr txBox="1"/>
          <p:nvPr/>
        </p:nvSpPr>
        <p:spPr>
          <a:xfrm>
            <a:off x="777240" y="3063240"/>
            <a:ext cx="10515600" cy="1463040"/>
          </a:xfrm>
          <a:prstGeom prst="rect">
            <a:avLst/>
          </a:prstGeom>
          <a:noFill/>
        </p:spPr>
        <p:txBody>
          <a:bodyPr wrap="square">
            <a:spAutoFit/>
          </a:bodyPr>
          <a:lstStyle/>
          <a:p>
            <a:pPr algn="l">
              <a:spcBef>
                <a:spcPts val="400"/>
              </a:spcBef>
              <a:spcAft>
                <a:spcPts val="200"/>
              </a:spcAft>
            </a:pPr>
            <a:r>
              <a:rPr sz="1500" b="0">
                <a:solidFill>
                  <a:srgbClr val="0E1B2B"/>
                </a:solidFill>
                <a:latin typeface="Calibri"/>
              </a:rPr>
              <a:t>•  You import it from langchain.agents — that is a LangChain API.</a:t>
            </a:r>
          </a:p>
          <a:p>
            <a:pPr algn="l">
              <a:spcBef>
                <a:spcPts val="400"/>
              </a:spcBef>
              <a:spcAft>
                <a:spcPts val="200"/>
              </a:spcAft>
            </a:pPr>
            <a:r>
              <a:rPr sz="1500" b="0">
                <a:solidFill>
                  <a:srgbClr val="0E1B2B"/>
                </a:solidFill>
                <a:latin typeface="Calibri"/>
              </a:rPr>
              <a:t>•  It gave you the standard agent loop: think → use a tool → observe → answer.</a:t>
            </a:r>
          </a:p>
          <a:p>
            <a:pPr algn="l">
              <a:spcBef>
                <a:spcPts val="400"/>
              </a:spcBef>
              <a:spcAft>
                <a:spcPts val="200"/>
              </a:spcAft>
            </a:pPr>
            <a:r>
              <a:rPr sz="1500" b="0">
                <a:solidFill>
                  <a:srgbClr val="0E1B2B"/>
                </a:solidFill>
                <a:latin typeface="Calibri"/>
              </a:rPr>
              <a:t>•  Nothing about that import was wrong. L9 does not throw LangChain away.</a:t>
            </a:r>
          </a:p>
        </p:txBody>
      </p:sp>
      <p:sp>
        <p:nvSpPr>
          <p:cNvPr id="7" name="Rounded Rectangle 6"/>
          <p:cNvSpPr/>
          <p:nvPr/>
        </p:nvSpPr>
        <p:spPr>
          <a:xfrm>
            <a:off x="548640" y="4709160"/>
            <a:ext cx="11064240" cy="13258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4818888"/>
            <a:ext cx="10698480" cy="11430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An employee opens the company HR chatbot and types "How many leave days do I have?" A create_agent bot calls get_leave_balance, reads "14 days remaining," and replies in plain English. They got an answer. Nobody drew a flowchart. That is the win when the answer is the product.</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The confusion, resolved</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Two layers — not two competing products</a:t>
            </a:r>
          </a:p>
        </p:txBody>
      </p:sp>
      <p:sp>
        <p:nvSpPr>
          <p:cNvPr id="4" name="Rounded Rectangle 3"/>
          <p:cNvSpPr/>
          <p:nvPr/>
        </p:nvSpPr>
        <p:spPr>
          <a:xfrm>
            <a:off x="502920" y="1325880"/>
            <a:ext cx="3657600" cy="32918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54480"/>
            <a:ext cx="3200400" cy="411480"/>
          </a:xfrm>
          <a:prstGeom prst="rect">
            <a:avLst/>
          </a:prstGeom>
          <a:noFill/>
        </p:spPr>
        <p:txBody>
          <a:bodyPr wrap="square">
            <a:spAutoFit/>
          </a:bodyPr>
          <a:lstStyle/>
          <a:p>
            <a:pPr algn="l">
              <a:spcBef>
                <a:spcPts val="0"/>
              </a:spcBef>
              <a:spcAft>
                <a:spcPts val="0"/>
              </a:spcAft>
            </a:pPr>
            <a:r>
              <a:rPr sz="1600" b="1">
                <a:solidFill>
                  <a:srgbClr val="E8A33D"/>
                </a:solidFill>
                <a:latin typeface="Cambria"/>
              </a:rPr>
              <a:t>LangChain API</a:t>
            </a:r>
          </a:p>
        </p:txBody>
      </p:sp>
      <p:sp>
        <p:nvSpPr>
          <p:cNvPr id="6" name="TextBox 5"/>
          <p:cNvSpPr txBox="1"/>
          <p:nvPr/>
        </p:nvSpPr>
        <p:spPr>
          <a:xfrm>
            <a:off x="731520" y="2148840"/>
            <a:ext cx="3200400" cy="219456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create_agent lives here.
You import it from
langchain.agents.
This is what you call.</a:t>
            </a:r>
          </a:p>
        </p:txBody>
      </p:sp>
      <p:sp>
        <p:nvSpPr>
          <p:cNvPr id="7" name="Rounded Rectangle 6"/>
          <p:cNvSpPr/>
          <p:nvPr/>
        </p:nvSpPr>
        <p:spPr>
          <a:xfrm>
            <a:off x="4343400" y="1325880"/>
            <a:ext cx="3657600" cy="32918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554480"/>
            <a:ext cx="3200400" cy="411480"/>
          </a:xfrm>
          <a:prstGeom prst="rect">
            <a:avLst/>
          </a:prstGeom>
          <a:noFill/>
        </p:spPr>
        <p:txBody>
          <a:bodyPr wrap="square">
            <a:spAutoFit/>
          </a:bodyPr>
          <a:lstStyle/>
          <a:p>
            <a:pPr algn="l">
              <a:spcBef>
                <a:spcPts val="0"/>
              </a:spcBef>
              <a:spcAft>
                <a:spcPts val="0"/>
              </a:spcAft>
            </a:pPr>
            <a:r>
              <a:rPr sz="1600" b="1">
                <a:solidFill>
                  <a:srgbClr val="E8A33D"/>
                </a:solidFill>
                <a:latin typeface="Cambria"/>
              </a:rPr>
              <a:t>LangGraph engine</a:t>
            </a:r>
          </a:p>
        </p:txBody>
      </p:sp>
      <p:sp>
        <p:nvSpPr>
          <p:cNvPr id="9" name="TextBox 8"/>
          <p:cNvSpPr txBox="1"/>
          <p:nvPr/>
        </p:nvSpPr>
        <p:spPr>
          <a:xfrm>
            <a:off x="4572000" y="2148840"/>
            <a:ext cx="3200400" cy="219456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Under the hood, LangChain 1.x
uses LangGraph to run the
agent loop: state, steps,
and memory checkpoints.</a:t>
            </a:r>
          </a:p>
        </p:txBody>
      </p:sp>
      <p:sp>
        <p:nvSpPr>
          <p:cNvPr id="10" name="Rounded Rectangle 9"/>
          <p:cNvSpPr/>
          <p:nvPr/>
        </p:nvSpPr>
        <p:spPr>
          <a:xfrm>
            <a:off x="8183880" y="1325880"/>
            <a:ext cx="3657600" cy="32918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0" y="1554480"/>
            <a:ext cx="3200400" cy="411480"/>
          </a:xfrm>
          <a:prstGeom prst="rect">
            <a:avLst/>
          </a:prstGeom>
          <a:noFill/>
        </p:spPr>
        <p:txBody>
          <a:bodyPr wrap="square">
            <a:spAutoFit/>
          </a:bodyPr>
          <a:lstStyle/>
          <a:p>
            <a:pPr algn="l">
              <a:spcBef>
                <a:spcPts val="0"/>
              </a:spcBef>
              <a:spcAft>
                <a:spcPts val="0"/>
              </a:spcAft>
            </a:pPr>
            <a:r>
              <a:rPr sz="1600" b="1">
                <a:solidFill>
                  <a:srgbClr val="E8A33D"/>
                </a:solidFill>
                <a:latin typeface="Cambria"/>
              </a:rPr>
              <a:t>Today (L9)</a:t>
            </a:r>
          </a:p>
        </p:txBody>
      </p:sp>
      <p:sp>
        <p:nvSpPr>
          <p:cNvPr id="12" name="TextBox 11"/>
          <p:cNvSpPr txBox="1"/>
          <p:nvPr/>
        </p:nvSpPr>
        <p:spPr>
          <a:xfrm>
            <a:off x="8412480" y="2148840"/>
            <a:ext cx="3200400" cy="219456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We open that engine.
You learn StateGraph so you
can draw your own flowchart
when the default loop is not enough.</a:t>
            </a:r>
          </a:p>
        </p:txBody>
      </p:sp>
      <p:sp>
        <p:nvSpPr>
          <p:cNvPr id="13" name="Rounded Rectangle 12"/>
          <p:cNvSpPr/>
          <p:nvPr/>
        </p:nvSpPr>
        <p:spPr>
          <a:xfrm>
            <a:off x="502920" y="4846320"/>
            <a:ext cx="11155680" cy="118872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 y="4956048"/>
            <a:ext cx="10789920" cy="100584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Think of create_agent as the "standard support bot" button your SaaS client ships — LangChain is the product API. Behind it, a fixed agent flowchart (LangGraph) already runs. Tonight you open that engine and learn to draw a custom workflow yourself when business gates appear.</a:t>
            </a:r>
          </a:p>
        </p:txBody>
      </p:sp>
      <p:sp>
        <p:nvSpPr>
          <p:cNvPr id="15" name="TextBox 1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Everyday analogy: the SaaS support stack</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Keep this picture — it clears most of the confusion</a:t>
            </a:r>
          </a:p>
        </p:txBody>
      </p:sp>
      <p:sp>
        <p:nvSpPr>
          <p:cNvPr id="4" name="Rectangle 3"/>
          <p:cNvSpPr/>
          <p:nvPr/>
        </p:nvSpPr>
        <p:spPr>
          <a:xfrm>
            <a:off x="548640" y="1325880"/>
            <a:ext cx="274320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80744"/>
            <a:ext cx="257860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PIECE</a:t>
            </a:r>
          </a:p>
        </p:txBody>
      </p:sp>
      <p:sp>
        <p:nvSpPr>
          <p:cNvPr id="6" name="Rectangle 5"/>
          <p:cNvSpPr/>
          <p:nvPr/>
        </p:nvSpPr>
        <p:spPr>
          <a:xfrm>
            <a:off x="3291840" y="1325880"/>
            <a:ext cx="841248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83280" y="1380744"/>
            <a:ext cx="824788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CLIENT-PROJECT MEANING</a:t>
            </a:r>
          </a:p>
        </p:txBody>
      </p:sp>
      <p:sp>
        <p:nvSpPr>
          <p:cNvPr id="8" name="Rectangle 7"/>
          <p:cNvSpPr/>
          <p:nvPr/>
        </p:nvSpPr>
        <p:spPr>
          <a:xfrm>
            <a:off x="548640" y="1673352"/>
            <a:ext cx="2743200" cy="6858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673352"/>
            <a:ext cx="45720" cy="6858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46504"/>
            <a:ext cx="2578608" cy="594360"/>
          </a:xfrm>
          <a:prstGeom prst="rect">
            <a:avLst/>
          </a:prstGeom>
          <a:noFill/>
        </p:spPr>
        <p:txBody>
          <a:bodyPr wrap="square">
            <a:spAutoFit/>
          </a:bodyPr>
          <a:lstStyle/>
          <a:p>
            <a:pPr algn="l">
              <a:spcBef>
                <a:spcPts val="0"/>
              </a:spcBef>
              <a:spcAft>
                <a:spcPts val="0"/>
              </a:spcAft>
            </a:pPr>
            <a:r>
              <a:rPr sz="1500" b="0">
                <a:solidFill>
                  <a:srgbClr val="0E1B2B"/>
                </a:solidFill>
                <a:latin typeface="Calibri"/>
              </a:rPr>
              <a:t>LangChain</a:t>
            </a:r>
          </a:p>
        </p:txBody>
      </p:sp>
      <p:sp>
        <p:nvSpPr>
          <p:cNvPr id="11" name="Rectangle 10"/>
          <p:cNvSpPr/>
          <p:nvPr/>
        </p:nvSpPr>
        <p:spPr>
          <a:xfrm>
            <a:off x="3291840" y="1673352"/>
            <a:ext cx="8412480" cy="6858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0" y="1746504"/>
            <a:ext cx="8247888" cy="594360"/>
          </a:xfrm>
          <a:prstGeom prst="rect">
            <a:avLst/>
          </a:prstGeom>
          <a:noFill/>
        </p:spPr>
        <p:txBody>
          <a:bodyPr wrap="square">
            <a:spAutoFit/>
          </a:bodyPr>
          <a:lstStyle/>
          <a:p>
            <a:pPr algn="l">
              <a:spcBef>
                <a:spcPts val="0"/>
              </a:spcBef>
              <a:spcAft>
                <a:spcPts val="0"/>
              </a:spcAft>
            </a:pPr>
            <a:r>
              <a:rPr sz="1500" b="0">
                <a:solidFill>
                  <a:srgbClr val="0E1B2B"/>
                </a:solidFill>
                <a:latin typeface="Calibri"/>
              </a:rPr>
              <a:t>Building blocks — LLM, prompts, tools, retrievers</a:t>
            </a:r>
          </a:p>
        </p:txBody>
      </p:sp>
      <p:sp>
        <p:nvSpPr>
          <p:cNvPr id="13" name="Rectangle 12"/>
          <p:cNvSpPr/>
          <p:nvPr/>
        </p:nvSpPr>
        <p:spPr>
          <a:xfrm>
            <a:off x="548640" y="2359152"/>
            <a:ext cx="27432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2359152"/>
            <a:ext cx="45720" cy="6858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2432304"/>
            <a:ext cx="2578608" cy="594360"/>
          </a:xfrm>
          <a:prstGeom prst="rect">
            <a:avLst/>
          </a:prstGeom>
          <a:noFill/>
        </p:spPr>
        <p:txBody>
          <a:bodyPr wrap="square">
            <a:spAutoFit/>
          </a:bodyPr>
          <a:lstStyle/>
          <a:p>
            <a:pPr algn="l">
              <a:spcBef>
                <a:spcPts val="0"/>
              </a:spcBef>
              <a:spcAft>
                <a:spcPts val="0"/>
              </a:spcAft>
            </a:pPr>
            <a:r>
              <a:rPr sz="1500" b="0">
                <a:solidFill>
                  <a:srgbClr val="0E1B2B"/>
                </a:solidFill>
                <a:latin typeface="Calibri"/>
              </a:rPr>
              <a:t>create_agent</a:t>
            </a:r>
          </a:p>
        </p:txBody>
      </p:sp>
      <p:sp>
        <p:nvSpPr>
          <p:cNvPr id="16" name="Rectangle 15"/>
          <p:cNvSpPr/>
          <p:nvPr/>
        </p:nvSpPr>
        <p:spPr>
          <a:xfrm>
            <a:off x="3291840" y="2359152"/>
            <a:ext cx="841248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2432304"/>
            <a:ext cx="8247888" cy="594360"/>
          </a:xfrm>
          <a:prstGeom prst="rect">
            <a:avLst/>
          </a:prstGeom>
          <a:noFill/>
        </p:spPr>
        <p:txBody>
          <a:bodyPr wrap="square">
            <a:spAutoFit/>
          </a:bodyPr>
          <a:lstStyle/>
          <a:p>
            <a:pPr algn="l">
              <a:spcBef>
                <a:spcPts val="0"/>
              </a:spcBef>
              <a:spcAft>
                <a:spcPts val="0"/>
              </a:spcAft>
            </a:pPr>
            <a:r>
              <a:rPr sz="1500" b="0">
                <a:solidFill>
                  <a:srgbClr val="0E1B2B"/>
                </a:solidFill>
                <a:latin typeface="Calibri"/>
              </a:rPr>
              <a:t>"Standard agent loop" button — think → tool → answer</a:t>
            </a:r>
          </a:p>
        </p:txBody>
      </p:sp>
      <p:sp>
        <p:nvSpPr>
          <p:cNvPr id="18" name="Rectangle 17"/>
          <p:cNvSpPr/>
          <p:nvPr/>
        </p:nvSpPr>
        <p:spPr>
          <a:xfrm>
            <a:off x="548640" y="3044952"/>
            <a:ext cx="2743200" cy="6858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3044952"/>
            <a:ext cx="45720" cy="6858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3118104"/>
            <a:ext cx="2578608" cy="594360"/>
          </a:xfrm>
          <a:prstGeom prst="rect">
            <a:avLst/>
          </a:prstGeom>
          <a:noFill/>
        </p:spPr>
        <p:txBody>
          <a:bodyPr wrap="square">
            <a:spAutoFit/>
          </a:bodyPr>
          <a:lstStyle/>
          <a:p>
            <a:pPr algn="l">
              <a:spcBef>
                <a:spcPts val="0"/>
              </a:spcBef>
              <a:spcAft>
                <a:spcPts val="0"/>
              </a:spcAft>
            </a:pPr>
            <a:r>
              <a:rPr sz="1500" b="0">
                <a:solidFill>
                  <a:srgbClr val="0E1B2B"/>
                </a:solidFill>
                <a:latin typeface="Calibri"/>
              </a:rPr>
              <a:t>LangGraph</a:t>
            </a:r>
          </a:p>
        </p:txBody>
      </p:sp>
      <p:sp>
        <p:nvSpPr>
          <p:cNvPr id="21" name="Rectangle 20"/>
          <p:cNvSpPr/>
          <p:nvPr/>
        </p:nvSpPr>
        <p:spPr>
          <a:xfrm>
            <a:off x="3291840" y="3044952"/>
            <a:ext cx="8412480" cy="6858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0" y="3118104"/>
            <a:ext cx="8247888" cy="594360"/>
          </a:xfrm>
          <a:prstGeom prst="rect">
            <a:avLst/>
          </a:prstGeom>
          <a:noFill/>
        </p:spPr>
        <p:txBody>
          <a:bodyPr wrap="square">
            <a:spAutoFit/>
          </a:bodyPr>
          <a:lstStyle/>
          <a:p>
            <a:pPr algn="l">
              <a:spcBef>
                <a:spcPts val="0"/>
              </a:spcBef>
              <a:spcAft>
                <a:spcPts val="0"/>
              </a:spcAft>
            </a:pPr>
            <a:r>
              <a:rPr sz="1500" b="0">
                <a:solidFill>
                  <a:srgbClr val="0E1B2B"/>
                </a:solidFill>
                <a:latin typeface="Calibri"/>
              </a:rPr>
              <a:t>Writing your own workflow when the default loop is not enough</a:t>
            </a:r>
          </a:p>
        </p:txBody>
      </p:sp>
      <p:sp>
        <p:nvSpPr>
          <p:cNvPr id="23" name="Rounded Rectangle 22"/>
          <p:cNvSpPr/>
          <p:nvPr/>
        </p:nvSpPr>
        <p:spPr>
          <a:xfrm>
            <a:off x="548640" y="4114800"/>
            <a:ext cx="11064240" cy="19202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4224528"/>
            <a:ext cx="10698480" cy="173736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Your client ships an HR helpdesk bot. create_agent handles leave-balance FAQs perfectly. But the same client also needs: leave request → if days &gt; 5 wait for manager → approve path or reject path; and IT access to production systems must always pause for approval. That custom path is not on the standard button. You need your own workflow flowchart. That is StateGraph.</a:t>
            </a:r>
          </a:p>
        </p:txBody>
      </p:sp>
      <p:sp>
        <p:nvSpPr>
          <p:cNvPr id="25" name="TextBox 2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Outside vs inside</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Same agent — two views of the same thing</a:t>
            </a:r>
          </a:p>
        </p:txBody>
      </p:sp>
      <p:sp>
        <p:nvSpPr>
          <p:cNvPr id="4" name="Rounded Rectangle 3"/>
          <p:cNvSpPr/>
          <p:nvPr/>
        </p:nvSpPr>
        <p:spPr>
          <a:xfrm>
            <a:off x="548640" y="1371600"/>
            <a:ext cx="5394960" cy="32004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600200"/>
            <a:ext cx="4937760" cy="365760"/>
          </a:xfrm>
          <a:prstGeom prst="rect">
            <a:avLst/>
          </a:prstGeom>
          <a:noFill/>
        </p:spPr>
        <p:txBody>
          <a:bodyPr wrap="square">
            <a:spAutoFit/>
          </a:bodyPr>
          <a:lstStyle/>
          <a:p>
            <a:pPr algn="l">
              <a:spcBef>
                <a:spcPts val="0"/>
              </a:spcBef>
              <a:spcAft>
                <a:spcPts val="0"/>
              </a:spcAft>
            </a:pPr>
            <a:r>
              <a:rPr sz="1600" b="1">
                <a:solidFill>
                  <a:srgbClr val="E8A33D"/>
                </a:solidFill>
                <a:latin typeface="Cambria"/>
              </a:rPr>
              <a:t>OUTSIDE (what you wrote)</a:t>
            </a:r>
          </a:p>
        </p:txBody>
      </p:sp>
      <p:sp>
        <p:nvSpPr>
          <p:cNvPr id="6" name="TextBox 5"/>
          <p:cNvSpPr txBox="1"/>
          <p:nvPr/>
        </p:nvSpPr>
        <p:spPr>
          <a:xfrm>
            <a:off x="777240" y="2148840"/>
            <a:ext cx="4937760" cy="2194560"/>
          </a:xfrm>
          <a:prstGeom prst="rect">
            <a:avLst/>
          </a:prstGeom>
          <a:noFill/>
        </p:spPr>
        <p:txBody>
          <a:bodyPr wrap="square">
            <a:spAutoFit/>
          </a:bodyPr>
          <a:lstStyle/>
          <a:p>
            <a:pPr algn="l">
              <a:spcBef>
                <a:spcPts val="400"/>
              </a:spcBef>
              <a:spcAft>
                <a:spcPts val="200"/>
              </a:spcAft>
            </a:pPr>
            <a:r>
              <a:rPr sz="1400" b="0">
                <a:solidFill>
                  <a:srgbClr val="0E1B2B"/>
                </a:solidFill>
                <a:latin typeface="Calibri"/>
              </a:rPr>
              <a:t>•  from langchain.agents import create_agent</a:t>
            </a:r>
          </a:p>
          <a:p>
            <a:pPr algn="l">
              <a:spcBef>
                <a:spcPts val="400"/>
              </a:spcBef>
              <a:spcAft>
                <a:spcPts val="200"/>
              </a:spcAft>
            </a:pPr>
            <a:r>
              <a:rPr sz="1400" b="0">
                <a:solidFill>
                  <a:srgbClr val="0E1B2B"/>
                </a:solidFill>
                <a:latin typeface="Calibri"/>
              </a:rPr>
              <a:t>•  Pass a model + tools</a:t>
            </a:r>
          </a:p>
          <a:p>
            <a:pPr algn="l">
              <a:spcBef>
                <a:spcPts val="400"/>
              </a:spcBef>
              <a:spcAft>
                <a:spcPts val="200"/>
              </a:spcAft>
            </a:pPr>
            <a:r>
              <a:rPr sz="1400" b="0">
                <a:solidFill>
                  <a:srgbClr val="0E1B2B"/>
                </a:solidFill>
                <a:latin typeface="Calibri"/>
              </a:rPr>
              <a:t>•  Call invoke / stream</a:t>
            </a:r>
          </a:p>
          <a:p>
            <a:pPr algn="l">
              <a:spcBef>
                <a:spcPts val="400"/>
              </a:spcBef>
              <a:spcAft>
                <a:spcPts val="200"/>
              </a:spcAft>
            </a:pPr>
            <a:r>
              <a:rPr sz="1400" b="0">
                <a:solidFill>
                  <a:srgbClr val="0E1B2B"/>
                </a:solidFill>
                <a:latin typeface="Calibri"/>
              </a:rPr>
              <a:t>•  You get answers — no graph drawing</a:t>
            </a:r>
          </a:p>
        </p:txBody>
      </p:sp>
      <p:sp>
        <p:nvSpPr>
          <p:cNvPr id="7" name="Rounded Rectangle 6"/>
          <p:cNvSpPr/>
          <p:nvPr/>
        </p:nvSpPr>
        <p:spPr>
          <a:xfrm>
            <a:off x="6217920" y="1371600"/>
            <a:ext cx="5394960" cy="32004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600200"/>
            <a:ext cx="4937760" cy="365760"/>
          </a:xfrm>
          <a:prstGeom prst="rect">
            <a:avLst/>
          </a:prstGeom>
          <a:noFill/>
        </p:spPr>
        <p:txBody>
          <a:bodyPr wrap="square">
            <a:spAutoFit/>
          </a:bodyPr>
          <a:lstStyle/>
          <a:p>
            <a:pPr algn="l">
              <a:spcBef>
                <a:spcPts val="0"/>
              </a:spcBef>
              <a:spcAft>
                <a:spcPts val="0"/>
              </a:spcAft>
            </a:pPr>
            <a:r>
              <a:rPr sz="1600" b="1">
                <a:solidFill>
                  <a:srgbClr val="E8A33D"/>
                </a:solidFill>
                <a:latin typeface="Cambria"/>
              </a:rPr>
              <a:t>INSIDE (what ran for you)</a:t>
            </a:r>
          </a:p>
        </p:txBody>
      </p:sp>
      <p:sp>
        <p:nvSpPr>
          <p:cNvPr id="9" name="TextBox 8"/>
          <p:cNvSpPr txBox="1"/>
          <p:nvPr/>
        </p:nvSpPr>
        <p:spPr>
          <a:xfrm>
            <a:off x="6446520" y="2148840"/>
            <a:ext cx="4937760" cy="2194560"/>
          </a:xfrm>
          <a:prstGeom prst="rect">
            <a:avLst/>
          </a:prstGeom>
          <a:noFill/>
        </p:spPr>
        <p:txBody>
          <a:bodyPr wrap="square">
            <a:spAutoFit/>
          </a:bodyPr>
          <a:lstStyle/>
          <a:p>
            <a:pPr algn="l">
              <a:spcBef>
                <a:spcPts val="400"/>
              </a:spcBef>
              <a:spcAft>
                <a:spcPts val="200"/>
              </a:spcAft>
            </a:pPr>
            <a:r>
              <a:rPr sz="1400" b="0">
                <a:solidFill>
                  <a:srgbClr val="0E1B2B"/>
                </a:solidFill>
                <a:latin typeface="Calibri"/>
              </a:rPr>
              <a:t>•  A compiled LangGraph StateGraph</a:t>
            </a:r>
          </a:p>
          <a:p>
            <a:pPr algn="l">
              <a:spcBef>
                <a:spcPts val="400"/>
              </a:spcBef>
              <a:spcAft>
                <a:spcPts val="200"/>
              </a:spcAft>
            </a:pPr>
            <a:r>
              <a:rPr sz="1400" b="0">
                <a:solidFill>
                  <a:srgbClr val="0E1B2B"/>
                </a:solidFill>
                <a:latin typeface="Calibri"/>
              </a:rPr>
              <a:t>•  Shared state (messages, etc.)</a:t>
            </a:r>
          </a:p>
          <a:p>
            <a:pPr algn="l">
              <a:spcBef>
                <a:spcPts val="400"/>
              </a:spcBef>
              <a:spcAft>
                <a:spcPts val="200"/>
              </a:spcAft>
            </a:pPr>
            <a:r>
              <a:rPr sz="1400" b="0">
                <a:solidFill>
                  <a:srgbClr val="0E1B2B"/>
                </a:solidFill>
                <a:latin typeface="Calibri"/>
              </a:rPr>
              <a:t>•  Steps: model → tools → model…</a:t>
            </a:r>
          </a:p>
          <a:p>
            <a:pPr algn="l">
              <a:spcBef>
                <a:spcPts val="400"/>
              </a:spcBef>
              <a:spcAft>
                <a:spcPts val="200"/>
              </a:spcAft>
            </a:pPr>
            <a:r>
              <a:rPr sz="1400" b="0">
                <a:solidFill>
                  <a:srgbClr val="0E1B2B"/>
                </a:solidFill>
                <a:latin typeface="Calibri"/>
              </a:rPr>
              <a:t>•  Checkpoints for memory (L6)</a:t>
            </a:r>
          </a:p>
        </p:txBody>
      </p:sp>
      <p:sp>
        <p:nvSpPr>
          <p:cNvPr id="10" name="Rounded Rectangle 9"/>
          <p:cNvSpPr/>
          <p:nvPr/>
        </p:nvSpPr>
        <p:spPr>
          <a:xfrm>
            <a:off x="548640" y="4800600"/>
            <a:ext cx="11064240" cy="12344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4910328"/>
            <a:ext cx="10698480" cy="105156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You called create_agent and got a working HR FAQ bot. Inside, LangGraph still ran a fixed sequence of steps. L9 is when you stop only pressing that button and start drawing which step comes after which — for the cases the default loop cannot handle (manager gates, named audit paths).</a:t>
            </a:r>
          </a:p>
        </p:txBody>
      </p:sp>
      <p:sp>
        <p:nvSpPr>
          <p:cNvPr id="12" name="TextBox 11"/>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1828800"/>
            <a:ext cx="10515600" cy="320040"/>
          </a:xfrm>
          <a:prstGeom prst="rect">
            <a:avLst/>
          </a:prstGeom>
          <a:noFill/>
        </p:spPr>
        <p:txBody>
          <a:bodyPr wrap="square">
            <a:spAutoFit/>
          </a:bodyPr>
          <a:lstStyle/>
          <a:p>
            <a:pPr algn="l">
              <a:spcBef>
                <a:spcPts val="0"/>
              </a:spcBef>
              <a:spcAft>
                <a:spcPts val="0"/>
              </a:spcAft>
            </a:pPr>
            <a:r>
              <a:rPr sz="1400" b="1">
                <a:solidFill>
                  <a:srgbClr val="E8A33D"/>
                </a:solidFill>
                <a:latin typeface="Calibri"/>
              </a:rPr>
              <a:t>PART 2</a:t>
            </a:r>
          </a:p>
        </p:txBody>
      </p:sp>
      <p:sp>
        <p:nvSpPr>
          <p:cNvPr id="3" name="TextBox 2"/>
          <p:cNvSpPr txBox="1"/>
          <p:nvPr/>
        </p:nvSpPr>
        <p:spPr>
          <a:xfrm>
            <a:off x="822960" y="2286000"/>
            <a:ext cx="10515600" cy="914400"/>
          </a:xfrm>
          <a:prstGeom prst="rect">
            <a:avLst/>
          </a:prstGeom>
          <a:noFill/>
        </p:spPr>
        <p:txBody>
          <a:bodyPr wrap="square">
            <a:spAutoFit/>
          </a:bodyPr>
          <a:lstStyle/>
          <a:p>
            <a:pPr algn="l">
              <a:spcBef>
                <a:spcPts val="0"/>
              </a:spcBef>
              <a:spcAft>
                <a:spcPts val="0"/>
              </a:spcAft>
            </a:pPr>
            <a:r>
              <a:rPr sz="3400" b="1">
                <a:solidFill>
                  <a:srgbClr val="FFFFFF"/>
                </a:solidFill>
                <a:latin typeface="Cambria"/>
              </a:rPr>
              <a:t>When to use what</a:t>
            </a:r>
          </a:p>
        </p:txBody>
      </p:sp>
      <p:sp>
        <p:nvSpPr>
          <p:cNvPr id="4" name="TextBox 3"/>
          <p:cNvSpPr txBox="1"/>
          <p:nvPr/>
        </p:nvSpPr>
        <p:spPr>
          <a:xfrm>
            <a:off x="822960" y="3383280"/>
            <a:ext cx="10058400" cy="914400"/>
          </a:xfrm>
          <a:prstGeom prst="rect">
            <a:avLst/>
          </a:prstGeom>
          <a:noFill/>
        </p:spPr>
        <p:txBody>
          <a:bodyPr wrap="square">
            <a:spAutoFit/>
          </a:bodyPr>
          <a:lstStyle/>
          <a:p>
            <a:pPr algn="l">
              <a:spcBef>
                <a:spcPts val="0"/>
              </a:spcBef>
              <a:spcAft>
                <a:spcPts val="0"/>
              </a:spcAft>
            </a:pPr>
            <a:r>
              <a:rPr sz="1600" b="0">
                <a:solidFill>
                  <a:srgbClr val="CADCFC"/>
                </a:solidFill>
                <a:latin typeface="Calibri"/>
              </a:rPr>
              <a:t>create_agent when the answer is the product. StateGraph when the flowchart is the product.</a:t>
            </a:r>
          </a:p>
        </p:txBody>
      </p:sp>
      <p:sp>
        <p:nvSpPr>
          <p:cNvPr id="5" name="TextBox 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When create_agent is enough</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The answer is the product — the standard think→tool→observe loop fits</a:t>
            </a:r>
          </a:p>
        </p:txBody>
      </p:sp>
      <p:sp>
        <p:nvSpPr>
          <p:cNvPr id="4" name="TextBox 3"/>
          <p:cNvSpPr txBox="1"/>
          <p:nvPr/>
        </p:nvSpPr>
        <p:spPr>
          <a:xfrm>
            <a:off x="777240" y="1280160"/>
            <a:ext cx="10515600" cy="2194560"/>
          </a:xfrm>
          <a:prstGeom prst="rect">
            <a:avLst/>
          </a:prstGeom>
          <a:noFill/>
        </p:spPr>
        <p:txBody>
          <a:bodyPr wrap="square">
            <a:spAutoFit/>
          </a:bodyPr>
          <a:lstStyle/>
          <a:p>
            <a:pPr algn="l">
              <a:spcBef>
                <a:spcPts val="400"/>
              </a:spcBef>
              <a:spcAft>
                <a:spcPts val="200"/>
              </a:spcAft>
            </a:pPr>
            <a:r>
              <a:rPr sz="1500" b="0">
                <a:solidFill>
                  <a:srgbClr val="0E1B2B"/>
                </a:solidFill>
                <a:latin typeface="Calibri"/>
              </a:rPr>
              <a:t>•  The user wants a clear answer or lookup — not a multi-gate business process.</a:t>
            </a:r>
          </a:p>
          <a:p>
            <a:pPr algn="l">
              <a:spcBef>
                <a:spcPts val="400"/>
              </a:spcBef>
              <a:spcAft>
                <a:spcPts val="200"/>
              </a:spcAft>
            </a:pPr>
            <a:r>
              <a:rPr sz="1500" b="0">
                <a:solidFill>
                  <a:srgbClr val="0E1B2B"/>
                </a:solidFill>
                <a:latin typeface="Calibri"/>
              </a:rPr>
              <a:t>•  A tool (or few tools) can fetch the facts; the model packages the reply.</a:t>
            </a:r>
          </a:p>
          <a:p>
            <a:pPr algn="l">
              <a:spcBef>
                <a:spcPts val="400"/>
              </a:spcBef>
              <a:spcAft>
                <a:spcPts val="200"/>
              </a:spcAft>
            </a:pPr>
            <a:r>
              <a:rPr sz="1500" b="0">
                <a:solidFill>
                  <a:srgbClr val="0E1B2B"/>
                </a:solidFill>
                <a:latin typeface="Calibri"/>
              </a:rPr>
              <a:t>•  You do not need "wait for a manager," "retry then escalate," or named audit hops.</a:t>
            </a:r>
          </a:p>
          <a:p>
            <a:pPr algn="l">
              <a:spcBef>
                <a:spcPts val="400"/>
              </a:spcBef>
              <a:spcAft>
                <a:spcPts val="200"/>
              </a:spcAft>
            </a:pPr>
            <a:r>
              <a:rPr sz="1500" b="0">
                <a:solidFill>
                  <a:srgbClr val="0E1B2B"/>
                </a:solidFill>
                <a:latin typeface="Calibri"/>
              </a:rPr>
              <a:t>•  Rule of thumb: if "use tools until you can answer" is enough → stay with create_agent.</a:t>
            </a:r>
          </a:p>
        </p:txBody>
      </p:sp>
      <p:sp>
        <p:nvSpPr>
          <p:cNvPr id="5" name="Rounded Rectangle 4"/>
          <p:cNvSpPr/>
          <p:nvPr/>
        </p:nvSpPr>
        <p:spPr>
          <a:xfrm>
            <a:off x="548640" y="3749039"/>
            <a:ext cx="11064240" cy="21945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3858767"/>
            <a:ext cx="10698480" cy="201168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Next three slides = three full client stories. Each one shows why drawing a custom StateGraph would be overkill — create_agent already ships the right loop.</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Story 1 — HR chatbot: "How many leave days?"</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create_agent is enough — the answer is the product</a:t>
            </a:r>
          </a:p>
        </p:txBody>
      </p:sp>
      <p:sp>
        <p:nvSpPr>
          <p:cNvPr id="4" name="Rounded Rectangle 3"/>
          <p:cNvSpPr/>
          <p:nvPr/>
        </p:nvSpPr>
        <p:spPr>
          <a:xfrm>
            <a:off x="548640" y="1280160"/>
            <a:ext cx="11064240" cy="44805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89888"/>
            <a:ext cx="10698480" cy="4297680"/>
          </a:xfrm>
          <a:prstGeom prst="rect">
            <a:avLst/>
          </a:prstGeom>
          <a:noFill/>
        </p:spPr>
        <p:txBody>
          <a:bodyPr wrap="square">
            <a:spAutoFit/>
          </a:bodyPr>
          <a:lstStyle/>
          <a:p>
            <a:pPr>
              <a:spcBef>
                <a:spcPts val="0"/>
              </a:spcBef>
              <a:spcAft>
                <a:spcPts val="0"/>
              </a:spcAft>
            </a:pPr>
            <a:r>
              <a:rPr sz="1400" b="1">
                <a:solidFill>
                  <a:srgbClr val="E8A33D"/>
                </a:solidFill>
                <a:latin typeface="Calibri"/>
              </a:rPr>
              <a:t>Example: </a:t>
            </a:r>
            <a:r>
              <a:rPr sz="1400" b="0">
                <a:solidFill>
                  <a:srgbClr val="0E1B2B"/>
                </a:solidFill>
                <a:latin typeface="Calibri"/>
              </a:rPr>
              <a:t>Maya works at a SaaS company. She opens the HR helpdesk bot and asks: "How many annual leave days do I have left?" Your create_agent bot has one tool: get_leave_balance(employee_id). It calls the HR system, learns "14 days remaining," and replies in a clear sentence. Maya is done. There is no manager approval, no policy fork, no "if request &gt; 5 days wait." A plain agent loop (think → tool → answer) is the whole product. If you forced a hand-drawn StateGraph here, you would write more code for the same result — and ship slower.</a:t>
            </a:r>
          </a:p>
        </p:txBody>
      </p:sp>
      <p:sp>
        <p:nvSpPr>
          <p:cNvPr id="6" name="TextBox 5"/>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30887"/>
          </a:xfrm>
          <a:prstGeom prst="rect">
            <a:avLst/>
          </a:prstGeom>
          <a:noFill/>
        </p:spPr>
        <p:txBody>
          <a:bodyPr wrap="square">
            <a:spAutoFit/>
          </a:bodyPr>
          <a:lstStyle/>
          <a:p>
            <a:pPr algn="l">
              <a:spcBef>
                <a:spcPts val="0"/>
              </a:spcBef>
              <a:spcAft>
                <a:spcPts val="0"/>
              </a:spcAft>
            </a:pPr>
            <a:r>
              <a:rPr sz="2200" b="1" dirty="0">
                <a:solidFill>
                  <a:srgbClr val="0E1B2B"/>
                </a:solidFill>
                <a:latin typeface="Cambria"/>
              </a:rPr>
              <a:t>Story </a:t>
            </a:r>
            <a:r>
              <a:rPr lang="en-US" sz="2200" b="1" dirty="0">
                <a:solidFill>
                  <a:srgbClr val="0E1B2B"/>
                </a:solidFill>
                <a:latin typeface="Cambria"/>
              </a:rPr>
              <a:t>2</a:t>
            </a:r>
            <a:r>
              <a:rPr sz="2200" b="1" dirty="0">
                <a:solidFill>
                  <a:srgbClr val="0E1B2B"/>
                </a:solidFill>
                <a:latin typeface="Cambria"/>
              </a:rPr>
              <a:t> — Finance FAQ: expense policy lookup</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create_agent is enough — handbook search + reply</a:t>
            </a:r>
          </a:p>
        </p:txBody>
      </p:sp>
      <p:sp>
        <p:nvSpPr>
          <p:cNvPr id="4" name="Rounded Rectangle 3"/>
          <p:cNvSpPr/>
          <p:nvPr/>
        </p:nvSpPr>
        <p:spPr>
          <a:xfrm>
            <a:off x="548640" y="1280160"/>
            <a:ext cx="11064240" cy="44805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89888"/>
            <a:ext cx="10698480" cy="4297680"/>
          </a:xfrm>
          <a:prstGeom prst="rect">
            <a:avLst/>
          </a:prstGeom>
          <a:noFill/>
        </p:spPr>
        <p:txBody>
          <a:bodyPr wrap="square">
            <a:spAutoFit/>
          </a:bodyPr>
          <a:lstStyle/>
          <a:p>
            <a:pPr>
              <a:spcBef>
                <a:spcPts val="0"/>
              </a:spcBef>
              <a:spcAft>
                <a:spcPts val="0"/>
              </a:spcAft>
            </a:pPr>
            <a:r>
              <a:rPr sz="1400" b="1">
                <a:solidFill>
                  <a:srgbClr val="E8A33D"/>
                </a:solidFill>
                <a:latin typeface="Calibri"/>
              </a:rPr>
              <a:t>Example: </a:t>
            </a:r>
            <a:r>
              <a:rPr sz="1400" b="0">
                <a:solidFill>
                  <a:srgbClr val="0E1B2B"/>
                </a:solidFill>
                <a:latin typeface="Calibri"/>
              </a:rPr>
              <a:t>Priya asks the finance bot: "What is the daily meal limit on client travel?" The create_agent bot uses a retrieve_policy tool, pulls the travel section (meal cap, receipt rules), and lists them neatly. Priya gets an answer in one turn. The product is the policy text — not a flowchart with "if claim &gt; 500 wait for manager" (that lives in the submission workflow). A chain of think → search → answer is enough. Opening StateGraph here adds complexity without adding value for this FAQ.</a:t>
            </a:r>
          </a:p>
        </p:txBody>
      </p:sp>
      <p:sp>
        <p:nvSpPr>
          <p:cNvPr id="6" name="TextBox 5"/>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When you need your own StateGraph</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The flowchart itself is the requirement — branches, gates, retries, audit</a:t>
            </a:r>
          </a:p>
        </p:txBody>
      </p:sp>
      <p:sp>
        <p:nvSpPr>
          <p:cNvPr id="4" name="TextBox 3"/>
          <p:cNvSpPr txBox="1"/>
          <p:nvPr/>
        </p:nvSpPr>
        <p:spPr>
          <a:xfrm>
            <a:off x="777240" y="1280160"/>
            <a:ext cx="10515600" cy="2194560"/>
          </a:xfrm>
          <a:prstGeom prst="rect">
            <a:avLst/>
          </a:prstGeom>
          <a:noFill/>
        </p:spPr>
        <p:txBody>
          <a:bodyPr wrap="square">
            <a:spAutoFit/>
          </a:bodyPr>
          <a:lstStyle/>
          <a:p>
            <a:pPr algn="l">
              <a:spcBef>
                <a:spcPts val="400"/>
              </a:spcBef>
              <a:spcAft>
                <a:spcPts val="200"/>
              </a:spcAft>
            </a:pPr>
            <a:r>
              <a:rPr sz="1500" b="0">
                <a:solidFill>
                  <a:srgbClr val="0E1B2B"/>
                </a:solidFill>
                <a:latin typeface="Calibri"/>
              </a:rPr>
              <a:t>•  Different endings based on amount, risk, role, urgency, or access level.</a:t>
            </a:r>
          </a:p>
          <a:p>
            <a:pPr algn="l">
              <a:spcBef>
                <a:spcPts val="400"/>
              </a:spcBef>
              <a:spcAft>
                <a:spcPts val="200"/>
              </a:spcAft>
            </a:pPr>
            <a:r>
              <a:rPr sz="1500" b="0">
                <a:solidFill>
                  <a:srgbClr val="0E1B2B"/>
                </a:solidFill>
                <a:latin typeface="Calibri"/>
              </a:rPr>
              <a:t>•  A human must approve before money moves or a risky action runs.</a:t>
            </a:r>
          </a:p>
          <a:p>
            <a:pPr algn="l">
              <a:spcBef>
                <a:spcPts val="400"/>
              </a:spcBef>
              <a:spcAft>
                <a:spcPts val="200"/>
              </a:spcAft>
            </a:pPr>
            <a:r>
              <a:rPr sz="1500" b="0">
                <a:solidFill>
                  <a:srgbClr val="0E1B2B"/>
                </a:solidFill>
                <a:latin typeface="Calibri"/>
              </a:rPr>
              <a:t>•  You must name steps for audit: "who approved?" "which path?"</a:t>
            </a:r>
          </a:p>
          <a:p>
            <a:pPr algn="l">
              <a:spcBef>
                <a:spcPts val="400"/>
              </a:spcBef>
              <a:spcAft>
                <a:spcPts val="200"/>
              </a:spcAft>
            </a:pPr>
            <a:r>
              <a:rPr sz="1500" b="0">
                <a:solidFill>
                  <a:srgbClr val="0E1B2B"/>
                </a:solidFill>
                <a:latin typeface="Calibri"/>
              </a:rPr>
              <a:t>•  Rule of thumb: if gates, branches, or step control are the product → open StateGraph.</a:t>
            </a:r>
          </a:p>
        </p:txBody>
      </p:sp>
      <p:sp>
        <p:nvSpPr>
          <p:cNvPr id="5" name="Rounded Rectangle 4"/>
          <p:cNvSpPr/>
          <p:nvPr/>
        </p:nvSpPr>
        <p:spPr>
          <a:xfrm>
            <a:off x="548640" y="3749039"/>
            <a:ext cx="11064240" cy="21945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3858767"/>
            <a:ext cx="10698480" cy="201168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Next three slides = three full client stories. Each one shows where create_agent alone cannot express the business rules — you need to draw the forks yourself.</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30887"/>
          </a:xfrm>
          <a:prstGeom prst="rect">
            <a:avLst/>
          </a:prstGeom>
          <a:noFill/>
        </p:spPr>
        <p:txBody>
          <a:bodyPr wrap="square">
            <a:spAutoFit/>
          </a:bodyPr>
          <a:lstStyle/>
          <a:p>
            <a:pPr algn="l">
              <a:spcBef>
                <a:spcPts val="0"/>
              </a:spcBef>
              <a:spcAft>
                <a:spcPts val="0"/>
              </a:spcAft>
            </a:pPr>
            <a:r>
              <a:rPr sz="2200" b="1" dirty="0">
                <a:solidFill>
                  <a:srgbClr val="0E1B2B"/>
                </a:solidFill>
                <a:latin typeface="Cambria"/>
              </a:rPr>
              <a:t>Story </a:t>
            </a:r>
            <a:r>
              <a:rPr lang="en-US" sz="2200" b="1" dirty="0">
                <a:solidFill>
                  <a:srgbClr val="0E1B2B"/>
                </a:solidFill>
                <a:latin typeface="Cambria"/>
              </a:rPr>
              <a:t>3</a:t>
            </a:r>
            <a:r>
              <a:rPr sz="2200" b="1" dirty="0">
                <a:solidFill>
                  <a:srgbClr val="0E1B2B"/>
                </a:solidFill>
                <a:latin typeface="Cambria"/>
              </a:rPr>
              <a:t> — Leave request with manager approval</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Need StateGraph — days requested decide the path</a:t>
            </a:r>
          </a:p>
        </p:txBody>
      </p:sp>
      <p:sp>
        <p:nvSpPr>
          <p:cNvPr id="4" name="Rounded Rectangle 3"/>
          <p:cNvSpPr/>
          <p:nvPr/>
        </p:nvSpPr>
        <p:spPr>
          <a:xfrm>
            <a:off x="548640" y="1280160"/>
            <a:ext cx="11064240" cy="44805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89888"/>
            <a:ext cx="10698480" cy="4297680"/>
          </a:xfrm>
          <a:prstGeom prst="rect">
            <a:avLst/>
          </a:prstGeom>
          <a:noFill/>
        </p:spPr>
        <p:txBody>
          <a:bodyPr wrap="square">
            <a:spAutoFit/>
          </a:bodyPr>
          <a:lstStyle/>
          <a:p>
            <a:pPr>
              <a:spcBef>
                <a:spcPts val="0"/>
              </a:spcBef>
              <a:spcAft>
                <a:spcPts val="0"/>
              </a:spcAft>
            </a:pPr>
            <a:r>
              <a:rPr sz="1400" b="1">
                <a:solidFill>
                  <a:srgbClr val="E8A33D"/>
                </a:solidFill>
                <a:latin typeface="Calibri"/>
              </a:rPr>
              <a:t>Example: </a:t>
            </a:r>
            <a:r>
              <a:rPr sz="1400" b="0">
                <a:solidFill>
                  <a:srgbClr val="0E1B2B"/>
                </a:solidFill>
                <a:latin typeface="Calibri"/>
              </a:rPr>
              <a:t>Maya submits a leave request for 8 days. Your flowchart must: (1) validate balance; (2) if days ≤ 5 → auto_approve and notify calendar; (3) if days &gt; 5 → pause for manager — approve path vs reject path with a reason. A plain create_agent chat might "sound helpful" but cannot reliably pause for a manager click or guarantee those named paths. The flowchart is the product. That is why you open StateGraph.</a:t>
            </a:r>
          </a:p>
        </p:txBody>
      </p:sp>
      <p:sp>
        <p:nvSpPr>
          <p:cNvPr id="6" name="TextBox 5"/>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30887"/>
          </a:xfrm>
          <a:prstGeom prst="rect">
            <a:avLst/>
          </a:prstGeom>
          <a:noFill/>
        </p:spPr>
        <p:txBody>
          <a:bodyPr wrap="square">
            <a:spAutoFit/>
          </a:bodyPr>
          <a:lstStyle/>
          <a:p>
            <a:pPr algn="l">
              <a:spcBef>
                <a:spcPts val="0"/>
              </a:spcBef>
              <a:spcAft>
                <a:spcPts val="0"/>
              </a:spcAft>
            </a:pPr>
            <a:r>
              <a:rPr sz="2200" b="1" dirty="0">
                <a:solidFill>
                  <a:srgbClr val="0E1B2B"/>
                </a:solidFill>
                <a:latin typeface="Cambria"/>
              </a:rPr>
              <a:t>Story </a:t>
            </a:r>
            <a:r>
              <a:rPr lang="en-US" sz="2200" b="1" dirty="0">
                <a:solidFill>
                  <a:srgbClr val="0E1B2B"/>
                </a:solidFill>
                <a:latin typeface="Cambria"/>
              </a:rPr>
              <a:t>4</a:t>
            </a:r>
            <a:r>
              <a:rPr sz="2200" b="1" dirty="0">
                <a:solidFill>
                  <a:srgbClr val="0E1B2B"/>
                </a:solidFill>
                <a:latin typeface="Cambria"/>
              </a:rPr>
              <a:t> — Expense claim over the auto-approve limit</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Need StateGraph — amount decides auto vs manager</a:t>
            </a:r>
          </a:p>
        </p:txBody>
      </p:sp>
      <p:sp>
        <p:nvSpPr>
          <p:cNvPr id="4" name="Rounded Rectangle 3"/>
          <p:cNvSpPr/>
          <p:nvPr/>
        </p:nvSpPr>
        <p:spPr>
          <a:xfrm>
            <a:off x="548640" y="1280160"/>
            <a:ext cx="11064240" cy="44805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89888"/>
            <a:ext cx="10698480" cy="4297680"/>
          </a:xfrm>
          <a:prstGeom prst="rect">
            <a:avLst/>
          </a:prstGeom>
          <a:noFill/>
        </p:spPr>
        <p:txBody>
          <a:bodyPr wrap="square">
            <a:spAutoFit/>
          </a:bodyPr>
          <a:lstStyle/>
          <a:p>
            <a:pPr>
              <a:spcBef>
                <a:spcPts val="0"/>
              </a:spcBef>
              <a:spcAft>
                <a:spcPts val="0"/>
              </a:spcAft>
            </a:pPr>
            <a:r>
              <a:rPr sz="1400" b="1">
                <a:solidFill>
                  <a:srgbClr val="E8A33D"/>
                </a:solidFill>
                <a:latin typeface="Calibri"/>
              </a:rPr>
              <a:t>Example: </a:t>
            </a:r>
            <a:r>
              <a:rPr sz="1400" b="0">
                <a:solidFill>
                  <a:srgbClr val="0E1B2B"/>
                </a:solidFill>
                <a:latin typeface="Calibri"/>
              </a:rPr>
              <a:t>Sam submits a $1,250 conference claim. Flow: intake → validate receipt → route by amount. If amount ≤ $500 → auto_approve and enqueue payment. If amount &gt; $500 → manager_review (approve / reject). If you only used create_agent, the model might invent a soft apology and never guarantee "over-limit always hits manager_review." The business rule is the product. Draw it. (This is Demo 2.)</a:t>
            </a:r>
          </a:p>
        </p:txBody>
      </p:sp>
      <p:sp>
        <p:nvSpPr>
          <p:cNvPr id="6" name="TextBox 5"/>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Decision snapshot</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One desk rule you can write on a sticky note</a:t>
            </a:r>
          </a:p>
        </p:txBody>
      </p:sp>
      <p:sp>
        <p:nvSpPr>
          <p:cNvPr id="4" name="Rectangle 3"/>
          <p:cNvSpPr/>
          <p:nvPr/>
        </p:nvSpPr>
        <p:spPr>
          <a:xfrm>
            <a:off x="502920" y="1280160"/>
            <a:ext cx="548640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35024"/>
            <a:ext cx="532180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PREFER create_agent</a:t>
            </a:r>
          </a:p>
        </p:txBody>
      </p:sp>
      <p:sp>
        <p:nvSpPr>
          <p:cNvPr id="6" name="Rectangle 5"/>
          <p:cNvSpPr/>
          <p:nvPr/>
        </p:nvSpPr>
        <p:spPr>
          <a:xfrm>
            <a:off x="5989320" y="1280160"/>
            <a:ext cx="566928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80760" y="1335024"/>
            <a:ext cx="550468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PREFER open StateGraph</a:t>
            </a:r>
          </a:p>
        </p:txBody>
      </p:sp>
      <p:sp>
        <p:nvSpPr>
          <p:cNvPr id="8" name="Rectangle 7"/>
          <p:cNvSpPr/>
          <p:nvPr/>
        </p:nvSpPr>
        <p:spPr>
          <a:xfrm>
            <a:off x="502920" y="1627632"/>
            <a:ext cx="548640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627632"/>
            <a:ext cx="45720" cy="6400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700784"/>
            <a:ext cx="532180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HR: "How many leave days?" FAQ</a:t>
            </a:r>
          </a:p>
        </p:txBody>
      </p:sp>
      <p:sp>
        <p:nvSpPr>
          <p:cNvPr id="11" name="Rectangle 10"/>
          <p:cNvSpPr/>
          <p:nvPr/>
        </p:nvSpPr>
        <p:spPr>
          <a:xfrm>
            <a:off x="5989320" y="1627632"/>
            <a:ext cx="566928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80760" y="1700784"/>
            <a:ext cx="550468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Leave request &gt; 5 days → manager gate</a:t>
            </a:r>
          </a:p>
        </p:txBody>
      </p:sp>
      <p:sp>
        <p:nvSpPr>
          <p:cNvPr id="13" name="Rectangle 12"/>
          <p:cNvSpPr/>
          <p:nvPr/>
        </p:nvSpPr>
        <p:spPr>
          <a:xfrm>
            <a:off x="502920" y="2267712"/>
            <a:ext cx="5486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2267712"/>
            <a:ext cx="45720" cy="6400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340864"/>
            <a:ext cx="532180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IT: password-reset self-service link</a:t>
            </a:r>
          </a:p>
        </p:txBody>
      </p:sp>
      <p:sp>
        <p:nvSpPr>
          <p:cNvPr id="16" name="Rectangle 15"/>
          <p:cNvSpPr/>
          <p:nvPr/>
        </p:nvSpPr>
        <p:spPr>
          <a:xfrm>
            <a:off x="5989320" y="2267712"/>
            <a:ext cx="56692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80760" y="2340864"/>
            <a:ext cx="550468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Production access → security + manager</a:t>
            </a:r>
          </a:p>
        </p:txBody>
      </p:sp>
      <p:sp>
        <p:nvSpPr>
          <p:cNvPr id="18" name="Rectangle 17"/>
          <p:cNvSpPr/>
          <p:nvPr/>
        </p:nvSpPr>
        <p:spPr>
          <a:xfrm>
            <a:off x="502920" y="2907792"/>
            <a:ext cx="548640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2907792"/>
            <a:ext cx="45720" cy="6400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2980944"/>
            <a:ext cx="532180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Finance: expense policy handbook Q&amp;A</a:t>
            </a:r>
          </a:p>
        </p:txBody>
      </p:sp>
      <p:sp>
        <p:nvSpPr>
          <p:cNvPr id="21" name="Rectangle 20"/>
          <p:cNvSpPr/>
          <p:nvPr/>
        </p:nvSpPr>
        <p:spPr>
          <a:xfrm>
            <a:off x="5989320" y="2907792"/>
            <a:ext cx="566928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80760" y="2980944"/>
            <a:ext cx="550468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Claim &gt; $500 → manager_review path</a:t>
            </a:r>
          </a:p>
        </p:txBody>
      </p:sp>
      <p:sp>
        <p:nvSpPr>
          <p:cNvPr id="23" name="Rectangle 22"/>
          <p:cNvSpPr/>
          <p:nvPr/>
        </p:nvSpPr>
        <p:spPr>
          <a:xfrm>
            <a:off x="502920" y="3547872"/>
            <a:ext cx="5486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3547872"/>
            <a:ext cx="45720" cy="6400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 y="3621024"/>
            <a:ext cx="532180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Support: billing FAQ from knowledge base</a:t>
            </a:r>
          </a:p>
        </p:txBody>
      </p:sp>
      <p:sp>
        <p:nvSpPr>
          <p:cNvPr id="26" name="Rectangle 25"/>
          <p:cNvSpPr/>
          <p:nvPr/>
        </p:nvSpPr>
        <p:spPr>
          <a:xfrm>
            <a:off x="5989320" y="3547872"/>
            <a:ext cx="56692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80760" y="3621024"/>
            <a:ext cx="550468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Ticket: billing vs tech + high → human</a:t>
            </a:r>
          </a:p>
        </p:txBody>
      </p:sp>
      <p:sp>
        <p:nvSpPr>
          <p:cNvPr id="28" name="Rectangle 27"/>
          <p:cNvSpPr/>
          <p:nvPr/>
        </p:nvSpPr>
        <p:spPr>
          <a:xfrm>
            <a:off x="502920" y="4187952"/>
            <a:ext cx="548640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4187952"/>
            <a:ext cx="45720" cy="64008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4261104"/>
            <a:ext cx="532180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Fast afternoon prototype</a:t>
            </a:r>
          </a:p>
        </p:txBody>
      </p:sp>
      <p:sp>
        <p:nvSpPr>
          <p:cNvPr id="31" name="Rectangle 30"/>
          <p:cNvSpPr/>
          <p:nvPr/>
        </p:nvSpPr>
        <p:spPr>
          <a:xfrm>
            <a:off x="5989320" y="4187952"/>
            <a:ext cx="566928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80760" y="4261104"/>
            <a:ext cx="5504688" cy="54864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Contract review: extract → check → sign-off</a:t>
            </a:r>
          </a:p>
        </p:txBody>
      </p:sp>
      <p:sp>
        <p:nvSpPr>
          <p:cNvPr id="33" name="Rounded Rectangle 32"/>
          <p:cNvSpPr/>
          <p:nvPr/>
        </p:nvSpPr>
        <p:spPr>
          <a:xfrm>
            <a:off x="502920" y="5120640"/>
            <a:ext cx="11155680" cy="9144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4088" y="5230368"/>
            <a:ext cx="10789920" cy="73152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If the ANSWER is the product → create_agent.  If the FLOWCHART (gates, branches, audit hops) is the product → open StateGraph.</a:t>
            </a:r>
          </a:p>
        </p:txBody>
      </p:sp>
      <p:sp>
        <p:nvSpPr>
          <p:cNvPr id="35" name="TextBox 3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1828800"/>
            <a:ext cx="10515600" cy="320040"/>
          </a:xfrm>
          <a:prstGeom prst="rect">
            <a:avLst/>
          </a:prstGeom>
          <a:noFill/>
        </p:spPr>
        <p:txBody>
          <a:bodyPr wrap="square">
            <a:spAutoFit/>
          </a:bodyPr>
          <a:lstStyle/>
          <a:p>
            <a:pPr algn="l">
              <a:spcBef>
                <a:spcPts val="0"/>
              </a:spcBef>
              <a:spcAft>
                <a:spcPts val="0"/>
              </a:spcAft>
            </a:pPr>
            <a:r>
              <a:rPr sz="1400" b="1">
                <a:solidFill>
                  <a:srgbClr val="E8A33D"/>
                </a:solidFill>
                <a:latin typeface="Calibri"/>
              </a:rPr>
              <a:t>PART 3</a:t>
            </a:r>
          </a:p>
        </p:txBody>
      </p:sp>
      <p:sp>
        <p:nvSpPr>
          <p:cNvPr id="3" name="TextBox 2"/>
          <p:cNvSpPr txBox="1"/>
          <p:nvPr/>
        </p:nvSpPr>
        <p:spPr>
          <a:xfrm>
            <a:off x="822960" y="2286000"/>
            <a:ext cx="10515600" cy="914400"/>
          </a:xfrm>
          <a:prstGeom prst="rect">
            <a:avLst/>
          </a:prstGeom>
          <a:noFill/>
        </p:spPr>
        <p:txBody>
          <a:bodyPr wrap="square">
            <a:spAutoFit/>
          </a:bodyPr>
          <a:lstStyle/>
          <a:p>
            <a:pPr algn="l">
              <a:spcBef>
                <a:spcPts val="0"/>
              </a:spcBef>
              <a:spcAft>
                <a:spcPts val="0"/>
              </a:spcAft>
            </a:pPr>
            <a:r>
              <a:rPr sz="3400" b="1">
                <a:solidFill>
                  <a:srgbClr val="FFFFFF"/>
                </a:solidFill>
                <a:latin typeface="Cambria"/>
              </a:rPr>
              <a:t>Graph vs chain</a:t>
            </a:r>
          </a:p>
        </p:txBody>
      </p:sp>
      <p:sp>
        <p:nvSpPr>
          <p:cNvPr id="4" name="TextBox 3"/>
          <p:cNvSpPr txBox="1"/>
          <p:nvPr/>
        </p:nvSpPr>
        <p:spPr>
          <a:xfrm>
            <a:off x="822960" y="3383280"/>
            <a:ext cx="10058400" cy="914400"/>
          </a:xfrm>
          <a:prstGeom prst="rect">
            <a:avLst/>
          </a:prstGeom>
          <a:noFill/>
        </p:spPr>
        <p:txBody>
          <a:bodyPr wrap="square">
            <a:spAutoFit/>
          </a:bodyPr>
          <a:lstStyle/>
          <a:p>
            <a:pPr algn="l">
              <a:spcBef>
                <a:spcPts val="0"/>
              </a:spcBef>
              <a:spcAft>
                <a:spcPts val="0"/>
              </a:spcAft>
            </a:pPr>
            <a:r>
              <a:rPr sz="1600" b="0">
                <a:solidFill>
                  <a:srgbClr val="CADCFC"/>
                </a:solidFill>
                <a:latin typeface="Calibri"/>
              </a:rPr>
              <a:t>A chain is a fixed pipeline. A graph is a workflow with forks and human gates.</a:t>
            </a:r>
          </a:p>
        </p:txBody>
      </p:sp>
      <p:sp>
        <p:nvSpPr>
          <p:cNvPr id="5" name="TextBox 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Chain = fixed pipeline (no forks)</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You already built this in Lecture 4 (prompt → LLM → parser)</a:t>
            </a:r>
          </a:p>
        </p:txBody>
      </p:sp>
      <p:sp>
        <p:nvSpPr>
          <p:cNvPr id="4" name="Rectangle 3"/>
          <p:cNvSpPr/>
          <p:nvPr/>
        </p:nvSpPr>
        <p:spPr>
          <a:xfrm>
            <a:off x="640080" y="1280160"/>
            <a:ext cx="10972800" cy="109728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417320"/>
            <a:ext cx="10607040" cy="868680"/>
          </a:xfrm>
          <a:prstGeom prst="rect">
            <a:avLst/>
          </a:prstGeom>
          <a:noFill/>
        </p:spPr>
        <p:txBody>
          <a:bodyPr wrap="square">
            <a:spAutoFit/>
          </a:bodyPr>
          <a:lstStyle/>
          <a:p>
            <a:pPr>
              <a:spcBef>
                <a:spcPts val="100"/>
              </a:spcBef>
              <a:spcAft>
                <a:spcPts val="100"/>
              </a:spcAft>
            </a:pPr>
            <a:r>
              <a:rPr sz="1400" b="0">
                <a:solidFill>
                  <a:srgbClr val="CADCFC"/>
                </a:solidFill>
                <a:latin typeface="Courier New"/>
              </a:rPr>
              <a:t># Mental picture of a chain (LCEL style)</a:t>
            </a:r>
          </a:p>
          <a:p>
            <a:pPr>
              <a:spcBef>
                <a:spcPts val="100"/>
              </a:spcBef>
              <a:spcAft>
                <a:spcPts val="100"/>
              </a:spcAft>
            </a:pPr>
            <a:r>
              <a:rPr sz="1400" b="0">
                <a:solidFill>
                  <a:srgbClr val="CADCFC"/>
                </a:solidFill>
                <a:latin typeface="Courier New"/>
              </a:rPr>
              <a:t>prompt | llm | parser     →     one way, no forks</a:t>
            </a:r>
          </a:p>
        </p:txBody>
      </p:sp>
      <p:sp>
        <p:nvSpPr>
          <p:cNvPr id="6" name="TextBox 5"/>
          <p:cNvSpPr txBox="1"/>
          <p:nvPr/>
        </p:nvSpPr>
        <p:spPr>
          <a:xfrm>
            <a:off x="777240" y="2606040"/>
            <a:ext cx="10515600" cy="1371600"/>
          </a:xfrm>
          <a:prstGeom prst="rect">
            <a:avLst/>
          </a:prstGeom>
          <a:noFill/>
        </p:spPr>
        <p:txBody>
          <a:bodyPr wrap="square">
            <a:spAutoFit/>
          </a:bodyPr>
          <a:lstStyle/>
          <a:p>
            <a:pPr algn="l">
              <a:spcBef>
                <a:spcPts val="400"/>
              </a:spcBef>
              <a:spcAft>
                <a:spcPts val="200"/>
              </a:spcAft>
            </a:pPr>
            <a:r>
              <a:rPr sz="1500" b="0">
                <a:solidFill>
                  <a:srgbClr val="0E1B2B"/>
                </a:solidFill>
                <a:latin typeface="Calibri"/>
              </a:rPr>
              <a:t>•  Always the same order of steps — like a CI job with no quality gate.</a:t>
            </a:r>
          </a:p>
          <a:p>
            <a:pPr algn="l">
              <a:spcBef>
                <a:spcPts val="400"/>
              </a:spcBef>
              <a:spcAft>
                <a:spcPts val="200"/>
              </a:spcAft>
            </a:pPr>
            <a:r>
              <a:rPr sz="1500" b="0">
                <a:solidFill>
                  <a:srgbClr val="0E1B2B"/>
                </a:solidFill>
                <a:latin typeface="Calibri"/>
              </a:rPr>
              <a:t>•  Great for rewrite an email, fill a form, summarize a paragraph.</a:t>
            </a:r>
          </a:p>
        </p:txBody>
      </p:sp>
      <p:sp>
        <p:nvSpPr>
          <p:cNvPr id="7" name="Rounded Rectangle 6"/>
          <p:cNvSpPr/>
          <p:nvPr/>
        </p:nvSpPr>
        <p:spPr>
          <a:xfrm>
            <a:off x="548640" y="4114800"/>
            <a:ext cx="11064240" cy="19202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4224528"/>
            <a:ext cx="10698480" cy="173736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Imagine an IT ticket pipeline locked to: intake → classify → email summary. No "if production access wait for manager," no "if amount &gt; 500 escalate." A chain is that locked route. It fails the moment your product needs a fork — e.g. expense ≤ 500 auto-approve; else manager. The pipeline has no exit for that decision.</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Graph = workflow with forks, loops &amp; human desks</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A map that can route to auto-approve or pause for a manager</a:t>
            </a:r>
          </a:p>
        </p:txBody>
      </p:sp>
      <p:sp>
        <p:nvSpPr>
          <p:cNvPr id="4" name="TextBox 3"/>
          <p:cNvSpPr txBox="1"/>
          <p:nvPr/>
        </p:nvSpPr>
        <p:spPr>
          <a:xfrm>
            <a:off x="777240" y="1280160"/>
            <a:ext cx="10515600" cy="1828800"/>
          </a:xfrm>
          <a:prstGeom prst="rect">
            <a:avLst/>
          </a:prstGeom>
          <a:noFill/>
        </p:spPr>
        <p:txBody>
          <a:bodyPr wrap="square">
            <a:spAutoFit/>
          </a:bodyPr>
          <a:lstStyle/>
          <a:p>
            <a:pPr algn="l">
              <a:spcBef>
                <a:spcPts val="400"/>
              </a:spcBef>
              <a:spcAft>
                <a:spcPts val="200"/>
              </a:spcAft>
            </a:pPr>
            <a:r>
              <a:rPr sz="1400" b="0">
                <a:solidFill>
                  <a:srgbClr val="0E1B2B"/>
                </a:solidFill>
                <a:latin typeface="Calibri"/>
              </a:rPr>
              <a:t>•  Steps are boxes (nodes). Arrows (edges) say what runs next.</a:t>
            </a:r>
          </a:p>
          <a:p>
            <a:pPr algn="l">
              <a:spcBef>
                <a:spcPts val="400"/>
              </a:spcBef>
              <a:spcAft>
                <a:spcPts val="200"/>
              </a:spcAft>
            </a:pPr>
            <a:r>
              <a:rPr sz="1400" b="0">
                <a:solidFill>
                  <a:srgbClr val="0E1B2B"/>
                </a:solidFill>
                <a:latin typeface="Calibri"/>
              </a:rPr>
              <a:t>•  Some arrows are fixed; some depend on data (conditional).</a:t>
            </a:r>
          </a:p>
          <a:p>
            <a:pPr algn="l">
              <a:spcBef>
                <a:spcPts val="400"/>
              </a:spcBef>
              <a:spcAft>
                <a:spcPts val="200"/>
              </a:spcAft>
            </a:pPr>
            <a:r>
              <a:rPr sz="1400" b="0">
                <a:solidFill>
                  <a:srgbClr val="0E1B2B"/>
                </a:solidFill>
                <a:latin typeface="Calibri"/>
              </a:rPr>
              <a:t>•  Later you can loop: retry validation, then stop after 3 tries.</a:t>
            </a:r>
          </a:p>
          <a:p>
            <a:pPr algn="l">
              <a:spcBef>
                <a:spcPts val="400"/>
              </a:spcBef>
              <a:spcAft>
                <a:spcPts val="200"/>
              </a:spcAft>
            </a:pPr>
            <a:r>
              <a:rPr sz="1400" b="0">
                <a:solidFill>
                  <a:srgbClr val="0E1B2B"/>
                </a:solidFill>
                <a:latin typeface="Calibri"/>
              </a:rPr>
              <a:t>•  An LLM is optional inside a box — some boxes can be plain Python rules.</a:t>
            </a:r>
          </a:p>
        </p:txBody>
      </p:sp>
      <p:sp>
        <p:nvSpPr>
          <p:cNvPr id="5" name="Rounded Rectangle 4"/>
          <p:cNvSpPr/>
          <p:nvPr/>
        </p:nvSpPr>
        <p:spPr>
          <a:xfrm>
            <a:off x="548640" y="3383280"/>
            <a:ext cx="11064240" cy="26060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3493008"/>
            <a:ext cx="10698480" cy="242316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Now imagine the expense workflow: after validate, if amount ≤ 500 → auto_approve; if amount &gt; 500 → manager_review; if manager rejects → notify employee and END; if approved → enqueue payment. That map of forks is a graph. Graph ≠ "more AI." Graph = more control of flow. create_agent already ran a graph for you; today you draw a small one by hand.</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Same product, two shapes</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IT service desk — why the shape matters</a:t>
            </a:r>
          </a:p>
        </p:txBody>
      </p:sp>
      <p:sp>
        <p:nvSpPr>
          <p:cNvPr id="4" name="Rounded Rectangle 3"/>
          <p:cNvSpPr/>
          <p:nvPr/>
        </p:nvSpPr>
        <p:spPr>
          <a:xfrm>
            <a:off x="502920" y="1280160"/>
            <a:ext cx="5486400" cy="36576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5029200" cy="365760"/>
          </a:xfrm>
          <a:prstGeom prst="rect">
            <a:avLst/>
          </a:prstGeom>
          <a:noFill/>
        </p:spPr>
        <p:txBody>
          <a:bodyPr wrap="square">
            <a:spAutoFit/>
          </a:bodyPr>
          <a:lstStyle/>
          <a:p>
            <a:pPr algn="l">
              <a:spcBef>
                <a:spcPts val="0"/>
              </a:spcBef>
              <a:spcAft>
                <a:spcPts val="0"/>
              </a:spcAft>
            </a:pPr>
            <a:r>
              <a:rPr sz="1500" b="1">
                <a:solidFill>
                  <a:srgbClr val="E8A33D"/>
                </a:solidFill>
                <a:latin typeface="Cambria"/>
              </a:rPr>
              <a:t>CHAIN (fixed pipeline)</a:t>
            </a:r>
          </a:p>
        </p:txBody>
      </p:sp>
      <p:sp>
        <p:nvSpPr>
          <p:cNvPr id="6" name="TextBox 5"/>
          <p:cNvSpPr txBox="1"/>
          <p:nvPr/>
        </p:nvSpPr>
        <p:spPr>
          <a:xfrm>
            <a:off x="731520" y="2011680"/>
            <a:ext cx="5029200" cy="265176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Intake → classify → email summary. Always those three steps. Fine for a tiny demo. Breaks when password reset should auto-resolve, but production access must wait for a manager.</a:t>
            </a:r>
          </a:p>
        </p:txBody>
      </p:sp>
      <p:sp>
        <p:nvSpPr>
          <p:cNvPr id="7" name="Rounded Rectangle 6"/>
          <p:cNvSpPr/>
          <p:nvPr/>
        </p:nvSpPr>
        <p:spPr>
          <a:xfrm>
            <a:off x="6217920" y="1280160"/>
            <a:ext cx="5486400" cy="36576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463040"/>
            <a:ext cx="5029200" cy="365760"/>
          </a:xfrm>
          <a:prstGeom prst="rect">
            <a:avLst/>
          </a:prstGeom>
          <a:noFill/>
        </p:spPr>
        <p:txBody>
          <a:bodyPr wrap="square">
            <a:spAutoFit/>
          </a:bodyPr>
          <a:lstStyle/>
          <a:p>
            <a:pPr algn="l">
              <a:spcBef>
                <a:spcPts val="0"/>
              </a:spcBef>
              <a:spcAft>
                <a:spcPts val="0"/>
              </a:spcAft>
            </a:pPr>
            <a:r>
              <a:rPr sz="1500" b="1">
                <a:solidFill>
                  <a:srgbClr val="E8A33D"/>
                </a:solidFill>
                <a:latin typeface="Cambria"/>
              </a:rPr>
              <a:t>GRAPH (workflow map)</a:t>
            </a:r>
          </a:p>
        </p:txBody>
      </p:sp>
      <p:sp>
        <p:nvSpPr>
          <p:cNvPr id="9" name="TextBox 8"/>
          <p:cNvSpPr txBox="1"/>
          <p:nvPr/>
        </p:nvSpPr>
        <p:spPr>
          <a:xfrm>
            <a:off x="6446520" y="2011680"/>
            <a:ext cx="5029200" cy="265176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Intake → classify → if password_reset auto_link; if software_access manager_approve; if production_access security + manager → grant or deny. Every business rule is a named road.</a:t>
            </a:r>
          </a:p>
        </p:txBody>
      </p:sp>
      <p:sp>
        <p:nvSpPr>
          <p:cNvPr id="10" name="Rounded Rectangle 9"/>
          <p:cNvSpPr/>
          <p:nvPr/>
        </p:nvSpPr>
        <p:spPr>
          <a:xfrm>
            <a:off x="502920" y="5166360"/>
            <a:ext cx="11155680" cy="8686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5276088"/>
            <a:ext cx="10789920" cy="6858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Remember: chain = no forks. Graph = forks, loops, and labeled destinations.</a:t>
            </a:r>
          </a:p>
        </p:txBody>
      </p:sp>
      <p:sp>
        <p:nvSpPr>
          <p:cNvPr id="12" name="TextBox 11"/>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1828800"/>
            <a:ext cx="10515600" cy="320040"/>
          </a:xfrm>
          <a:prstGeom prst="rect">
            <a:avLst/>
          </a:prstGeom>
          <a:noFill/>
        </p:spPr>
        <p:txBody>
          <a:bodyPr wrap="square">
            <a:spAutoFit/>
          </a:bodyPr>
          <a:lstStyle/>
          <a:p>
            <a:pPr algn="l">
              <a:spcBef>
                <a:spcPts val="0"/>
              </a:spcBef>
              <a:spcAft>
                <a:spcPts val="0"/>
              </a:spcAft>
            </a:pPr>
            <a:r>
              <a:rPr sz="1400" b="1">
                <a:solidFill>
                  <a:srgbClr val="E8A33D"/>
                </a:solidFill>
                <a:latin typeface="Calibri"/>
              </a:rPr>
              <a:t>PART 4</a:t>
            </a:r>
          </a:p>
        </p:txBody>
      </p:sp>
      <p:sp>
        <p:nvSpPr>
          <p:cNvPr id="3" name="TextBox 2"/>
          <p:cNvSpPr txBox="1"/>
          <p:nvPr/>
        </p:nvSpPr>
        <p:spPr>
          <a:xfrm>
            <a:off x="822960" y="2286000"/>
            <a:ext cx="10515600" cy="914400"/>
          </a:xfrm>
          <a:prstGeom prst="rect">
            <a:avLst/>
          </a:prstGeom>
          <a:noFill/>
        </p:spPr>
        <p:txBody>
          <a:bodyPr wrap="square">
            <a:spAutoFit/>
          </a:bodyPr>
          <a:lstStyle/>
          <a:p>
            <a:pPr algn="l">
              <a:spcBef>
                <a:spcPts val="0"/>
              </a:spcBef>
              <a:spcAft>
                <a:spcPts val="0"/>
              </a:spcAft>
            </a:pPr>
            <a:r>
              <a:rPr sz="3400" b="1">
                <a:solidFill>
                  <a:srgbClr val="FFFFFF"/>
                </a:solidFill>
                <a:latin typeface="Cambria"/>
              </a:rPr>
              <a:t>StateGraph building blocks</a:t>
            </a:r>
          </a:p>
        </p:txBody>
      </p:sp>
      <p:sp>
        <p:nvSpPr>
          <p:cNvPr id="4" name="TextBox 3"/>
          <p:cNvSpPr txBox="1"/>
          <p:nvPr/>
        </p:nvSpPr>
        <p:spPr>
          <a:xfrm>
            <a:off x="822960" y="3383280"/>
            <a:ext cx="10058400" cy="914400"/>
          </a:xfrm>
          <a:prstGeom prst="rect">
            <a:avLst/>
          </a:prstGeom>
          <a:noFill/>
        </p:spPr>
        <p:txBody>
          <a:bodyPr wrap="square">
            <a:spAutoFit/>
          </a:bodyPr>
          <a:lstStyle/>
          <a:p>
            <a:pPr algn="l">
              <a:spcBef>
                <a:spcPts val="0"/>
              </a:spcBef>
              <a:spcAft>
                <a:spcPts val="0"/>
              </a:spcAft>
            </a:pPr>
            <a:r>
              <a:rPr sz="1600" b="0">
                <a:solidFill>
                  <a:srgbClr val="CADCFC"/>
                </a:solidFill>
                <a:latin typeface="Calibri"/>
              </a:rPr>
              <a:t>Learn each piece with one plain definition and one client-project example.</a:t>
            </a:r>
          </a:p>
        </p:txBody>
      </p:sp>
      <p:sp>
        <p:nvSpPr>
          <p:cNvPr id="5" name="TextBox 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State — the shared ticket clipboard</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Everything every step can read and update</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State is a typed dictionary of fields that travel through the graph.</a:t>
            </a:r>
          </a:p>
        </p:txBody>
      </p:sp>
      <p:sp>
        <p:nvSpPr>
          <p:cNvPr id="5" name="Rectangle 4"/>
          <p:cNvSpPr/>
          <p:nvPr/>
        </p:nvSpPr>
        <p:spPr>
          <a:xfrm>
            <a:off x="640080" y="1737360"/>
            <a:ext cx="10972800" cy="155448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874520"/>
            <a:ext cx="10607040" cy="1325880"/>
          </a:xfrm>
          <a:prstGeom prst="rect">
            <a:avLst/>
          </a:prstGeom>
          <a:noFill/>
        </p:spPr>
        <p:txBody>
          <a:bodyPr wrap="square">
            <a:spAutoFit/>
          </a:bodyPr>
          <a:lstStyle/>
          <a:p>
            <a:pPr>
              <a:spcBef>
                <a:spcPts val="100"/>
              </a:spcBef>
              <a:spcAft>
                <a:spcPts val="100"/>
              </a:spcAft>
            </a:pPr>
            <a:r>
              <a:rPr sz="1200" b="0">
                <a:solidFill>
                  <a:srgbClr val="CADCFC"/>
                </a:solidFill>
                <a:latin typeface="Courier New"/>
              </a:rPr>
              <a:t>class TicketState(TypedDict):</a:t>
            </a:r>
          </a:p>
          <a:p>
            <a:pPr>
              <a:spcBef>
                <a:spcPts val="100"/>
              </a:spcBef>
              <a:spcAft>
                <a:spcPts val="100"/>
              </a:spcAft>
            </a:pPr>
            <a:r>
              <a:rPr sz="1200" b="0">
                <a:solidFill>
                  <a:srgbClr val="CADCFC"/>
                </a:solidFill>
                <a:latin typeface="Courier New"/>
              </a:rPr>
              <a:t>    ticket_id: str</a:t>
            </a:r>
          </a:p>
          <a:p>
            <a:pPr>
              <a:spcBef>
                <a:spcPts val="100"/>
              </a:spcBef>
              <a:spcAft>
                <a:spcPts val="100"/>
              </a:spcAft>
            </a:pPr>
            <a:r>
              <a:rPr sz="1200" b="0">
                <a:solidFill>
                  <a:srgbClr val="CADCFC"/>
                </a:solidFill>
                <a:latin typeface="Courier New"/>
              </a:rPr>
              <a:t>    category: str</a:t>
            </a:r>
          </a:p>
          <a:p>
            <a:pPr>
              <a:spcBef>
                <a:spcPts val="100"/>
              </a:spcBef>
              <a:spcAft>
                <a:spcPts val="100"/>
              </a:spcAft>
            </a:pPr>
            <a:r>
              <a:rPr sz="1200" b="0">
                <a:solidFill>
                  <a:srgbClr val="CADCFC"/>
                </a:solidFill>
                <a:latin typeface="Courier New"/>
              </a:rPr>
              <a:t>    priority: str</a:t>
            </a:r>
          </a:p>
          <a:p>
            <a:pPr>
              <a:spcBef>
                <a:spcPts val="100"/>
              </a:spcBef>
              <a:spcAft>
                <a:spcPts val="100"/>
              </a:spcAft>
            </a:pPr>
            <a:r>
              <a:rPr sz="1200" b="0">
                <a:solidFill>
                  <a:srgbClr val="CADCFC"/>
                </a:solidFill>
                <a:latin typeface="Courier New"/>
              </a:rPr>
              <a:t>    summary: str</a:t>
            </a:r>
          </a:p>
          <a:p>
            <a:pPr>
              <a:spcBef>
                <a:spcPts val="100"/>
              </a:spcBef>
              <a:spcAft>
                <a:spcPts val="100"/>
              </a:spcAft>
            </a:pPr>
            <a:r>
              <a:rPr sz="1200" b="0">
                <a:solidFill>
                  <a:srgbClr val="CADCFC"/>
                </a:solidFill>
                <a:latin typeface="Courier New"/>
              </a:rPr>
              <a:t>    notes: Annotated[list[str], operator.add]  # append, don't overwrite</a:t>
            </a:r>
          </a:p>
        </p:txBody>
      </p:sp>
      <p:sp>
        <p:nvSpPr>
          <p:cNvPr id="7" name="Rounded Rectangle 6"/>
          <p:cNvSpPr/>
          <p:nvPr/>
        </p:nvSpPr>
        <p:spPr>
          <a:xfrm>
            <a:off x="548640" y="3566160"/>
            <a:ext cx="11064240" cy="24688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675888"/>
            <a:ext cx="10698480" cy="22860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In an IT service desk, every ticket rides on one clipboard: ticket_id IT-1001, raw_request="locked out — password reset", category="", priority="", notes=[]. The classify step stamps category="password_reset". Prioritize sets priority="high". Summarize writes a queue line. If each step only printed to the console or used a secret global, the next step would not see the truth. State is the one shared clipboard everyone trusts.</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Node — one workflow step</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Input = full state · Output = a partial update dict</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A node is one unit of work. LangGraph merges the dict you return into state.</a:t>
            </a:r>
          </a:p>
        </p:txBody>
      </p:sp>
      <p:sp>
        <p:nvSpPr>
          <p:cNvPr id="5" name="Rectangle 4"/>
          <p:cNvSpPr/>
          <p:nvPr/>
        </p:nvSpPr>
        <p:spPr>
          <a:xfrm>
            <a:off x="640080" y="1737360"/>
            <a:ext cx="10972800" cy="141732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874520"/>
            <a:ext cx="10607040" cy="1188720"/>
          </a:xfrm>
          <a:prstGeom prst="rect">
            <a:avLst/>
          </a:prstGeom>
          <a:noFill/>
        </p:spPr>
        <p:txBody>
          <a:bodyPr wrap="square">
            <a:spAutoFit/>
          </a:bodyPr>
          <a:lstStyle/>
          <a:p>
            <a:pPr>
              <a:spcBef>
                <a:spcPts val="100"/>
              </a:spcBef>
              <a:spcAft>
                <a:spcPts val="100"/>
              </a:spcAft>
            </a:pPr>
            <a:r>
              <a:rPr sz="1200" b="0">
                <a:solidFill>
                  <a:srgbClr val="CADCFC"/>
                </a:solidFill>
                <a:latin typeface="Courier New"/>
              </a:rPr>
              <a:t>def classify(state: TicketState) -&gt; dict:</a:t>
            </a:r>
          </a:p>
          <a:p>
            <a:pPr>
              <a:spcBef>
                <a:spcPts val="100"/>
              </a:spcBef>
              <a:spcAft>
                <a:spcPts val="100"/>
              </a:spcAft>
            </a:pPr>
            <a:r>
              <a:rPr sz="1200" b="0">
                <a:solidFill>
                  <a:srgbClr val="CADCFC"/>
                </a:solidFill>
                <a:latin typeface="Courier New"/>
              </a:rPr>
              <a:t>    # set category from keywords ...</a:t>
            </a:r>
          </a:p>
          <a:p>
            <a:pPr>
              <a:spcBef>
                <a:spcPts val="100"/>
              </a:spcBef>
              <a:spcAft>
                <a:spcPts val="100"/>
              </a:spcAft>
            </a:pPr>
            <a:r>
              <a:rPr sz="1200" b="0">
                <a:solidFill>
                  <a:srgbClr val="CADCFC"/>
                </a:solidFill>
                <a:latin typeface="Courier New"/>
              </a:rPr>
              <a:t>    return {"category": "password_reset", "notes": ["classified"]}</a:t>
            </a:r>
          </a:p>
        </p:txBody>
      </p:sp>
      <p:sp>
        <p:nvSpPr>
          <p:cNvPr id="7" name="Rounded Rectangle 6"/>
          <p:cNvSpPr/>
          <p:nvPr/>
        </p:nvSpPr>
        <p:spPr>
          <a:xfrm>
            <a:off x="548640" y="3429000"/>
            <a:ext cx="11064240" cy="26060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538728"/>
            <a:ext cx="10698480" cy="242316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Think of four steps: intake(), classify(), prioritize(), summarize(). Each is a Python function. classify does not write the queue summary; summarize does not set priority. classify reads the clipboard and returns only what changed. LangGraph stamps that onto the shared clipboard. Nodes can be plain Python — no LLM required (Demos 1–2 work offline). Mistake: mutating state in place and returning None — always return the fields you changed.</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Edge — always prioritize after classify</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A fixed arrow between two steps</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An edge says: after this node finishes, always run that node.</a:t>
            </a:r>
          </a:p>
        </p:txBody>
      </p:sp>
      <p:sp>
        <p:nvSpPr>
          <p:cNvPr id="5" name="Rectangle 4"/>
          <p:cNvSpPr/>
          <p:nvPr/>
        </p:nvSpPr>
        <p:spPr>
          <a:xfrm>
            <a:off x="640080" y="1737360"/>
            <a:ext cx="10972800" cy="123444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874520"/>
            <a:ext cx="10607040" cy="1005840"/>
          </a:xfrm>
          <a:prstGeom prst="rect">
            <a:avLst/>
          </a:prstGeom>
          <a:noFill/>
        </p:spPr>
        <p:txBody>
          <a:bodyPr wrap="square">
            <a:spAutoFit/>
          </a:bodyPr>
          <a:lstStyle/>
          <a:p>
            <a:pPr>
              <a:spcBef>
                <a:spcPts val="100"/>
              </a:spcBef>
              <a:spcAft>
                <a:spcPts val="100"/>
              </a:spcAft>
            </a:pPr>
            <a:r>
              <a:rPr sz="1300" b="0">
                <a:solidFill>
                  <a:srgbClr val="CADCFC"/>
                </a:solidFill>
                <a:latin typeface="Courier New"/>
              </a:rPr>
              <a:t>graph.add_edge("classify", "prioritize")</a:t>
            </a:r>
          </a:p>
          <a:p>
            <a:pPr>
              <a:spcBef>
                <a:spcPts val="100"/>
              </a:spcBef>
              <a:spcAft>
                <a:spcPts val="100"/>
              </a:spcAft>
            </a:pPr>
            <a:r>
              <a:rPr sz="1300" b="0">
                <a:solidFill>
                  <a:srgbClr val="CADCFC"/>
                </a:solidFill>
                <a:latin typeface="Courier New"/>
              </a:rPr>
              <a:t>graph.add_edge("prioritize", "summarize")</a:t>
            </a:r>
          </a:p>
        </p:txBody>
      </p:sp>
      <p:sp>
        <p:nvSpPr>
          <p:cNvPr id="7" name="Rounded Rectangle 6"/>
          <p:cNvSpPr/>
          <p:nvPr/>
        </p:nvSpPr>
        <p:spPr>
          <a:xfrm>
            <a:off x="548640" y="3246120"/>
            <a:ext cx="11064240" cy="278892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355848"/>
            <a:ext cx="10698480" cy="260604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In IT ticket intake, once classify finishes the ticket must go to prioritize — never straight to summarize with an empty priority. That rule never changes: intake → classify → prioritize → summarize. In code that is add_edge(...). Same idea as expense: after "validate" always hit the amount router. Same idea as leave: after "check balance" always decide auto vs manager. Fixed edges are the roads that never get a fork.</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Conditional edge — amount ≤ 500 → auto, else → manager</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A router function returns the NEXT NODE NAME (not a state dict)</a:t>
            </a:r>
          </a:p>
        </p:txBody>
      </p:sp>
      <p:sp>
        <p:nvSpPr>
          <p:cNvPr id="4" name="TextBox 3"/>
          <p:cNvSpPr txBox="1"/>
          <p:nvPr/>
        </p:nvSpPr>
        <p:spPr>
          <a:xfrm>
            <a:off x="640080" y="1188720"/>
            <a:ext cx="10972800" cy="36576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After a node, a small function chooses which edge to follow.</a:t>
            </a:r>
          </a:p>
        </p:txBody>
      </p:sp>
      <p:sp>
        <p:nvSpPr>
          <p:cNvPr id="5" name="Rectangle 4"/>
          <p:cNvSpPr/>
          <p:nvPr/>
        </p:nvSpPr>
        <p:spPr>
          <a:xfrm>
            <a:off x="640080" y="1645920"/>
            <a:ext cx="10972800" cy="169164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783080"/>
            <a:ext cx="10607040" cy="1463040"/>
          </a:xfrm>
          <a:prstGeom prst="rect">
            <a:avLst/>
          </a:prstGeom>
          <a:noFill/>
        </p:spPr>
        <p:txBody>
          <a:bodyPr wrap="square">
            <a:spAutoFit/>
          </a:bodyPr>
          <a:lstStyle/>
          <a:p>
            <a:pPr>
              <a:spcBef>
                <a:spcPts val="100"/>
              </a:spcBef>
              <a:spcAft>
                <a:spcPts val="100"/>
              </a:spcAft>
            </a:pPr>
            <a:r>
              <a:rPr sz="1100" b="0">
                <a:solidFill>
                  <a:srgbClr val="CADCFC"/>
                </a:solidFill>
                <a:latin typeface="Courier New"/>
              </a:rPr>
              <a:t>def route_by_amount(state: ExpenseState) -&gt; str:</a:t>
            </a:r>
          </a:p>
          <a:p>
            <a:pPr>
              <a:spcBef>
                <a:spcPts val="100"/>
              </a:spcBef>
              <a:spcAft>
                <a:spcPts val="100"/>
              </a:spcAft>
            </a:pPr>
            <a:r>
              <a:rPr sz="1100" b="0">
                <a:solidFill>
                  <a:srgbClr val="CADCFC"/>
                </a:solidFill>
                <a:latin typeface="Courier New"/>
              </a:rPr>
              <a:t>    return "auto_approve" if state["amount"] &lt;= 500 else "manager_review"</a:t>
            </a:r>
          </a:p>
          <a:p>
            <a:pPr>
              <a:spcBef>
                <a:spcPts val="100"/>
              </a:spcBef>
              <a:spcAft>
                <a:spcPts val="100"/>
              </a:spcAft>
            </a:pPr>
            <a:endParaRPr sz="1100" b="0">
              <a:solidFill>
                <a:srgbClr val="CADCFC"/>
              </a:solidFill>
              <a:latin typeface="Courier New"/>
            </a:endParaRPr>
          </a:p>
          <a:p>
            <a:pPr>
              <a:spcBef>
                <a:spcPts val="100"/>
              </a:spcBef>
              <a:spcAft>
                <a:spcPts val="100"/>
              </a:spcAft>
            </a:pPr>
            <a:r>
              <a:rPr sz="1100" b="0">
                <a:solidFill>
                  <a:srgbClr val="CADCFC"/>
                </a:solidFill>
                <a:latin typeface="Courier New"/>
              </a:rPr>
              <a:t>graph.add_conditional_edges("validate", route_by_amount,</a:t>
            </a:r>
          </a:p>
          <a:p>
            <a:pPr>
              <a:spcBef>
                <a:spcPts val="100"/>
              </a:spcBef>
              <a:spcAft>
                <a:spcPts val="100"/>
              </a:spcAft>
            </a:pPr>
            <a:r>
              <a:rPr sz="1100" b="0">
                <a:solidFill>
                  <a:srgbClr val="CADCFC"/>
                </a:solidFill>
                <a:latin typeface="Courier New"/>
              </a:rPr>
              <a:t>    {"auto_approve": "auto_approve", "manager_review": "manager_review"})</a:t>
            </a:r>
          </a:p>
        </p:txBody>
      </p:sp>
      <p:sp>
        <p:nvSpPr>
          <p:cNvPr id="7" name="Rounded Rectangle 6"/>
          <p:cNvSpPr/>
          <p:nvPr/>
        </p:nvSpPr>
        <p:spPr>
          <a:xfrm>
            <a:off x="548640" y="3566160"/>
            <a:ext cx="11064240" cy="24688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675888"/>
            <a:ext cx="10698480" cy="22860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Claim A is $85: validate stamps amount → router returns "auto_approve". Claim B is $1,250: router returns "manager_review". If you only had a chain (validate → auto_approve), the large claim would skip the manager — wrong and non-compliant. The router does not approve money; it only names the next box. Mistake: returning {"amount": ...} from the router. Nodes update state; routers only name the next step.</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START and END — case opened / case closed</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Every graph needs a clear beginning and a clear finish</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START is where invoke begins. END means stop — no more nodes.</a:t>
            </a:r>
          </a:p>
        </p:txBody>
      </p:sp>
      <p:sp>
        <p:nvSpPr>
          <p:cNvPr id="5" name="Rectangle 4"/>
          <p:cNvSpPr/>
          <p:nvPr/>
        </p:nvSpPr>
        <p:spPr>
          <a:xfrm>
            <a:off x="640080" y="1737360"/>
            <a:ext cx="10972800" cy="128016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874520"/>
            <a:ext cx="10607040" cy="1051560"/>
          </a:xfrm>
          <a:prstGeom prst="rect">
            <a:avLst/>
          </a:prstGeom>
          <a:noFill/>
        </p:spPr>
        <p:txBody>
          <a:bodyPr wrap="square">
            <a:spAutoFit/>
          </a:bodyPr>
          <a:lstStyle/>
          <a:p>
            <a:pPr>
              <a:spcBef>
                <a:spcPts val="100"/>
              </a:spcBef>
              <a:spcAft>
                <a:spcPts val="100"/>
              </a:spcAft>
            </a:pPr>
            <a:r>
              <a:rPr sz="1300" b="0">
                <a:solidFill>
                  <a:srgbClr val="CADCFC"/>
                </a:solidFill>
                <a:latin typeface="Courier New"/>
              </a:rPr>
              <a:t>from langgraph.graph import START, END, StateGraph</a:t>
            </a:r>
          </a:p>
          <a:p>
            <a:pPr>
              <a:spcBef>
                <a:spcPts val="100"/>
              </a:spcBef>
              <a:spcAft>
                <a:spcPts val="100"/>
              </a:spcAft>
            </a:pPr>
            <a:endParaRPr sz="1300" b="0">
              <a:solidFill>
                <a:srgbClr val="CADCFC"/>
              </a:solidFill>
              <a:latin typeface="Courier New"/>
            </a:endParaRPr>
          </a:p>
          <a:p>
            <a:pPr>
              <a:spcBef>
                <a:spcPts val="100"/>
              </a:spcBef>
              <a:spcAft>
                <a:spcPts val="100"/>
              </a:spcAft>
            </a:pPr>
            <a:r>
              <a:rPr sz="1300" b="0">
                <a:solidFill>
                  <a:srgbClr val="CADCFC"/>
                </a:solidFill>
                <a:latin typeface="Courier New"/>
              </a:rPr>
              <a:t>graph.add_edge(START, "intake")</a:t>
            </a:r>
          </a:p>
          <a:p>
            <a:pPr>
              <a:spcBef>
                <a:spcPts val="100"/>
              </a:spcBef>
              <a:spcAft>
                <a:spcPts val="100"/>
              </a:spcAft>
            </a:pPr>
            <a:r>
              <a:rPr sz="1300" b="0">
                <a:solidFill>
                  <a:srgbClr val="CADCFC"/>
                </a:solidFill>
                <a:latin typeface="Courier New"/>
              </a:rPr>
              <a:t>graph.add_edge("summarize", END)</a:t>
            </a:r>
          </a:p>
        </p:txBody>
      </p:sp>
      <p:sp>
        <p:nvSpPr>
          <p:cNvPr id="7" name="Rounded Rectangle 6"/>
          <p:cNvSpPr/>
          <p:nvPr/>
        </p:nvSpPr>
        <p:spPr>
          <a:xfrm>
            <a:off x="548640" y="3291840"/>
            <a:ext cx="11064240" cy="26974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10698480" cy="25146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When a ticket enters the IT queue, it hits START → intake. When summarize writes the queue line (or manager_review marks "awaiting manager"), you go to END — that run of the graph is finished. Without END, you never told the workflow "this pass is closed." Same for expense: START → … → auto_approve → END. Without END, the claim never officially closes on the clipboard.</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29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compile — lock the workflow for production</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You design with add_node / add_edge; compile locks the recipe</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compile() builds an executable app from your StateGraph builder.</a:t>
            </a:r>
          </a:p>
        </p:txBody>
      </p:sp>
      <p:sp>
        <p:nvSpPr>
          <p:cNvPr id="5" name="Rectangle 4"/>
          <p:cNvSpPr/>
          <p:nvPr/>
        </p:nvSpPr>
        <p:spPr>
          <a:xfrm>
            <a:off x="640080" y="1737360"/>
            <a:ext cx="10972800" cy="114300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874520"/>
            <a:ext cx="10607040" cy="914400"/>
          </a:xfrm>
          <a:prstGeom prst="rect">
            <a:avLst/>
          </a:prstGeom>
          <a:noFill/>
        </p:spPr>
        <p:txBody>
          <a:bodyPr wrap="square">
            <a:spAutoFit/>
          </a:bodyPr>
          <a:lstStyle/>
          <a:p>
            <a:pPr>
              <a:spcBef>
                <a:spcPts val="100"/>
              </a:spcBef>
              <a:spcAft>
                <a:spcPts val="100"/>
              </a:spcAft>
            </a:pPr>
            <a:r>
              <a:rPr sz="1300" b="0">
                <a:solidFill>
                  <a:srgbClr val="CADCFC"/>
                </a:solidFill>
                <a:latin typeface="Courier New"/>
              </a:rPr>
              <a:t>builder = StateGraph(TicketState)</a:t>
            </a:r>
          </a:p>
          <a:p>
            <a:pPr>
              <a:spcBef>
                <a:spcPts val="100"/>
              </a:spcBef>
              <a:spcAft>
                <a:spcPts val="100"/>
              </a:spcAft>
            </a:pPr>
            <a:r>
              <a:rPr sz="1300" b="0">
                <a:solidFill>
                  <a:srgbClr val="CADCFC"/>
                </a:solidFill>
                <a:latin typeface="Courier New"/>
              </a:rPr>
              <a:t># ... add_node / add_edge / add_conditional_edges ...</a:t>
            </a:r>
          </a:p>
          <a:p>
            <a:pPr>
              <a:spcBef>
                <a:spcPts val="100"/>
              </a:spcBef>
              <a:spcAft>
                <a:spcPts val="100"/>
              </a:spcAft>
            </a:pPr>
            <a:r>
              <a:rPr sz="1300" b="0">
                <a:solidFill>
                  <a:srgbClr val="CADCFC"/>
                </a:solidFill>
                <a:latin typeface="Courier New"/>
              </a:rPr>
              <a:t>app = builder.compile()</a:t>
            </a:r>
          </a:p>
        </p:txBody>
      </p:sp>
      <p:sp>
        <p:nvSpPr>
          <p:cNvPr id="7" name="Rounded Rectangle 6"/>
          <p:cNvSpPr/>
          <p:nvPr/>
        </p:nvSpPr>
        <p:spPr>
          <a:xfrm>
            <a:off x="548640" y="3154680"/>
            <a:ext cx="11064240" cy="28803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264408"/>
            <a:ext cx="10698480" cy="269748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All morning the team sketches stations on a whiteboard — intake, classify, prioritize, summarize. That sketch cannot serve employees yet. compile() is "ready for traffic": the workflow is locked and runnable. Until you compile, you cannot invoke. After compile, you run the same map many times with different tickets (password reset, software access, expense claims) — same map, new clipboard each time.</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invoke — submit one ticket and wait</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One call in → final state out</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invoke(input) runs the whole graph and returns the finished state.</a:t>
            </a:r>
          </a:p>
        </p:txBody>
      </p:sp>
      <p:sp>
        <p:nvSpPr>
          <p:cNvPr id="5" name="Rectangle 4"/>
          <p:cNvSpPr/>
          <p:nvPr/>
        </p:nvSpPr>
        <p:spPr>
          <a:xfrm>
            <a:off x="640080" y="1737360"/>
            <a:ext cx="10972800" cy="132588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874520"/>
            <a:ext cx="10607040" cy="1097280"/>
          </a:xfrm>
          <a:prstGeom prst="rect">
            <a:avLst/>
          </a:prstGeom>
          <a:noFill/>
        </p:spPr>
        <p:txBody>
          <a:bodyPr wrap="square">
            <a:spAutoFit/>
          </a:bodyPr>
          <a:lstStyle/>
          <a:p>
            <a:pPr>
              <a:spcBef>
                <a:spcPts val="100"/>
              </a:spcBef>
              <a:spcAft>
                <a:spcPts val="100"/>
              </a:spcAft>
            </a:pPr>
            <a:r>
              <a:rPr sz="1200" b="0">
                <a:solidFill>
                  <a:srgbClr val="CADCFC"/>
                </a:solidFill>
                <a:latin typeface="Courier New"/>
              </a:rPr>
              <a:t>final = app.invoke({</a:t>
            </a:r>
          </a:p>
          <a:p>
            <a:pPr>
              <a:spcBef>
                <a:spcPts val="100"/>
              </a:spcBef>
              <a:spcAft>
                <a:spcPts val="100"/>
              </a:spcAft>
            </a:pPr>
            <a:r>
              <a:rPr sz="1200" b="0">
                <a:solidFill>
                  <a:srgbClr val="CADCFC"/>
                </a:solidFill>
                <a:latin typeface="Courier New"/>
              </a:rPr>
              <a:t>    "ticket_id": "IT-1001", "raw_request": "password reset",</a:t>
            </a:r>
          </a:p>
          <a:p>
            <a:pPr>
              <a:spcBef>
                <a:spcPts val="100"/>
              </a:spcBef>
              <a:spcAft>
                <a:spcPts val="100"/>
              </a:spcAft>
            </a:pPr>
            <a:r>
              <a:rPr sz="1200" b="0">
                <a:solidFill>
                  <a:srgbClr val="CADCFC"/>
                </a:solidFill>
                <a:latin typeface="Courier New"/>
              </a:rPr>
              <a:t>    "category": "", "priority": "", "summary": "", "notes": [],</a:t>
            </a:r>
          </a:p>
          <a:p>
            <a:pPr>
              <a:spcBef>
                <a:spcPts val="100"/>
              </a:spcBef>
              <a:spcAft>
                <a:spcPts val="100"/>
              </a:spcAft>
            </a:pPr>
            <a:r>
              <a:rPr sz="1200" b="0">
                <a:solidFill>
                  <a:srgbClr val="CADCFC"/>
                </a:solidFill>
                <a:latin typeface="Courier New"/>
              </a:rPr>
              <a:t>})</a:t>
            </a:r>
          </a:p>
        </p:txBody>
      </p:sp>
      <p:sp>
        <p:nvSpPr>
          <p:cNvPr id="7" name="Rounded Rectangle 6"/>
          <p:cNvSpPr/>
          <p:nvPr/>
        </p:nvSpPr>
        <p:spPr>
          <a:xfrm>
            <a:off x="548640" y="3337560"/>
            <a:ext cx="11064240" cy="26974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47288"/>
            <a:ext cx="10698480" cy="25146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You drop ticket IT-1001 into the service desk workflow and wait. You do not watch every step — you just want the final clipboard: category=password_reset, priority=high, summary=[HIGH] …. That is invoke. Best when you care about the finished result, not the play-by-play. Same for expense: drop a claim, wait for decision=auto_approved or pending_manager.</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stream — watch each step update live</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Like a ticket tracker: tagged → drafted → ready for review</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stream() yields updates as each node completes (great for debugging).</a:t>
            </a:r>
          </a:p>
        </p:txBody>
      </p:sp>
      <p:sp>
        <p:nvSpPr>
          <p:cNvPr id="5" name="Rectangle 4"/>
          <p:cNvSpPr/>
          <p:nvPr/>
        </p:nvSpPr>
        <p:spPr>
          <a:xfrm>
            <a:off x="640080" y="1737360"/>
            <a:ext cx="10972800" cy="128016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874520"/>
            <a:ext cx="10607040" cy="1051560"/>
          </a:xfrm>
          <a:prstGeom prst="rect">
            <a:avLst/>
          </a:prstGeom>
          <a:noFill/>
        </p:spPr>
        <p:txBody>
          <a:bodyPr wrap="square">
            <a:spAutoFit/>
          </a:bodyPr>
          <a:lstStyle/>
          <a:p>
            <a:pPr>
              <a:spcBef>
                <a:spcPts val="100"/>
              </a:spcBef>
              <a:spcAft>
                <a:spcPts val="100"/>
              </a:spcAft>
            </a:pPr>
            <a:r>
              <a:rPr sz="1200" b="0">
                <a:solidFill>
                  <a:srgbClr val="CADCFC"/>
                </a:solidFill>
                <a:latin typeface="Courier New"/>
              </a:rPr>
              <a:t>for event in app.stream({...}, stream_mode="updates"):</a:t>
            </a:r>
          </a:p>
          <a:p>
            <a:pPr>
              <a:spcBef>
                <a:spcPts val="100"/>
              </a:spcBef>
              <a:spcAft>
                <a:spcPts val="100"/>
              </a:spcAft>
            </a:pPr>
            <a:r>
              <a:rPr sz="1200" b="0">
                <a:solidFill>
                  <a:srgbClr val="CADCFC"/>
                </a:solidFill>
                <a:latin typeface="Courier New"/>
              </a:rPr>
              <a:t>    print(event)   # {"intake": {...}} then {"classify": {...}} then ...</a:t>
            </a:r>
          </a:p>
        </p:txBody>
      </p:sp>
      <p:sp>
        <p:nvSpPr>
          <p:cNvPr id="7" name="Rounded Rectangle 6"/>
          <p:cNvSpPr/>
          <p:nvPr/>
        </p:nvSpPr>
        <p:spPr>
          <a:xfrm>
            <a:off x="548640" y="3291840"/>
            <a:ext cx="11064240" cy="26974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10698480" cy="25146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An HR agent watches a reply draft: "topic tagged" → "LLM wrote reply" → "ready for review." That live feed is stream. When the final answer looks wrong — e.g. a leave FAQ somehow skipped tagging — stream tells you which step fired. Demo 3 uses stream so you can see each node finish while the graph runs. invoke hides the middle; stream shows every stamp.</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One workflow — three verbs together</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compile locks · invoke submits · stream watches</a:t>
            </a:r>
          </a:p>
        </p:txBody>
      </p:sp>
      <p:sp>
        <p:nvSpPr>
          <p:cNvPr id="4" name="Rectangle 3"/>
          <p:cNvSpPr/>
          <p:nvPr/>
        </p:nvSpPr>
        <p:spPr>
          <a:xfrm>
            <a:off x="502920" y="1280160"/>
            <a:ext cx="219456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335024"/>
            <a:ext cx="202996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VERB</a:t>
            </a:r>
          </a:p>
        </p:txBody>
      </p:sp>
      <p:sp>
        <p:nvSpPr>
          <p:cNvPr id="6" name="Rectangle 5"/>
          <p:cNvSpPr/>
          <p:nvPr/>
        </p:nvSpPr>
        <p:spPr>
          <a:xfrm>
            <a:off x="2697480" y="1280160"/>
            <a:ext cx="438912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88920" y="1335024"/>
            <a:ext cx="422452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CLIENT-PROJECT MEANING</a:t>
            </a:r>
          </a:p>
        </p:txBody>
      </p:sp>
      <p:sp>
        <p:nvSpPr>
          <p:cNvPr id="8" name="Rectangle 7"/>
          <p:cNvSpPr/>
          <p:nvPr/>
        </p:nvSpPr>
        <p:spPr>
          <a:xfrm>
            <a:off x="7086600" y="1280160"/>
            <a:ext cx="448056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78040" y="1335024"/>
            <a:ext cx="431596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YOU GET</a:t>
            </a:r>
          </a:p>
        </p:txBody>
      </p:sp>
      <p:sp>
        <p:nvSpPr>
          <p:cNvPr id="10" name="Rectangle 9"/>
          <p:cNvSpPr/>
          <p:nvPr/>
        </p:nvSpPr>
        <p:spPr>
          <a:xfrm>
            <a:off x="502920" y="1627632"/>
            <a:ext cx="2194560" cy="777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627632"/>
            <a:ext cx="45720" cy="77724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1700784"/>
            <a:ext cx="202996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compile</a:t>
            </a:r>
          </a:p>
        </p:txBody>
      </p:sp>
      <p:sp>
        <p:nvSpPr>
          <p:cNvPr id="13" name="Rectangle 12"/>
          <p:cNvSpPr/>
          <p:nvPr/>
        </p:nvSpPr>
        <p:spPr>
          <a:xfrm>
            <a:off x="2697480" y="1627632"/>
            <a:ext cx="4389120" cy="777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88920" y="1700784"/>
            <a:ext cx="422452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Lock the workflow — ready for traffic</a:t>
            </a:r>
          </a:p>
        </p:txBody>
      </p:sp>
      <p:sp>
        <p:nvSpPr>
          <p:cNvPr id="15" name="Rectangle 14"/>
          <p:cNvSpPr/>
          <p:nvPr/>
        </p:nvSpPr>
        <p:spPr>
          <a:xfrm>
            <a:off x="7086600" y="1627632"/>
            <a:ext cx="4480560" cy="777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1700784"/>
            <a:ext cx="431596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A runnable app</a:t>
            </a:r>
          </a:p>
        </p:txBody>
      </p:sp>
      <p:sp>
        <p:nvSpPr>
          <p:cNvPr id="17" name="Rectangle 16"/>
          <p:cNvSpPr/>
          <p:nvPr/>
        </p:nvSpPr>
        <p:spPr>
          <a:xfrm>
            <a:off x="502920" y="2404872"/>
            <a:ext cx="219456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2404872"/>
            <a:ext cx="45720" cy="77724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2478024"/>
            <a:ext cx="202996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invoke</a:t>
            </a:r>
          </a:p>
        </p:txBody>
      </p:sp>
      <p:sp>
        <p:nvSpPr>
          <p:cNvPr id="20" name="Rectangle 19"/>
          <p:cNvSpPr/>
          <p:nvPr/>
        </p:nvSpPr>
        <p:spPr>
          <a:xfrm>
            <a:off x="2697480" y="2404872"/>
            <a:ext cx="4389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88920" y="2478024"/>
            <a:ext cx="422452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Submit one ticket / claim — wait</a:t>
            </a:r>
          </a:p>
        </p:txBody>
      </p:sp>
      <p:sp>
        <p:nvSpPr>
          <p:cNvPr id="22" name="Rectangle 21"/>
          <p:cNvSpPr/>
          <p:nvPr/>
        </p:nvSpPr>
        <p:spPr>
          <a:xfrm>
            <a:off x="7086600" y="2404872"/>
            <a:ext cx="448056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78040" y="2478024"/>
            <a:ext cx="431596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Final clipboard only</a:t>
            </a:r>
          </a:p>
        </p:txBody>
      </p:sp>
      <p:sp>
        <p:nvSpPr>
          <p:cNvPr id="24" name="Rectangle 23"/>
          <p:cNvSpPr/>
          <p:nvPr/>
        </p:nvSpPr>
        <p:spPr>
          <a:xfrm>
            <a:off x="502920" y="3182112"/>
            <a:ext cx="2194560" cy="777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3182112"/>
            <a:ext cx="45720" cy="77724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3255264"/>
            <a:ext cx="202996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stream</a:t>
            </a:r>
          </a:p>
        </p:txBody>
      </p:sp>
      <p:sp>
        <p:nvSpPr>
          <p:cNvPr id="27" name="Rectangle 26"/>
          <p:cNvSpPr/>
          <p:nvPr/>
        </p:nvSpPr>
        <p:spPr>
          <a:xfrm>
            <a:off x="2697480" y="3182112"/>
            <a:ext cx="4389120" cy="777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88920" y="3255264"/>
            <a:ext cx="422452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Watch every step stamp the ticket</a:t>
            </a:r>
          </a:p>
        </p:txBody>
      </p:sp>
      <p:sp>
        <p:nvSpPr>
          <p:cNvPr id="29" name="Rectangle 28"/>
          <p:cNvSpPr/>
          <p:nvPr/>
        </p:nvSpPr>
        <p:spPr>
          <a:xfrm>
            <a:off x="7086600" y="3182112"/>
            <a:ext cx="4480560" cy="777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78040" y="3255264"/>
            <a:ext cx="4315968" cy="68580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Live updates per node</a:t>
            </a:r>
          </a:p>
        </p:txBody>
      </p:sp>
      <p:sp>
        <p:nvSpPr>
          <p:cNvPr id="31" name="Rounded Rectangle 30"/>
          <p:cNvSpPr/>
          <p:nvPr/>
        </p:nvSpPr>
        <p:spPr>
          <a:xfrm>
            <a:off x="502920" y="4297680"/>
            <a:ext cx="11155680" cy="16916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04088" y="4407408"/>
            <a:ext cx="10789920" cy="150876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Go-live: compile once. All day you invoke (or stream) many tickets and claims. Same workflow map; new clipboard each time. If something looks wrong, stream that case again and see whether classify or prioritize stamped the bad note.</a:t>
            </a:r>
          </a:p>
        </p:txBody>
      </p:sp>
      <p:sp>
        <p:nvSpPr>
          <p:cNvPr id="33" name="TextBox 32"/>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Bonus: reducers (Annotated + operator.add)</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Default merge replaces a field. A reducer can append instead.</a:t>
            </a:r>
          </a:p>
        </p:txBody>
      </p:sp>
      <p:sp>
        <p:nvSpPr>
          <p:cNvPr id="4" name="TextBox 3"/>
          <p:cNvSpPr txBox="1"/>
          <p:nvPr/>
        </p:nvSpPr>
        <p:spPr>
          <a:xfrm>
            <a:off x="640080" y="1234440"/>
            <a:ext cx="10972800" cy="411480"/>
          </a:xfrm>
          <a:prstGeom prst="rect">
            <a:avLst/>
          </a:prstGeom>
          <a:noFill/>
        </p:spPr>
        <p:txBody>
          <a:bodyPr wrap="square">
            <a:spAutoFit/>
          </a:bodyPr>
          <a:lstStyle/>
          <a:p>
            <a:pPr algn="l">
              <a:spcBef>
                <a:spcPts val="0"/>
              </a:spcBef>
              <a:spcAft>
                <a:spcPts val="0"/>
              </a:spcAft>
            </a:pPr>
            <a:r>
              <a:rPr sz="1500" b="1">
                <a:solidFill>
                  <a:srgbClr val="0E1B2B"/>
                </a:solidFill>
                <a:latin typeface="Calibri"/>
              </a:rPr>
              <a:t>Definition: When two nodes write the same field, LangGraph needs a merge rule.</a:t>
            </a:r>
          </a:p>
        </p:txBody>
      </p:sp>
      <p:sp>
        <p:nvSpPr>
          <p:cNvPr id="5" name="Rectangle 4"/>
          <p:cNvSpPr/>
          <p:nvPr/>
        </p:nvSpPr>
        <p:spPr>
          <a:xfrm>
            <a:off x="640080" y="1783080"/>
            <a:ext cx="10972800" cy="1097280"/>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20240"/>
            <a:ext cx="10607040" cy="868680"/>
          </a:xfrm>
          <a:prstGeom prst="rect">
            <a:avLst/>
          </a:prstGeom>
          <a:noFill/>
        </p:spPr>
        <p:txBody>
          <a:bodyPr wrap="square">
            <a:spAutoFit/>
          </a:bodyPr>
          <a:lstStyle/>
          <a:p>
            <a:pPr>
              <a:spcBef>
                <a:spcPts val="100"/>
              </a:spcBef>
              <a:spcAft>
                <a:spcPts val="100"/>
              </a:spcAft>
            </a:pPr>
            <a:r>
              <a:rPr sz="1300" b="0">
                <a:solidFill>
                  <a:srgbClr val="CADCFC"/>
                </a:solidFill>
                <a:latin typeface="Courier New"/>
              </a:rPr>
              <a:t>notes: Annotated[list[str], operator.add]</a:t>
            </a:r>
          </a:p>
          <a:p>
            <a:pPr>
              <a:spcBef>
                <a:spcPts val="100"/>
              </a:spcBef>
              <a:spcAft>
                <a:spcPts val="100"/>
              </a:spcAft>
            </a:pPr>
            <a:r>
              <a:rPr sz="1300" b="0">
                <a:solidFill>
                  <a:srgbClr val="CADCFC"/>
                </a:solidFill>
                <a:latin typeface="Courier New"/>
              </a:rPr>
              <a:t># each node returns notes=["one line"] → lines pile up like a log</a:t>
            </a:r>
          </a:p>
        </p:txBody>
      </p:sp>
      <p:sp>
        <p:nvSpPr>
          <p:cNvPr id="7" name="Rounded Rectangle 6"/>
          <p:cNvSpPr/>
          <p:nvPr/>
        </p:nvSpPr>
        <p:spPr>
          <a:xfrm>
            <a:off x="548640" y="3154680"/>
            <a:ext cx="11064240" cy="288036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264408"/>
            <a:ext cx="10698480" cy="269748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The ticket clipboard has a notes column. Intake adds "accepted IT-1001." Classify adds "category = password_reset." Prioritize adds "priority = high." You want all three lines — not prioritize wiping the earlier stamps. operator.add on a list means append. Same for an expense activity log: intake, validate, and manager_review each add a line. Demo 1 uses this on notes.</a:t>
            </a:r>
          </a:p>
        </p:txBody>
      </p:sp>
      <p:sp>
        <p:nvSpPr>
          <p:cNvPr id="9" name="TextBox 8"/>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Why tools are paused in Lecture 9</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Friendly pause — not a missing feature</a:t>
            </a:r>
          </a:p>
        </p:txBody>
      </p:sp>
      <p:sp>
        <p:nvSpPr>
          <p:cNvPr id="4" name="TextBox 3"/>
          <p:cNvSpPr txBox="1"/>
          <p:nvPr/>
        </p:nvSpPr>
        <p:spPr>
          <a:xfrm>
            <a:off x="777240" y="1280160"/>
            <a:ext cx="10515600" cy="2377440"/>
          </a:xfrm>
          <a:prstGeom prst="rect">
            <a:avLst/>
          </a:prstGeom>
          <a:noFill/>
        </p:spPr>
        <p:txBody>
          <a:bodyPr wrap="square">
            <a:spAutoFit/>
          </a:bodyPr>
          <a:lstStyle/>
          <a:p>
            <a:pPr algn="l">
              <a:spcBef>
                <a:spcPts val="400"/>
              </a:spcBef>
              <a:spcAft>
                <a:spcPts val="200"/>
              </a:spcAft>
            </a:pPr>
            <a:r>
              <a:rPr sz="1500" b="0">
                <a:solidFill>
                  <a:srgbClr val="0E1B2B"/>
                </a:solidFill>
                <a:latin typeface="Calibri"/>
              </a:rPr>
              <a:t>•  Today's job is wiring: state, nodes, edges, compile, invoke, stream.</a:t>
            </a:r>
          </a:p>
          <a:p>
            <a:pPr algn="l">
              <a:spcBef>
                <a:spcPts val="400"/>
              </a:spcBef>
              <a:spcAft>
                <a:spcPts val="200"/>
              </a:spcAft>
            </a:pPr>
            <a:r>
              <a:rPr sz="1500" b="0">
                <a:solidFill>
                  <a:srgbClr val="0E1B2B"/>
                </a:solidFill>
                <a:latin typeface="Calibri"/>
              </a:rPr>
              <a:t>•  Tools add a second story ("should I call a tool?") on top of that wiring.</a:t>
            </a:r>
          </a:p>
          <a:p>
            <a:pPr algn="l">
              <a:spcBef>
                <a:spcPts val="400"/>
              </a:spcBef>
              <a:spcAft>
                <a:spcPts val="200"/>
              </a:spcAft>
            </a:pPr>
            <a:r>
              <a:rPr sz="1500" b="0">
                <a:solidFill>
                  <a:srgbClr val="0E1B2B"/>
                </a:solidFill>
                <a:latin typeface="Calibri"/>
              </a:rPr>
              <a:t>•  Demos 1–2 are still real StateGraphs — plain Python steps, no API key needed.</a:t>
            </a:r>
          </a:p>
          <a:p>
            <a:pPr algn="l">
              <a:spcBef>
                <a:spcPts val="400"/>
              </a:spcBef>
              <a:spcAft>
                <a:spcPts val="200"/>
              </a:spcAft>
            </a:pPr>
            <a:r>
              <a:rPr sz="1500" b="0">
                <a:solidFill>
                  <a:srgbClr val="0E1B2B"/>
                </a:solidFill>
                <a:latin typeface="Calibri"/>
              </a:rPr>
              <a:t>•  Demo 3 adds one LLM call and streaming — still no ToolNode.</a:t>
            </a:r>
          </a:p>
          <a:p>
            <a:pPr algn="l">
              <a:spcBef>
                <a:spcPts val="400"/>
              </a:spcBef>
              <a:spcAft>
                <a:spcPts val="200"/>
              </a:spcAft>
            </a:pPr>
            <a:r>
              <a:rPr sz="1500" b="0">
                <a:solidFill>
                  <a:srgbClr val="0E1B2B"/>
                </a:solidFill>
                <a:latin typeface="Calibri"/>
              </a:rPr>
              <a:t>•  Tools return in Lecture 10, on purpose, once the flowchart feels natural.</a:t>
            </a:r>
          </a:p>
        </p:txBody>
      </p:sp>
      <p:sp>
        <p:nvSpPr>
          <p:cNvPr id="5" name="Rounded Rectangle 4"/>
          <p:cNvSpPr/>
          <p:nvPr/>
        </p:nvSpPr>
        <p:spPr>
          <a:xfrm>
            <a:off x="548640" y="3931920"/>
            <a:ext cx="11064240" cy="210312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4041648"/>
            <a:ext cx="10698480" cy="192024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Learning forks and steps while also learning every tool is too much at once. First learn the workflow layout (L9). Next lecture, put tools back into the steps (ToolNode). You are not going backwards — you are learning the gearbox create_agent already used.</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1828800"/>
            <a:ext cx="10515600" cy="320040"/>
          </a:xfrm>
          <a:prstGeom prst="rect">
            <a:avLst/>
          </a:prstGeom>
          <a:noFill/>
        </p:spPr>
        <p:txBody>
          <a:bodyPr wrap="square">
            <a:spAutoFit/>
          </a:bodyPr>
          <a:lstStyle/>
          <a:p>
            <a:pPr algn="l">
              <a:spcBef>
                <a:spcPts val="0"/>
              </a:spcBef>
              <a:spcAft>
                <a:spcPts val="0"/>
              </a:spcAft>
            </a:pPr>
            <a:r>
              <a:rPr sz="1400" b="1">
                <a:solidFill>
                  <a:srgbClr val="E8A33D"/>
                </a:solidFill>
                <a:latin typeface="Calibri"/>
              </a:rPr>
              <a:t>PART 5</a:t>
            </a:r>
          </a:p>
        </p:txBody>
      </p:sp>
      <p:sp>
        <p:nvSpPr>
          <p:cNvPr id="3" name="TextBox 2"/>
          <p:cNvSpPr txBox="1"/>
          <p:nvPr/>
        </p:nvSpPr>
        <p:spPr>
          <a:xfrm>
            <a:off x="822960" y="2286000"/>
            <a:ext cx="10515600" cy="914400"/>
          </a:xfrm>
          <a:prstGeom prst="rect">
            <a:avLst/>
          </a:prstGeom>
          <a:noFill/>
        </p:spPr>
        <p:txBody>
          <a:bodyPr wrap="square">
            <a:spAutoFit/>
          </a:bodyPr>
          <a:lstStyle/>
          <a:p>
            <a:pPr algn="l">
              <a:spcBef>
                <a:spcPts val="0"/>
              </a:spcBef>
              <a:spcAft>
                <a:spcPts val="0"/>
              </a:spcAft>
            </a:pPr>
            <a:r>
              <a:rPr sz="3400" b="1">
                <a:solidFill>
                  <a:srgbClr val="FFFFFF"/>
                </a:solidFill>
                <a:latin typeface="Cambria"/>
              </a:rPr>
              <a:t>What we build today</a:t>
            </a:r>
          </a:p>
        </p:txBody>
      </p:sp>
      <p:sp>
        <p:nvSpPr>
          <p:cNvPr id="4" name="TextBox 3"/>
          <p:cNvSpPr txBox="1"/>
          <p:nvPr/>
        </p:nvSpPr>
        <p:spPr>
          <a:xfrm>
            <a:off x="822960" y="3383280"/>
            <a:ext cx="10058400" cy="914400"/>
          </a:xfrm>
          <a:prstGeom prst="rect">
            <a:avLst/>
          </a:prstGeom>
          <a:noFill/>
        </p:spPr>
        <p:txBody>
          <a:bodyPr wrap="square">
            <a:spAutoFit/>
          </a:bodyPr>
          <a:lstStyle/>
          <a:p>
            <a:pPr algn="l">
              <a:spcBef>
                <a:spcPts val="0"/>
              </a:spcBef>
              <a:spcAft>
                <a:spcPts val="0"/>
              </a:spcAft>
            </a:pPr>
            <a:r>
              <a:rPr sz="1600" b="0">
                <a:solidFill>
                  <a:srgbClr val="CADCFC"/>
                </a:solidFill>
                <a:latin typeface="Calibri"/>
              </a:rPr>
              <a:t>Three short demos — linear, branching, then stream.</a:t>
            </a:r>
          </a:p>
        </p:txBody>
      </p:sp>
      <p:sp>
        <p:nvSpPr>
          <p:cNvPr id="5" name="TextBox 4"/>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36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Today's three demos</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Run from lecture9/ — keep them simple</a:t>
            </a:r>
          </a:p>
        </p:txBody>
      </p:sp>
      <p:sp>
        <p:nvSpPr>
          <p:cNvPr id="4" name="Rectangle 3"/>
          <p:cNvSpPr/>
          <p:nvPr/>
        </p:nvSpPr>
        <p:spPr>
          <a:xfrm>
            <a:off x="457200" y="1280160"/>
            <a:ext cx="219456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335024"/>
            <a:ext cx="202996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DEMO</a:t>
            </a:r>
          </a:p>
        </p:txBody>
      </p:sp>
      <p:sp>
        <p:nvSpPr>
          <p:cNvPr id="6" name="Rectangle 5"/>
          <p:cNvSpPr/>
          <p:nvPr/>
        </p:nvSpPr>
        <p:spPr>
          <a:xfrm>
            <a:off x="2651760" y="1280160"/>
            <a:ext cx="493776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0" y="1335024"/>
            <a:ext cx="477316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WHAT YOU SEE</a:t>
            </a:r>
          </a:p>
        </p:txBody>
      </p:sp>
      <p:sp>
        <p:nvSpPr>
          <p:cNvPr id="8" name="Rectangle 7"/>
          <p:cNvSpPr/>
          <p:nvPr/>
        </p:nvSpPr>
        <p:spPr>
          <a:xfrm>
            <a:off x="7589520" y="1280160"/>
            <a:ext cx="4023360" cy="347472"/>
          </a:xfrm>
          <a:prstGeom prst="rect">
            <a:avLst/>
          </a:prstGeom>
          <a:solidFill>
            <a:srgbClr val="0E1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35024"/>
            <a:ext cx="3858768" cy="274320"/>
          </a:xfrm>
          <a:prstGeom prst="rect">
            <a:avLst/>
          </a:prstGeom>
          <a:noFill/>
        </p:spPr>
        <p:txBody>
          <a:bodyPr wrap="square">
            <a:spAutoFit/>
          </a:bodyPr>
          <a:lstStyle/>
          <a:p>
            <a:pPr algn="l">
              <a:spcBef>
                <a:spcPts val="0"/>
              </a:spcBef>
              <a:spcAft>
                <a:spcPts val="0"/>
              </a:spcAft>
            </a:pPr>
            <a:r>
              <a:rPr sz="1100" b="1">
                <a:solidFill>
                  <a:srgbClr val="E8A33D"/>
                </a:solidFill>
                <a:latin typeface="Calibri"/>
              </a:rPr>
              <a:t>NEEDS</a:t>
            </a:r>
          </a:p>
        </p:txBody>
      </p:sp>
      <p:sp>
        <p:nvSpPr>
          <p:cNvPr id="10" name="Rectangle 9"/>
          <p:cNvSpPr/>
          <p:nvPr/>
        </p:nvSpPr>
        <p:spPr>
          <a:xfrm>
            <a:off x="457200" y="1627632"/>
            <a:ext cx="2194560"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27632"/>
            <a:ext cx="45720" cy="9144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00784"/>
            <a:ext cx="20299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Demo 1</a:t>
            </a:r>
          </a:p>
        </p:txBody>
      </p:sp>
      <p:sp>
        <p:nvSpPr>
          <p:cNvPr id="13" name="Rectangle 12"/>
          <p:cNvSpPr/>
          <p:nvPr/>
        </p:nvSpPr>
        <p:spPr>
          <a:xfrm>
            <a:off x="2651760" y="1627632"/>
            <a:ext cx="4937760"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0" y="1700784"/>
            <a:ext cx="47731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IT ticket: intake → classify → prioritize → summarize</a:t>
            </a:r>
          </a:p>
        </p:txBody>
      </p:sp>
      <p:sp>
        <p:nvSpPr>
          <p:cNvPr id="15" name="Rectangle 14"/>
          <p:cNvSpPr/>
          <p:nvPr/>
        </p:nvSpPr>
        <p:spPr>
          <a:xfrm>
            <a:off x="7589520" y="1627632"/>
            <a:ext cx="4023360"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60" y="1700784"/>
            <a:ext cx="38587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Nothing (offline)</a:t>
            </a:r>
          </a:p>
        </p:txBody>
      </p:sp>
      <p:sp>
        <p:nvSpPr>
          <p:cNvPr id="17" name="Rectangle 16"/>
          <p:cNvSpPr/>
          <p:nvPr/>
        </p:nvSpPr>
        <p:spPr>
          <a:xfrm>
            <a:off x="457200" y="2542032"/>
            <a:ext cx="21945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2542032"/>
            <a:ext cx="45720" cy="9144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2615184"/>
            <a:ext cx="20299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Demo 2</a:t>
            </a:r>
          </a:p>
        </p:txBody>
      </p:sp>
      <p:sp>
        <p:nvSpPr>
          <p:cNvPr id="20" name="Rectangle 19"/>
          <p:cNvSpPr/>
          <p:nvPr/>
        </p:nvSpPr>
        <p:spPr>
          <a:xfrm>
            <a:off x="2651760" y="2542032"/>
            <a:ext cx="4937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43200" y="2615184"/>
            <a:ext cx="47731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Expense: amount ≤ 500 auto_approve; else manager_review</a:t>
            </a:r>
          </a:p>
        </p:txBody>
      </p:sp>
      <p:sp>
        <p:nvSpPr>
          <p:cNvPr id="22" name="Rectangle 21"/>
          <p:cNvSpPr/>
          <p:nvPr/>
        </p:nvSpPr>
        <p:spPr>
          <a:xfrm>
            <a:off x="7589520" y="2542032"/>
            <a:ext cx="40233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80960" y="2615184"/>
            <a:ext cx="38587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Nothing (offline)</a:t>
            </a:r>
          </a:p>
        </p:txBody>
      </p:sp>
      <p:sp>
        <p:nvSpPr>
          <p:cNvPr id="24" name="Rectangle 23"/>
          <p:cNvSpPr/>
          <p:nvPr/>
        </p:nvSpPr>
        <p:spPr>
          <a:xfrm>
            <a:off x="457200" y="3456432"/>
            <a:ext cx="2194560"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3456432"/>
            <a:ext cx="45720" cy="914400"/>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3529584"/>
            <a:ext cx="20299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Demo 3</a:t>
            </a:r>
          </a:p>
        </p:txBody>
      </p:sp>
      <p:sp>
        <p:nvSpPr>
          <p:cNvPr id="27" name="Rectangle 26"/>
          <p:cNvSpPr/>
          <p:nvPr/>
        </p:nvSpPr>
        <p:spPr>
          <a:xfrm>
            <a:off x="2651760" y="3456432"/>
            <a:ext cx="4937760"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0" y="3529584"/>
            <a:ext cx="47731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HR reply draft via stream + create_agent bridge</a:t>
            </a:r>
          </a:p>
        </p:txBody>
      </p:sp>
      <p:sp>
        <p:nvSpPr>
          <p:cNvPr id="29" name="Rectangle 28"/>
          <p:cNvSpPr/>
          <p:nvPr/>
        </p:nvSpPr>
        <p:spPr>
          <a:xfrm>
            <a:off x="7589520" y="3456432"/>
            <a:ext cx="4023360" cy="914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680960" y="3529584"/>
            <a:ext cx="3858768"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GROQ_API_KEY</a:t>
            </a:r>
          </a:p>
        </p:txBody>
      </p:sp>
      <p:sp>
        <p:nvSpPr>
          <p:cNvPr id="31" name="Rounded Rectangle 30"/>
          <p:cNvSpPr/>
          <p:nvPr/>
        </p:nvSpPr>
        <p:spPr>
          <a:xfrm>
            <a:off x="457200" y="4937760"/>
            <a:ext cx="11247120" cy="100584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5047488"/>
            <a:ext cx="10881360" cy="822960"/>
          </a:xfrm>
          <a:prstGeom prst="rect">
            <a:avLst/>
          </a:prstGeom>
          <a:noFill/>
        </p:spPr>
        <p:txBody>
          <a:bodyPr wrap="square">
            <a:spAutoFit/>
          </a:bodyPr>
          <a:lstStyle/>
          <a:p>
            <a:pPr algn="l">
              <a:spcBef>
                <a:spcPts val="0"/>
              </a:spcBef>
              <a:spcAft>
                <a:spcPts val="0"/>
              </a:spcAft>
            </a:pPr>
            <a:r>
              <a:rPr sz="1300" b="0">
                <a:solidFill>
                  <a:srgbClr val="0E1B2B"/>
                </a:solidFill>
                <a:latin typeface="Calibri"/>
              </a:rPr>
              <a:t>Files: demos/demo_1_hello_stategraph.py · demo_2_conditional_routing.py · demo_3_stream_debug_bridge.py</a:t>
            </a:r>
          </a:p>
        </p:txBody>
      </p:sp>
      <p:sp>
        <p:nvSpPr>
          <p:cNvPr id="33" name="TextBox 32"/>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Demo 1 — Hello StateGraph (IT service desk)</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A straight line of steps on a shared ticket clipboard</a:t>
            </a:r>
          </a:p>
        </p:txBody>
      </p:sp>
      <p:sp>
        <p:nvSpPr>
          <p:cNvPr id="4" name="TextBox 3"/>
          <p:cNvSpPr txBox="1"/>
          <p:nvPr/>
        </p:nvSpPr>
        <p:spPr>
          <a:xfrm>
            <a:off x="777240" y="1280160"/>
            <a:ext cx="10515600" cy="2194560"/>
          </a:xfrm>
          <a:prstGeom prst="rect">
            <a:avLst/>
          </a:prstGeom>
          <a:noFill/>
        </p:spPr>
        <p:txBody>
          <a:bodyPr wrap="square">
            <a:spAutoFit/>
          </a:bodyPr>
          <a:lstStyle/>
          <a:p>
            <a:pPr algn="l">
              <a:spcBef>
                <a:spcPts val="400"/>
              </a:spcBef>
              <a:spcAft>
                <a:spcPts val="200"/>
              </a:spcAft>
            </a:pPr>
            <a:r>
              <a:rPr sz="1400" b="0">
                <a:solidFill>
                  <a:srgbClr val="0E1B2B"/>
                </a:solidFill>
                <a:latin typeface="Calibri"/>
              </a:rPr>
              <a:t>•  State = ticket_id, raw_request, category, priority, summary, notes</a:t>
            </a:r>
          </a:p>
          <a:p>
            <a:pPr algn="l">
              <a:spcBef>
                <a:spcPts val="400"/>
              </a:spcBef>
              <a:spcAft>
                <a:spcPts val="200"/>
              </a:spcAft>
            </a:pPr>
            <a:r>
              <a:rPr sz="1400" b="0">
                <a:solidFill>
                  <a:srgbClr val="0E1B2B"/>
                </a:solidFill>
                <a:latin typeface="Calibri"/>
              </a:rPr>
              <a:t>•  Nodes = intake → classify → prioritize → summarize</a:t>
            </a:r>
          </a:p>
          <a:p>
            <a:pPr algn="l">
              <a:spcBef>
                <a:spcPts val="400"/>
              </a:spcBef>
              <a:spcAft>
                <a:spcPts val="200"/>
              </a:spcAft>
            </a:pPr>
            <a:r>
              <a:rPr sz="1400" b="0">
                <a:solidFill>
                  <a:srgbClr val="0E1B2B"/>
                </a:solidFill>
                <a:latin typeface="Calibri"/>
              </a:rPr>
              <a:t>•  Edges = START → … → END  (no branches yet)</a:t>
            </a:r>
          </a:p>
          <a:p>
            <a:pPr algn="l">
              <a:spcBef>
                <a:spcPts val="400"/>
              </a:spcBef>
              <a:spcAft>
                <a:spcPts val="200"/>
              </a:spcAft>
            </a:pPr>
            <a:r>
              <a:rPr sz="1400" b="0">
                <a:solidFill>
                  <a:srgbClr val="0E1B2B"/>
                </a:solidFill>
                <a:latin typeface="Calibri"/>
              </a:rPr>
              <a:t>•  You return partial dicts; LangGraph merges them into the final clipboard</a:t>
            </a:r>
          </a:p>
        </p:txBody>
      </p:sp>
      <p:sp>
        <p:nvSpPr>
          <p:cNvPr id="5" name="Rounded Rectangle 4"/>
          <p:cNvSpPr/>
          <p:nvPr/>
        </p:nvSpPr>
        <p:spPr>
          <a:xfrm>
            <a:off x="548640" y="3657600"/>
            <a:ext cx="11064240" cy="155448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3767328"/>
            <a:ext cx="10698480" cy="137160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Client twin: SaaS IT helpdesk intake. Classify sets password_reset / software_access / other. Prioritize sets high / medium / low. Summarize writes a queue line. No forks yet — just a hallway of desks. Run: python demos/demo_1_hello_stategraph.py</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Demo 2 — Conditional routing (expense approval)</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Same intake, two different endings</a:t>
            </a:r>
          </a:p>
        </p:txBody>
      </p:sp>
      <p:sp>
        <p:nvSpPr>
          <p:cNvPr id="4" name="TextBox 3"/>
          <p:cNvSpPr txBox="1"/>
          <p:nvPr/>
        </p:nvSpPr>
        <p:spPr>
          <a:xfrm>
            <a:off x="777240" y="1280160"/>
            <a:ext cx="10515600" cy="2011680"/>
          </a:xfrm>
          <a:prstGeom prst="rect">
            <a:avLst/>
          </a:prstGeom>
          <a:noFill/>
        </p:spPr>
        <p:txBody>
          <a:bodyPr wrap="square">
            <a:spAutoFit/>
          </a:bodyPr>
          <a:lstStyle/>
          <a:p>
            <a:pPr algn="l">
              <a:spcBef>
                <a:spcPts val="400"/>
              </a:spcBef>
              <a:spcAft>
                <a:spcPts val="200"/>
              </a:spcAft>
            </a:pPr>
            <a:r>
              <a:rPr sz="1400" b="0">
                <a:solidFill>
                  <a:srgbClr val="0E1B2B"/>
                </a:solidFill>
                <a:latin typeface="Calibri"/>
              </a:rPr>
              <a:t>•  After validate, a router picks auto_approve or manager_review by amount</a:t>
            </a:r>
          </a:p>
          <a:p>
            <a:pPr algn="l">
              <a:spcBef>
                <a:spcPts val="400"/>
              </a:spcBef>
              <a:spcAft>
                <a:spcPts val="200"/>
              </a:spcAft>
            </a:pPr>
            <a:r>
              <a:rPr sz="1400" b="0">
                <a:solidFill>
                  <a:srgbClr val="0E1B2B"/>
                </a:solidFill>
                <a:latin typeface="Calibri"/>
              </a:rPr>
              <a:t>•  Router returns a string name — the next box — not a state update</a:t>
            </a:r>
          </a:p>
          <a:p>
            <a:pPr algn="l">
              <a:spcBef>
                <a:spcPts val="400"/>
              </a:spcBef>
              <a:spcAft>
                <a:spcPts val="200"/>
              </a:spcAft>
            </a:pPr>
            <a:r>
              <a:rPr sz="1400" b="0">
                <a:solidFill>
                  <a:srgbClr val="0E1B2B"/>
                </a:solidFill>
                <a:latin typeface="Calibri"/>
              </a:rPr>
              <a:t>•  Run both cases ($85 vs $1,250) and compare the decision field</a:t>
            </a:r>
          </a:p>
        </p:txBody>
      </p:sp>
      <p:sp>
        <p:nvSpPr>
          <p:cNvPr id="5" name="Rounded Rectangle 4"/>
          <p:cNvSpPr/>
          <p:nvPr/>
        </p:nvSpPr>
        <p:spPr>
          <a:xfrm>
            <a:off x="548640" y="3520440"/>
            <a:ext cx="11064240" cy="20574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3630168"/>
            <a:ext cx="10698480" cy="187452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Client twin: reimbursement policy — under $500 auto-approves; over $500 pauses for manager. Same pattern as leave &gt; 5 days or production-access requests. Run: python demos/demo_2_conditional_routing.py</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39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Demo 3 — Stream + bridge back to create_agent</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See each node finish, then reconnect the mental model</a:t>
            </a:r>
          </a:p>
        </p:txBody>
      </p:sp>
      <p:sp>
        <p:nvSpPr>
          <p:cNvPr id="4" name="TextBox 3"/>
          <p:cNvSpPr txBox="1"/>
          <p:nvPr/>
        </p:nvSpPr>
        <p:spPr>
          <a:xfrm>
            <a:off x="777240" y="1280160"/>
            <a:ext cx="10515600" cy="2011680"/>
          </a:xfrm>
          <a:prstGeom prst="rect">
            <a:avLst/>
          </a:prstGeom>
          <a:noFill/>
        </p:spPr>
        <p:txBody>
          <a:bodyPr wrap="square">
            <a:spAutoFit/>
          </a:bodyPr>
          <a:lstStyle/>
          <a:p>
            <a:pPr algn="l">
              <a:spcBef>
                <a:spcPts val="400"/>
              </a:spcBef>
              <a:spcAft>
                <a:spcPts val="200"/>
              </a:spcAft>
            </a:pPr>
            <a:r>
              <a:rPr sz="1400" b="0">
                <a:solidFill>
                  <a:srgbClr val="0E1B2B"/>
                </a:solidFill>
                <a:latin typeface="Calibri"/>
              </a:rPr>
              <a:t>•  stream(updates) prints each step as it completes — your step debugger</a:t>
            </a:r>
          </a:p>
          <a:p>
            <a:pPr algn="l">
              <a:spcBef>
                <a:spcPts val="400"/>
              </a:spcBef>
              <a:spcAft>
                <a:spcPts val="200"/>
              </a:spcAft>
            </a:pPr>
            <a:r>
              <a:rPr sz="1400" b="0">
                <a:solidFill>
                  <a:srgbClr val="0E1B2B"/>
                </a:solidFill>
                <a:latin typeface="Calibri"/>
              </a:rPr>
              <a:t>•  One node calls the LLM to draft an HR helpdesk reply (needs GROQ_API_KEY)</a:t>
            </a:r>
          </a:p>
          <a:p>
            <a:pPr algn="l">
              <a:spcBef>
                <a:spcPts val="400"/>
              </a:spcBef>
              <a:spcAft>
                <a:spcPts val="200"/>
              </a:spcAft>
            </a:pPr>
            <a:r>
              <a:rPr sz="1400" b="0">
                <a:solidFill>
                  <a:srgbClr val="0E1B2B"/>
                </a:solidFill>
                <a:latin typeface="Calibri"/>
              </a:rPr>
              <a:t>•  Mental bridge: FAQ leave balance → create_agent; leave &gt; 5 days gate → StateGraph</a:t>
            </a:r>
          </a:p>
        </p:txBody>
      </p:sp>
      <p:sp>
        <p:nvSpPr>
          <p:cNvPr id="5" name="Rounded Rectangle 4"/>
          <p:cNvSpPr/>
          <p:nvPr/>
        </p:nvSpPr>
        <p:spPr>
          <a:xfrm>
            <a:off x="548640" y="3520440"/>
            <a:ext cx="11064240" cy="20574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3630168"/>
            <a:ext cx="10698480" cy="1874520"/>
          </a:xfrm>
          <a:prstGeom prst="rect">
            <a:avLst/>
          </a:prstGeom>
          <a:noFill/>
        </p:spPr>
        <p:txBody>
          <a:bodyPr wrap="square">
            <a:spAutoFit/>
          </a:bodyPr>
          <a:lstStyle/>
          <a:p>
            <a:pPr>
              <a:spcBef>
                <a:spcPts val="0"/>
              </a:spcBef>
              <a:spcAft>
                <a:spcPts val="0"/>
              </a:spcAft>
            </a:pPr>
            <a:r>
              <a:rPr sz="1300" b="1">
                <a:solidFill>
                  <a:srgbClr val="E8A33D"/>
                </a:solidFill>
                <a:latin typeface="Calibri"/>
              </a:rPr>
              <a:t>Example: </a:t>
            </a:r>
            <a:r>
              <a:rPr sz="1300" b="0">
                <a:solidFill>
                  <a:srgbClr val="0E1B2B"/>
                </a:solidFill>
                <a:latin typeface="Calibri"/>
              </a:rPr>
              <a:t>You wrote a tiny custom workflow today; create_agent is still the right default for many FAQ products. Watch the tracker (stream), then remember: L10 puts tools back into an open graph with ToolNode. Run: python demos/demo_3_stream_debug_bridge.py</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40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972800" cy="457200"/>
          </a:xfrm>
          <a:prstGeom prst="rect">
            <a:avLst/>
          </a:prstGeom>
          <a:noFill/>
        </p:spPr>
        <p:txBody>
          <a:bodyPr wrap="square">
            <a:spAutoFit/>
          </a:bodyPr>
          <a:lstStyle/>
          <a:p>
            <a:pPr algn="l">
              <a:spcBef>
                <a:spcPts val="0"/>
              </a:spcBef>
              <a:spcAft>
                <a:spcPts val="0"/>
              </a:spcAft>
            </a:pPr>
            <a:r>
              <a:rPr sz="2200" b="1">
                <a:solidFill>
                  <a:srgbClr val="0E1B2B"/>
                </a:solidFill>
                <a:latin typeface="Cambria"/>
              </a:rPr>
              <a:t>Tools come back next lecture</a:t>
            </a:r>
          </a:p>
        </p:txBody>
      </p:sp>
      <p:sp>
        <p:nvSpPr>
          <p:cNvPr id="3" name="TextBox 2"/>
          <p:cNvSpPr txBox="1"/>
          <p:nvPr/>
        </p:nvSpPr>
        <p:spPr>
          <a:xfrm>
            <a:off x="548640" y="749808"/>
            <a:ext cx="10972800" cy="411480"/>
          </a:xfrm>
          <a:prstGeom prst="rect">
            <a:avLst/>
          </a:prstGeom>
          <a:noFill/>
        </p:spPr>
        <p:txBody>
          <a:bodyPr wrap="square">
            <a:spAutoFit/>
          </a:bodyPr>
          <a:lstStyle/>
          <a:p>
            <a:pPr algn="l">
              <a:spcBef>
                <a:spcPts val="0"/>
              </a:spcBef>
              <a:spcAft>
                <a:spcPts val="0"/>
              </a:spcAft>
            </a:pPr>
            <a:r>
              <a:rPr sz="1300" b="0">
                <a:solidFill>
                  <a:srgbClr val="8895A7"/>
                </a:solidFill>
                <a:latin typeface="Calibri"/>
              </a:rPr>
              <a:t>Lecture 10 puts tools back into an open StateGraph</a:t>
            </a:r>
          </a:p>
        </p:txBody>
      </p:sp>
      <p:sp>
        <p:nvSpPr>
          <p:cNvPr id="4" name="TextBox 3"/>
          <p:cNvSpPr txBox="1"/>
          <p:nvPr/>
        </p:nvSpPr>
        <p:spPr>
          <a:xfrm>
            <a:off x="777240" y="1280160"/>
            <a:ext cx="10515600" cy="2926080"/>
          </a:xfrm>
          <a:prstGeom prst="rect">
            <a:avLst/>
          </a:prstGeom>
          <a:noFill/>
        </p:spPr>
        <p:txBody>
          <a:bodyPr wrap="square">
            <a:spAutoFit/>
          </a:bodyPr>
          <a:lstStyle/>
          <a:p>
            <a:pPr algn="l">
              <a:spcBef>
                <a:spcPts val="400"/>
              </a:spcBef>
              <a:spcAft>
                <a:spcPts val="200"/>
              </a:spcAft>
            </a:pPr>
            <a:r>
              <a:rPr sz="1500" b="0">
                <a:solidFill>
                  <a:srgbClr val="0E1B2B"/>
                </a:solidFill>
                <a:latin typeface="Calibri"/>
              </a:rPr>
              <a:t>•  L9 = own the flowchart (state, edges, compile, stream)</a:t>
            </a:r>
          </a:p>
          <a:p>
            <a:pPr algn="l">
              <a:spcBef>
                <a:spcPts val="400"/>
              </a:spcBef>
              <a:spcAft>
                <a:spcPts val="200"/>
              </a:spcAft>
            </a:pPr>
            <a:r>
              <a:rPr sz="1500" b="0">
                <a:solidFill>
                  <a:srgbClr val="0E1B2B"/>
                </a:solidFill>
                <a:latin typeface="Calibri"/>
              </a:rPr>
              <a:t>•  L10 = ToolNode + the hand-built think → tool → observe loop</a:t>
            </a:r>
          </a:p>
          <a:p>
            <a:pPr algn="l">
              <a:spcBef>
                <a:spcPts val="400"/>
              </a:spcBef>
              <a:spcAft>
                <a:spcPts val="200"/>
              </a:spcAft>
            </a:pPr>
            <a:r>
              <a:rPr sz="1500" b="0">
                <a:solidFill>
                  <a:srgbClr val="0E1B2B"/>
                </a:solidFill>
                <a:latin typeface="Calibri"/>
              </a:rPr>
              <a:t>•  L11 = human-in-the-loop (approve before money / risky access)</a:t>
            </a:r>
          </a:p>
          <a:p>
            <a:pPr algn="l">
              <a:spcBef>
                <a:spcPts val="400"/>
              </a:spcBef>
              <a:spcAft>
                <a:spcPts val="200"/>
              </a:spcAft>
            </a:pPr>
            <a:r>
              <a:rPr sz="1500" b="0">
                <a:solidFill>
                  <a:srgbClr val="0E1B2B"/>
                </a:solidFill>
                <a:latin typeface="Calibri"/>
              </a:rPr>
              <a:t>•  Until then: create_agent remains the right default for many products</a:t>
            </a:r>
          </a:p>
          <a:p>
            <a:pPr algn="l">
              <a:spcBef>
                <a:spcPts val="400"/>
              </a:spcBef>
              <a:spcAft>
                <a:spcPts val="200"/>
              </a:spcAft>
            </a:pPr>
            <a:r>
              <a:rPr sz="1500" b="0">
                <a:solidFill>
                  <a:srgbClr val="0E1B2B"/>
                </a:solidFill>
                <a:latin typeface="Calibri"/>
              </a:rPr>
              <a:t>•  You now know what that default was hiding — and when to open it</a:t>
            </a:r>
          </a:p>
        </p:txBody>
      </p:sp>
      <p:sp>
        <p:nvSpPr>
          <p:cNvPr id="5" name="Rounded Rectangle 4"/>
          <p:cNvSpPr/>
          <p:nvPr/>
        </p:nvSpPr>
        <p:spPr>
          <a:xfrm>
            <a:off x="548640" y="4480560"/>
            <a:ext cx="11064240" cy="1371600"/>
          </a:xfrm>
          <a:prstGeom prst="roundRect">
            <a:avLst>
              <a:gd name="adj" fmla="val 8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4590288"/>
            <a:ext cx="10698480" cy="1188720"/>
          </a:xfrm>
          <a:prstGeom prst="rect">
            <a:avLst/>
          </a:prstGeom>
          <a:noFill/>
        </p:spPr>
        <p:txBody>
          <a:bodyPr wrap="square">
            <a:spAutoFit/>
          </a:bodyPr>
          <a:lstStyle/>
          <a:p>
            <a:pPr algn="l">
              <a:spcBef>
                <a:spcPts val="0"/>
              </a:spcBef>
              <a:spcAft>
                <a:spcPts val="0"/>
              </a:spcAft>
            </a:pPr>
            <a:r>
              <a:rPr sz="1400" b="0">
                <a:solidFill>
                  <a:srgbClr val="0E1B2B"/>
                </a:solidFill>
                <a:latin typeface="Calibri"/>
              </a:rPr>
              <a:t>create_agent did not go away. You gained a second skill: draw the graph when leave gates, production access, and expense limits need named roads — not just chat.</a:t>
            </a:r>
          </a:p>
        </p:txBody>
      </p:sp>
      <p:sp>
        <p:nvSpPr>
          <p:cNvPr id="7" name="TextBox 6"/>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8895A7"/>
                </a:solidFill>
                <a:latin typeface="Calibri"/>
              </a:rPr>
              <a:t>41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777240"/>
            <a:ext cx="10515600" cy="457200"/>
          </a:xfrm>
          <a:prstGeom prst="rect">
            <a:avLst/>
          </a:prstGeom>
          <a:noFill/>
        </p:spPr>
        <p:txBody>
          <a:bodyPr wrap="square">
            <a:spAutoFit/>
          </a:bodyPr>
          <a:lstStyle/>
          <a:p>
            <a:pPr algn="l">
              <a:spcBef>
                <a:spcPts val="0"/>
              </a:spcBef>
              <a:spcAft>
                <a:spcPts val="0"/>
              </a:spcAft>
            </a:pPr>
            <a:r>
              <a:rPr sz="2800" b="1">
                <a:solidFill>
                  <a:srgbClr val="FFFFFF"/>
                </a:solidFill>
                <a:latin typeface="Cambria"/>
              </a:rPr>
              <a:t>Summary — take the client stories home</a:t>
            </a:r>
          </a:p>
        </p:txBody>
      </p:sp>
      <p:sp>
        <p:nvSpPr>
          <p:cNvPr id="3" name="TextBox 2"/>
          <p:cNvSpPr txBox="1"/>
          <p:nvPr/>
        </p:nvSpPr>
        <p:spPr>
          <a:xfrm>
            <a:off x="822960" y="1417320"/>
            <a:ext cx="10515600" cy="4572000"/>
          </a:xfrm>
          <a:prstGeom prst="rect">
            <a:avLst/>
          </a:prstGeom>
          <a:noFill/>
        </p:spPr>
        <p:txBody>
          <a:bodyPr wrap="square">
            <a:spAutoFit/>
          </a:bodyPr>
          <a:lstStyle/>
          <a:p>
            <a:pPr algn="l">
              <a:spcBef>
                <a:spcPts val="400"/>
              </a:spcBef>
              <a:spcAft>
                <a:spcPts val="200"/>
              </a:spcAft>
            </a:pPr>
            <a:r>
              <a:rPr sz="1400" b="0">
                <a:solidFill>
                  <a:srgbClr val="CADCFC"/>
                </a:solidFill>
                <a:latin typeface="Calibri"/>
              </a:rPr>
              <a:t>•  create_agent = LangChain API; LangGraph = engine under the hood.</a:t>
            </a:r>
          </a:p>
          <a:p>
            <a:pPr algn="l">
              <a:spcBef>
                <a:spcPts val="400"/>
              </a:spcBef>
              <a:spcAft>
                <a:spcPts val="200"/>
              </a:spcAft>
            </a:pPr>
            <a:r>
              <a:rPr sz="1400" b="0">
                <a:solidFill>
                  <a:srgbClr val="CADCFC"/>
                </a:solidFill>
                <a:latin typeface="Calibri"/>
              </a:rPr>
              <a:t>•  HR FAQ "How many leave days?" → create_agent. Leave &gt; 5 days / production access → StateGraph.</a:t>
            </a:r>
          </a:p>
          <a:p>
            <a:pPr algn="l">
              <a:spcBef>
                <a:spcPts val="400"/>
              </a:spcBef>
              <a:spcAft>
                <a:spcPts val="200"/>
              </a:spcAft>
            </a:pPr>
            <a:r>
              <a:rPr sz="1400" b="0">
                <a:solidFill>
                  <a:srgbClr val="CADCFC"/>
                </a:solidFill>
                <a:latin typeface="Calibri"/>
              </a:rPr>
              <a:t>•  Chain = fixed pipeline. Graph = forks, loops, human gates.</a:t>
            </a:r>
          </a:p>
          <a:p>
            <a:pPr algn="l">
              <a:spcBef>
                <a:spcPts val="400"/>
              </a:spcBef>
              <a:spcAft>
                <a:spcPts val="200"/>
              </a:spcAft>
            </a:pPr>
            <a:r>
              <a:rPr sz="1400" b="0">
                <a:solidFill>
                  <a:srgbClr val="CADCFC"/>
                </a:solidFill>
                <a:latin typeface="Calibri"/>
              </a:rPr>
              <a:t>•  State = ticket clipboard. Node = one step. Edge = always prioritize after classify.</a:t>
            </a:r>
          </a:p>
          <a:p>
            <a:pPr algn="l">
              <a:spcBef>
                <a:spcPts val="400"/>
              </a:spcBef>
              <a:spcAft>
                <a:spcPts val="200"/>
              </a:spcAft>
            </a:pPr>
            <a:r>
              <a:rPr sz="1400" b="0">
                <a:solidFill>
                  <a:srgbClr val="CADCFC"/>
                </a:solidFill>
                <a:latin typeface="Calibri"/>
              </a:rPr>
              <a:t>•  Conditional = amount ≤ 500 → auto_approve else manager_review (router names next box).</a:t>
            </a:r>
          </a:p>
          <a:p>
            <a:pPr algn="l">
              <a:spcBef>
                <a:spcPts val="400"/>
              </a:spcBef>
              <a:spcAft>
                <a:spcPts val="200"/>
              </a:spcAft>
            </a:pPr>
            <a:r>
              <a:rPr sz="1400" b="0">
                <a:solidFill>
                  <a:srgbClr val="CADCFC"/>
                </a:solidFill>
                <a:latin typeface="Calibri"/>
              </a:rPr>
              <a:t>•  compile locks the workflow · invoke submits one case · stream watches every stamp.</a:t>
            </a:r>
          </a:p>
          <a:p>
            <a:pPr algn="l">
              <a:spcBef>
                <a:spcPts val="400"/>
              </a:spcBef>
              <a:spcAft>
                <a:spcPts val="200"/>
              </a:spcAft>
            </a:pPr>
            <a:r>
              <a:rPr sz="1400" b="0">
                <a:solidFill>
                  <a:srgbClr val="CADCFC"/>
                </a:solidFill>
                <a:latin typeface="Calibri"/>
              </a:rPr>
              <a:t>•  Tools paused on purpose — wiring first; tools return in L10.</a:t>
            </a:r>
          </a:p>
        </p:txBody>
      </p:sp>
      <p:sp>
        <p:nvSpPr>
          <p:cNvPr id="4" name="TextBox 3"/>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42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E1B2B"/>
        </a:solidFill>
        <a:effectLst/>
      </p:bgPr>
    </p:bg>
    <p:spTree>
      <p:nvGrpSpPr>
        <p:cNvPr id="1" name=""/>
        <p:cNvGrpSpPr/>
        <p:nvPr/>
      </p:nvGrpSpPr>
      <p:grpSpPr>
        <a:xfrm>
          <a:off x="0" y="0"/>
          <a:ext cx="0" cy="0"/>
          <a:chOff x="0" y="0"/>
          <a:chExt cx="0" cy="0"/>
        </a:xfrm>
      </p:grpSpPr>
      <p:sp>
        <p:nvSpPr>
          <p:cNvPr id="2" name="TextBox 1"/>
          <p:cNvSpPr txBox="1"/>
          <p:nvPr/>
        </p:nvSpPr>
        <p:spPr>
          <a:xfrm>
            <a:off x="822960" y="1920240"/>
            <a:ext cx="10515600" cy="914400"/>
          </a:xfrm>
          <a:prstGeom prst="rect">
            <a:avLst/>
          </a:prstGeom>
          <a:noFill/>
        </p:spPr>
        <p:txBody>
          <a:bodyPr wrap="square">
            <a:spAutoFit/>
          </a:bodyPr>
          <a:lstStyle/>
          <a:p>
            <a:pPr algn="l">
              <a:spcBef>
                <a:spcPts val="0"/>
              </a:spcBef>
              <a:spcAft>
                <a:spcPts val="0"/>
              </a:spcAft>
            </a:pPr>
            <a:r>
              <a:rPr sz="4200" b="1">
                <a:solidFill>
                  <a:srgbClr val="FFFFFF"/>
                </a:solidFill>
                <a:latin typeface="Cambria"/>
              </a:rPr>
              <a:t>Questions?</a:t>
            </a:r>
          </a:p>
        </p:txBody>
      </p:sp>
      <p:sp>
        <p:nvSpPr>
          <p:cNvPr id="3" name="TextBox 2"/>
          <p:cNvSpPr txBox="1"/>
          <p:nvPr/>
        </p:nvSpPr>
        <p:spPr>
          <a:xfrm>
            <a:off x="822960" y="3017520"/>
            <a:ext cx="10058400" cy="1371600"/>
          </a:xfrm>
          <a:prstGeom prst="rect">
            <a:avLst/>
          </a:prstGeom>
          <a:noFill/>
        </p:spPr>
        <p:txBody>
          <a:bodyPr wrap="square">
            <a:spAutoFit/>
          </a:bodyPr>
          <a:lstStyle/>
          <a:p>
            <a:pPr algn="l">
              <a:spcBef>
                <a:spcPts val="0"/>
              </a:spcBef>
              <a:spcAft>
                <a:spcPts val="0"/>
              </a:spcAft>
            </a:pPr>
            <a:r>
              <a:rPr sz="1600" b="0">
                <a:solidFill>
                  <a:srgbClr val="CADCFC"/>
                </a:solidFill>
                <a:latin typeface="Calibri"/>
              </a:rPr>
              <a:t>Sticky note: LangChain on the outside · LangGraph inside · open StateGraph when the flowchart is the product.
Remember the ticket clipboard — and the manager gate.</a:t>
            </a:r>
          </a:p>
        </p:txBody>
      </p:sp>
      <p:sp>
        <p:nvSpPr>
          <p:cNvPr id="4" name="TextBox 3"/>
          <p:cNvSpPr txBox="1"/>
          <p:nvPr/>
        </p:nvSpPr>
        <p:spPr>
          <a:xfrm>
            <a:off x="11155680" y="6355080"/>
            <a:ext cx="731520" cy="274320"/>
          </a:xfrm>
          <a:prstGeom prst="rect">
            <a:avLst/>
          </a:prstGeom>
          <a:noFill/>
        </p:spPr>
        <p:txBody>
          <a:bodyPr wrap="square">
            <a:spAutoFit/>
          </a:bodyPr>
          <a:lstStyle/>
          <a:p>
            <a:pPr algn="r">
              <a:spcBef>
                <a:spcPts val="0"/>
              </a:spcBef>
              <a:spcAft>
                <a:spcPts val="0"/>
              </a:spcAft>
            </a:pPr>
            <a:r>
              <a:rPr sz="900" b="0">
                <a:solidFill>
                  <a:srgbClr val="CADCFC"/>
                </a:solidFill>
                <a:latin typeface="Calibri"/>
              </a:rPr>
              <a:t>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4695</Words>
  <Application>Microsoft Office PowerPoint</Application>
  <PresentationFormat>Widescreen</PresentationFormat>
  <Paragraphs>348</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Mayur Brijwani</cp:lastModifiedBy>
  <cp:revision>2</cp:revision>
  <dcterms:created xsi:type="dcterms:W3CDTF">2013-01-27T09:14:16Z</dcterms:created>
  <dcterms:modified xsi:type="dcterms:W3CDTF">2026-08-29T09:20:25Z</dcterms:modified>
  <cp:category/>
</cp:coreProperties>
</file>